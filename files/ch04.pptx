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56"/>
  </p:notesMasterIdLst>
  <p:sldIdLst>
    <p:sldId id="438" r:id="rId2"/>
    <p:sldId id="477" r:id="rId3"/>
    <p:sldId id="277" r:id="rId4"/>
    <p:sldId id="339" r:id="rId5"/>
    <p:sldId id="280" r:id="rId6"/>
    <p:sldId id="281" r:id="rId7"/>
    <p:sldId id="282" r:id="rId8"/>
    <p:sldId id="283" r:id="rId9"/>
    <p:sldId id="284" r:id="rId10"/>
    <p:sldId id="286" r:id="rId11"/>
    <p:sldId id="287" r:id="rId12"/>
    <p:sldId id="288" r:id="rId13"/>
    <p:sldId id="289" r:id="rId14"/>
    <p:sldId id="478" r:id="rId15"/>
    <p:sldId id="479" r:id="rId16"/>
    <p:sldId id="291" r:id="rId17"/>
    <p:sldId id="294" r:id="rId18"/>
    <p:sldId id="338" r:id="rId19"/>
    <p:sldId id="297" r:id="rId20"/>
    <p:sldId id="480" r:id="rId21"/>
    <p:sldId id="303" r:id="rId22"/>
    <p:sldId id="301" r:id="rId23"/>
    <p:sldId id="295" r:id="rId24"/>
    <p:sldId id="299" r:id="rId25"/>
    <p:sldId id="305" r:id="rId26"/>
    <p:sldId id="306" r:id="rId27"/>
    <p:sldId id="307" r:id="rId28"/>
    <p:sldId id="308" r:id="rId29"/>
    <p:sldId id="309" r:id="rId30"/>
    <p:sldId id="310" r:id="rId31"/>
    <p:sldId id="311" r:id="rId32"/>
    <p:sldId id="312" r:id="rId33"/>
    <p:sldId id="313" r:id="rId34"/>
    <p:sldId id="315" r:id="rId35"/>
    <p:sldId id="314" r:id="rId36"/>
    <p:sldId id="316" r:id="rId37"/>
    <p:sldId id="317" r:id="rId38"/>
    <p:sldId id="319" r:id="rId39"/>
    <p:sldId id="481" r:id="rId40"/>
    <p:sldId id="318" r:id="rId41"/>
    <p:sldId id="320" r:id="rId42"/>
    <p:sldId id="322" r:id="rId43"/>
    <p:sldId id="323" r:id="rId44"/>
    <p:sldId id="325" r:id="rId45"/>
    <p:sldId id="334" r:id="rId46"/>
    <p:sldId id="335" r:id="rId47"/>
    <p:sldId id="336" r:id="rId48"/>
    <p:sldId id="327" r:id="rId49"/>
    <p:sldId id="328" r:id="rId50"/>
    <p:sldId id="329" r:id="rId51"/>
    <p:sldId id="482" r:id="rId52"/>
    <p:sldId id="483" r:id="rId53"/>
    <p:sldId id="330" r:id="rId54"/>
    <p:sldId id="331" r:id="rId5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17D"/>
    <a:srgbClr val="E5E17E"/>
    <a:srgbClr val="C30D23"/>
    <a:srgbClr val="CC0000"/>
    <a:srgbClr val="023A91"/>
    <a:srgbClr val="013990"/>
    <a:srgbClr val="2361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68" autoAdjust="0"/>
    <p:restoredTop sz="94257" autoAdjust="0"/>
  </p:normalViewPr>
  <p:slideViewPr>
    <p:cSldViewPr snapToGrid="0">
      <p:cViewPr varScale="1">
        <p:scale>
          <a:sx n="70" d="100"/>
          <a:sy n="70" d="100"/>
        </p:scale>
        <p:origin x="933"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henyu" userId="059fe14531f78076" providerId="LiveId" clId="{1362BA7B-1063-49E9-BF1F-2F06D6E22897}"/>
    <pc:docChg chg="undo custSel addSld delSld modSld">
      <pc:chgData name="Zhang Zhenyu" userId="059fe14531f78076" providerId="LiveId" clId="{1362BA7B-1063-49E9-BF1F-2F06D6E22897}" dt="2020-08-10T15:01:40.766" v="35" actId="1076"/>
      <pc:docMkLst>
        <pc:docMk/>
      </pc:docMkLst>
      <pc:sldChg chg="modSp mod">
        <pc:chgData name="Zhang Zhenyu" userId="059fe14531f78076" providerId="LiveId" clId="{1362BA7B-1063-49E9-BF1F-2F06D6E22897}" dt="2020-08-10T12:23:16.675" v="1" actId="12789"/>
        <pc:sldMkLst>
          <pc:docMk/>
          <pc:sldMk cId="425709155" sldId="257"/>
        </pc:sldMkLst>
        <pc:spChg chg="mod">
          <ac:chgData name="Zhang Zhenyu" userId="059fe14531f78076" providerId="LiveId" clId="{1362BA7B-1063-49E9-BF1F-2F06D6E22897}" dt="2020-08-10T12:23:16.675" v="1" actId="12789"/>
          <ac:spMkLst>
            <pc:docMk/>
            <pc:sldMk cId="425709155" sldId="257"/>
            <ac:spMk id="2" creationId="{00000000-0000-0000-0000-000000000000}"/>
          </ac:spMkLst>
        </pc:spChg>
      </pc:sldChg>
      <pc:sldChg chg="addSp delSp modSp del mod">
        <pc:chgData name="Zhang Zhenyu" userId="059fe14531f78076" providerId="LiveId" clId="{1362BA7B-1063-49E9-BF1F-2F06D6E22897}" dt="2020-08-10T12:35:23.651" v="20" actId="47"/>
        <pc:sldMkLst>
          <pc:docMk/>
          <pc:sldMk cId="2309502934" sldId="279"/>
        </pc:sldMkLst>
        <pc:spChg chg="del mod">
          <ac:chgData name="Zhang Zhenyu" userId="059fe14531f78076" providerId="LiveId" clId="{1362BA7B-1063-49E9-BF1F-2F06D6E22897}" dt="2020-08-10T12:30:24.262" v="6" actId="478"/>
          <ac:spMkLst>
            <pc:docMk/>
            <pc:sldMk cId="2309502934" sldId="279"/>
            <ac:spMk id="3" creationId="{00000000-0000-0000-0000-000000000000}"/>
          </ac:spMkLst>
        </pc:spChg>
        <pc:spChg chg="mod">
          <ac:chgData name="Zhang Zhenyu" userId="059fe14531f78076" providerId="LiveId" clId="{1362BA7B-1063-49E9-BF1F-2F06D6E22897}" dt="2020-08-10T12:32:09.735" v="18" actId="20577"/>
          <ac:spMkLst>
            <pc:docMk/>
            <pc:sldMk cId="2309502934" sldId="279"/>
            <ac:spMk id="4" creationId="{00000000-0000-0000-0000-000000000000}"/>
          </ac:spMkLst>
        </pc:spChg>
        <pc:spChg chg="add del mod">
          <ac:chgData name="Zhang Zhenyu" userId="059fe14531f78076" providerId="LiveId" clId="{1362BA7B-1063-49E9-BF1F-2F06D6E22897}" dt="2020-08-10T12:30:26.826" v="8" actId="478"/>
          <ac:spMkLst>
            <pc:docMk/>
            <pc:sldMk cId="2309502934" sldId="279"/>
            <ac:spMk id="25" creationId="{0194EE0D-8A76-4117-BB07-C9A12ADFAB05}"/>
          </ac:spMkLst>
        </pc:spChg>
      </pc:sldChg>
      <pc:sldChg chg="modSp mod">
        <pc:chgData name="Zhang Zhenyu" userId="059fe14531f78076" providerId="LiveId" clId="{1362BA7B-1063-49E9-BF1F-2F06D6E22897}" dt="2020-08-10T15:01:40.766" v="35" actId="1076"/>
        <pc:sldMkLst>
          <pc:docMk/>
          <pc:sldMk cId="1354476505" sldId="294"/>
        </pc:sldMkLst>
        <pc:graphicFrameChg chg="mod">
          <ac:chgData name="Zhang Zhenyu" userId="059fe14531f78076" providerId="LiveId" clId="{1362BA7B-1063-49E9-BF1F-2F06D6E22897}" dt="2020-08-10T15:01:40.766" v="35" actId="1076"/>
          <ac:graphicFrameMkLst>
            <pc:docMk/>
            <pc:sldMk cId="1354476505" sldId="294"/>
            <ac:graphicFrameMk id="15" creationId="{00000000-0000-0000-0000-000000000000}"/>
          </ac:graphicFrameMkLst>
        </pc:graphicFrameChg>
      </pc:sldChg>
      <pc:sldChg chg="modSp">
        <pc:chgData name="Zhang Zhenyu" userId="059fe14531f78076" providerId="LiveId" clId="{1362BA7B-1063-49E9-BF1F-2F06D6E22897}" dt="2020-08-10T12:35:38.160" v="34" actId="20577"/>
        <pc:sldMkLst>
          <pc:docMk/>
          <pc:sldMk cId="2312250198" sldId="297"/>
        </pc:sldMkLst>
        <pc:spChg chg="mod">
          <ac:chgData name="Zhang Zhenyu" userId="059fe14531f78076" providerId="LiveId" clId="{1362BA7B-1063-49E9-BF1F-2F06D6E22897}" dt="2020-08-10T12:35:38.160" v="34" actId="20577"/>
          <ac:spMkLst>
            <pc:docMk/>
            <pc:sldMk cId="2312250198" sldId="297"/>
            <ac:spMk id="3" creationId="{00000000-0000-0000-0000-000000000000}"/>
          </ac:spMkLst>
        </pc:spChg>
      </pc:sldChg>
      <pc:sldChg chg="add">
        <pc:chgData name="Zhang Zhenyu" userId="059fe14531f78076" providerId="LiveId" clId="{1362BA7B-1063-49E9-BF1F-2F06D6E22897}" dt="2020-08-10T12:35:21.633" v="19"/>
        <pc:sldMkLst>
          <pc:docMk/>
          <pc:sldMk cId="3929422369"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86B65B-7D4A-4FA1-915D-A5AADE139906}" type="datetimeFigureOut">
              <a:rPr lang="zh-CN" altLang="en-US" smtClean="0"/>
              <a:t>2026/3/28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6EF38-FC6D-4BFE-81DB-866981D3049C}" type="slidenum">
              <a:rPr lang="zh-CN" altLang="en-US" smtClean="0"/>
              <a:t>‹#›</a:t>
            </a:fld>
            <a:endParaRPr lang="zh-CN" altLang="en-US"/>
          </a:p>
        </p:txBody>
      </p:sp>
    </p:spTree>
    <p:extLst>
      <p:ext uri="{BB962C8B-B14F-4D97-AF65-F5344CB8AC3E}">
        <p14:creationId xmlns:p14="http://schemas.microsoft.com/office/powerpoint/2010/main" val="58215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5"/>
          </p:nvPr>
        </p:nvSpPr>
        <p:spPr/>
        <p:txBody>
          <a:bodyPr/>
          <a:lstStyle/>
          <a:p>
            <a:fld id="{9ACA252A-387A-407C-846A-C014B96B02A4}" type="slidenum">
              <a:rPr lang="zh-CN" altLang="en-US" smtClean="0"/>
              <a:t>2</a:t>
            </a:fld>
            <a:endParaRPr lang="zh-CN" altLang="en-US"/>
          </a:p>
        </p:txBody>
      </p:sp>
    </p:spTree>
    <p:extLst>
      <p:ext uri="{BB962C8B-B14F-4D97-AF65-F5344CB8AC3E}">
        <p14:creationId xmlns:p14="http://schemas.microsoft.com/office/powerpoint/2010/main" val="3875250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4</a:t>
            </a:fld>
            <a:endParaRPr lang="zh-CN" altLang="en-US"/>
          </a:p>
        </p:txBody>
      </p:sp>
    </p:spTree>
    <p:extLst>
      <p:ext uri="{BB962C8B-B14F-4D97-AF65-F5344CB8AC3E}">
        <p14:creationId xmlns:p14="http://schemas.microsoft.com/office/powerpoint/2010/main" val="3157652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5</a:t>
            </a:fld>
            <a:endParaRPr lang="zh-CN" altLang="en-US"/>
          </a:p>
        </p:txBody>
      </p:sp>
    </p:spTree>
    <p:extLst>
      <p:ext uri="{BB962C8B-B14F-4D97-AF65-F5344CB8AC3E}">
        <p14:creationId xmlns:p14="http://schemas.microsoft.com/office/powerpoint/2010/main" val="2293160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E36EF38-FC6D-4BFE-81DB-866981D3049C}" type="slidenum">
              <a:rPr lang="zh-CN" altLang="en-US" smtClean="0"/>
              <a:t>6</a:t>
            </a:fld>
            <a:endParaRPr lang="zh-CN" altLang="en-US"/>
          </a:p>
        </p:txBody>
      </p:sp>
    </p:spTree>
    <p:extLst>
      <p:ext uri="{BB962C8B-B14F-4D97-AF65-F5344CB8AC3E}">
        <p14:creationId xmlns:p14="http://schemas.microsoft.com/office/powerpoint/2010/main" val="2783331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10</a:t>
            </a:fld>
            <a:endParaRPr lang="zh-CN" altLang="en-US"/>
          </a:p>
        </p:txBody>
      </p:sp>
    </p:spTree>
    <p:extLst>
      <p:ext uri="{BB962C8B-B14F-4D97-AF65-F5344CB8AC3E}">
        <p14:creationId xmlns:p14="http://schemas.microsoft.com/office/powerpoint/2010/main" val="537971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E36EF38-FC6D-4BFE-81DB-866981D3049C}" type="slidenum">
              <a:rPr lang="zh-CN" altLang="en-US" smtClean="0"/>
              <a:t>13</a:t>
            </a:fld>
            <a:endParaRPr lang="zh-CN" altLang="en-US"/>
          </a:p>
        </p:txBody>
      </p:sp>
    </p:spTree>
    <p:extLst>
      <p:ext uri="{BB962C8B-B14F-4D97-AF65-F5344CB8AC3E}">
        <p14:creationId xmlns:p14="http://schemas.microsoft.com/office/powerpoint/2010/main" val="3634507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15</a:t>
            </a:fld>
            <a:endParaRPr lang="zh-CN" altLang="en-US"/>
          </a:p>
        </p:txBody>
      </p:sp>
    </p:spTree>
    <p:extLst>
      <p:ext uri="{BB962C8B-B14F-4D97-AF65-F5344CB8AC3E}">
        <p14:creationId xmlns:p14="http://schemas.microsoft.com/office/powerpoint/2010/main" val="3181252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16</a:t>
            </a:fld>
            <a:endParaRPr lang="zh-CN" altLang="en-US"/>
          </a:p>
        </p:txBody>
      </p:sp>
    </p:spTree>
    <p:extLst>
      <p:ext uri="{BB962C8B-B14F-4D97-AF65-F5344CB8AC3E}">
        <p14:creationId xmlns:p14="http://schemas.microsoft.com/office/powerpoint/2010/main" val="3685311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19</a:t>
            </a:fld>
            <a:endParaRPr lang="zh-CN" altLang="en-US"/>
          </a:p>
        </p:txBody>
      </p:sp>
    </p:spTree>
    <p:extLst>
      <p:ext uri="{BB962C8B-B14F-4D97-AF65-F5344CB8AC3E}">
        <p14:creationId xmlns:p14="http://schemas.microsoft.com/office/powerpoint/2010/main" val="858322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20</a:t>
            </a:fld>
            <a:endParaRPr lang="zh-CN" altLang="en-US"/>
          </a:p>
        </p:txBody>
      </p:sp>
    </p:spTree>
    <p:extLst>
      <p:ext uri="{BB962C8B-B14F-4D97-AF65-F5344CB8AC3E}">
        <p14:creationId xmlns:p14="http://schemas.microsoft.com/office/powerpoint/2010/main" val="4047542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21</a:t>
            </a:fld>
            <a:endParaRPr lang="zh-CN" altLang="en-US"/>
          </a:p>
        </p:txBody>
      </p:sp>
    </p:spTree>
    <p:extLst>
      <p:ext uri="{BB962C8B-B14F-4D97-AF65-F5344CB8AC3E}">
        <p14:creationId xmlns:p14="http://schemas.microsoft.com/office/powerpoint/2010/main" val="4135200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22</a:t>
            </a:fld>
            <a:endParaRPr lang="zh-CN" altLang="en-US"/>
          </a:p>
        </p:txBody>
      </p:sp>
    </p:spTree>
    <p:extLst>
      <p:ext uri="{BB962C8B-B14F-4D97-AF65-F5344CB8AC3E}">
        <p14:creationId xmlns:p14="http://schemas.microsoft.com/office/powerpoint/2010/main" val="3916576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27</a:t>
            </a:fld>
            <a:endParaRPr lang="zh-CN" altLang="en-US"/>
          </a:p>
        </p:txBody>
      </p:sp>
    </p:spTree>
    <p:extLst>
      <p:ext uri="{BB962C8B-B14F-4D97-AF65-F5344CB8AC3E}">
        <p14:creationId xmlns:p14="http://schemas.microsoft.com/office/powerpoint/2010/main" val="2603939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38</a:t>
            </a:fld>
            <a:endParaRPr lang="zh-CN" altLang="en-US"/>
          </a:p>
        </p:txBody>
      </p:sp>
    </p:spTree>
    <p:extLst>
      <p:ext uri="{BB962C8B-B14F-4D97-AF65-F5344CB8AC3E}">
        <p14:creationId xmlns:p14="http://schemas.microsoft.com/office/powerpoint/2010/main" val="3552205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39</a:t>
            </a:fld>
            <a:endParaRPr lang="zh-CN" altLang="en-US"/>
          </a:p>
        </p:txBody>
      </p:sp>
    </p:spTree>
    <p:extLst>
      <p:ext uri="{BB962C8B-B14F-4D97-AF65-F5344CB8AC3E}">
        <p14:creationId xmlns:p14="http://schemas.microsoft.com/office/powerpoint/2010/main" val="671022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E36EF38-FC6D-4BFE-81DB-866981D3049C}" type="slidenum">
              <a:rPr lang="zh-CN" altLang="en-US" smtClean="0"/>
              <a:t>40</a:t>
            </a:fld>
            <a:endParaRPr lang="zh-CN" altLang="en-US"/>
          </a:p>
        </p:txBody>
      </p:sp>
    </p:spTree>
    <p:extLst>
      <p:ext uri="{BB962C8B-B14F-4D97-AF65-F5344CB8AC3E}">
        <p14:creationId xmlns:p14="http://schemas.microsoft.com/office/powerpoint/2010/main" val="1293643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8643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149309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Tree>
    <p:extLst>
      <p:ext uri="{BB962C8B-B14F-4D97-AF65-F5344CB8AC3E}">
        <p14:creationId xmlns:p14="http://schemas.microsoft.com/office/powerpoint/2010/main" val="3496495537"/>
      </p:ext>
    </p:extLst>
  </p:cSld>
  <p:clrMapOvr>
    <a:masterClrMapping/>
  </p:clrMapOvr>
  <p:extLst>
    <p:ext uri="{DCECCB84-F9BA-43D5-87BE-67443E8EF086}">
      <p15:sldGuideLst xmlns:p15="http://schemas.microsoft.com/office/powerpoint/2012/main">
        <p15:guide id="1"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4155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77941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38608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2065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837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928793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425762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70336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26562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98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70694770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67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0.wmf"/><Relationship Id="rId18" Type="http://schemas.openxmlformats.org/officeDocument/2006/relationships/oleObject" Target="../embeddings/oleObject9.bin"/><Relationship Id="rId3" Type="http://schemas.openxmlformats.org/officeDocument/2006/relationships/image" Target="../media/image5.wmf"/><Relationship Id="rId21" Type="http://schemas.openxmlformats.org/officeDocument/2006/relationships/image" Target="../media/image14.wmf"/><Relationship Id="rId7" Type="http://schemas.openxmlformats.org/officeDocument/2006/relationships/image" Target="../media/image7.wmf"/><Relationship Id="rId12" Type="http://schemas.openxmlformats.org/officeDocument/2006/relationships/oleObject" Target="../embeddings/oleObject6.bin"/><Relationship Id="rId17" Type="http://schemas.openxmlformats.org/officeDocument/2006/relationships/image" Target="../media/image12.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3.xml"/><Relationship Id="rId6" Type="http://schemas.openxmlformats.org/officeDocument/2006/relationships/oleObject" Target="../embeddings/oleObject3.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wmf"/><Relationship Id="rId10" Type="http://schemas.openxmlformats.org/officeDocument/2006/relationships/oleObject" Target="../embeddings/oleObject5.bin"/><Relationship Id="rId19" Type="http://schemas.openxmlformats.org/officeDocument/2006/relationships/image" Target="../media/image13.wmf"/><Relationship Id="rId4" Type="http://schemas.openxmlformats.org/officeDocument/2006/relationships/oleObject" Target="../embeddings/oleObject2.bin"/><Relationship Id="rId9" Type="http://schemas.openxmlformats.org/officeDocument/2006/relationships/image" Target="../media/image8.wmf"/><Relationship Id="rId14" Type="http://schemas.openxmlformats.org/officeDocument/2006/relationships/oleObject" Target="../embeddings/oleObject7.bin"/><Relationship Id="rId22"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0.wmf"/><Relationship Id="rId18" Type="http://schemas.openxmlformats.org/officeDocument/2006/relationships/oleObject" Target="../embeddings/oleObject18.bin"/><Relationship Id="rId3" Type="http://schemas.openxmlformats.org/officeDocument/2006/relationships/image" Target="../media/image16.png"/><Relationship Id="rId7" Type="http://schemas.openxmlformats.org/officeDocument/2006/relationships/image" Target="../media/image17.wmf"/><Relationship Id="rId12" Type="http://schemas.openxmlformats.org/officeDocument/2006/relationships/oleObject" Target="../embeddings/oleObject15.bin"/><Relationship Id="rId17" Type="http://schemas.openxmlformats.org/officeDocument/2006/relationships/image" Target="../media/image22.wmf"/><Relationship Id="rId2" Type="http://schemas.openxmlformats.org/officeDocument/2006/relationships/notesSlide" Target="../notesSlides/notesSlide5.xml"/><Relationship Id="rId16" Type="http://schemas.openxmlformats.org/officeDocument/2006/relationships/oleObject" Target="../embeddings/oleObject17.bin"/><Relationship Id="rId1" Type="http://schemas.openxmlformats.org/officeDocument/2006/relationships/slideLayout" Target="../slideLayouts/slideLayout3.xml"/><Relationship Id="rId6" Type="http://schemas.openxmlformats.org/officeDocument/2006/relationships/oleObject" Target="../embeddings/oleObject12.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14.bin"/><Relationship Id="rId19" Type="http://schemas.openxmlformats.org/officeDocument/2006/relationships/image" Target="../media/image23.wmf"/><Relationship Id="rId4" Type="http://schemas.openxmlformats.org/officeDocument/2006/relationships/oleObject" Target="../embeddings/oleObject11.bin"/><Relationship Id="rId9" Type="http://schemas.openxmlformats.org/officeDocument/2006/relationships/image" Target="../media/image18.wmf"/><Relationship Id="rId14"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4.wmf"/><Relationship Id="rId7" Type="http://schemas.openxmlformats.org/officeDocument/2006/relationships/image" Target="../media/image26.wmf"/><Relationship Id="rId12" Type="http://schemas.openxmlformats.org/officeDocument/2006/relationships/image" Target="../media/image29.png"/><Relationship Id="rId2" Type="http://schemas.openxmlformats.org/officeDocument/2006/relationships/oleObject" Target="../embeddings/oleObject19.bin"/><Relationship Id="rId1" Type="http://schemas.openxmlformats.org/officeDocument/2006/relationships/slideLayout" Target="../slideLayouts/slideLayout4.xml"/><Relationship Id="rId6" Type="http://schemas.openxmlformats.org/officeDocument/2006/relationships/oleObject" Target="../embeddings/oleObject21.bin"/><Relationship Id="rId11" Type="http://schemas.openxmlformats.org/officeDocument/2006/relationships/image" Target="../media/image28.wmf"/><Relationship Id="rId5" Type="http://schemas.openxmlformats.org/officeDocument/2006/relationships/image" Target="../media/image25.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27.wmf"/></Relationships>
</file>

<file path=ppt/slides/_rels/slide12.xml.rels><?xml version="1.0" encoding="UTF-8" standalone="yes"?>
<Relationships xmlns="http://schemas.openxmlformats.org/package/2006/relationships"><Relationship Id="rId13" Type="http://schemas.openxmlformats.org/officeDocument/2006/relationships/image" Target="../media/image35.wmf"/><Relationship Id="rId18" Type="http://schemas.openxmlformats.org/officeDocument/2006/relationships/oleObject" Target="../embeddings/oleObject32.bin"/><Relationship Id="rId26" Type="http://schemas.openxmlformats.org/officeDocument/2006/relationships/oleObject" Target="../embeddings/oleObject36.bin"/><Relationship Id="rId3" Type="http://schemas.openxmlformats.org/officeDocument/2006/relationships/image" Target="../media/image30.wmf"/><Relationship Id="rId21" Type="http://schemas.openxmlformats.org/officeDocument/2006/relationships/image" Target="../media/image39.wmf"/><Relationship Id="rId7" Type="http://schemas.openxmlformats.org/officeDocument/2006/relationships/image" Target="../media/image32.wmf"/><Relationship Id="rId12" Type="http://schemas.openxmlformats.org/officeDocument/2006/relationships/oleObject" Target="../embeddings/oleObject29.bin"/><Relationship Id="rId17" Type="http://schemas.openxmlformats.org/officeDocument/2006/relationships/image" Target="../media/image37.wmf"/><Relationship Id="rId25" Type="http://schemas.openxmlformats.org/officeDocument/2006/relationships/image" Target="../media/image41.wmf"/><Relationship Id="rId33" Type="http://schemas.openxmlformats.org/officeDocument/2006/relationships/oleObject" Target="../embeddings/oleObject40.bin"/><Relationship Id="rId2" Type="http://schemas.openxmlformats.org/officeDocument/2006/relationships/oleObject" Target="../embeddings/oleObject24.bin"/><Relationship Id="rId16" Type="http://schemas.openxmlformats.org/officeDocument/2006/relationships/oleObject" Target="../embeddings/oleObject31.bin"/><Relationship Id="rId20" Type="http://schemas.openxmlformats.org/officeDocument/2006/relationships/oleObject" Target="../embeddings/oleObject33.bin"/><Relationship Id="rId29" Type="http://schemas.openxmlformats.org/officeDocument/2006/relationships/image" Target="../media/image43.wmf"/><Relationship Id="rId1" Type="http://schemas.openxmlformats.org/officeDocument/2006/relationships/slideLayout" Target="../slideLayouts/slideLayout3.xml"/><Relationship Id="rId6" Type="http://schemas.openxmlformats.org/officeDocument/2006/relationships/oleObject" Target="../embeddings/oleObject26.bin"/><Relationship Id="rId11" Type="http://schemas.openxmlformats.org/officeDocument/2006/relationships/image" Target="../media/image34.wmf"/><Relationship Id="rId24" Type="http://schemas.openxmlformats.org/officeDocument/2006/relationships/oleObject" Target="../embeddings/oleObject35.bin"/><Relationship Id="rId32" Type="http://schemas.openxmlformats.org/officeDocument/2006/relationships/image" Target="../media/image44.wmf"/><Relationship Id="rId5" Type="http://schemas.openxmlformats.org/officeDocument/2006/relationships/image" Target="../media/image31.wmf"/><Relationship Id="rId15" Type="http://schemas.openxmlformats.org/officeDocument/2006/relationships/image" Target="../media/image36.wmf"/><Relationship Id="rId23" Type="http://schemas.openxmlformats.org/officeDocument/2006/relationships/image" Target="../media/image40.wmf"/><Relationship Id="rId28" Type="http://schemas.openxmlformats.org/officeDocument/2006/relationships/oleObject" Target="../embeddings/oleObject37.bin"/><Relationship Id="rId10" Type="http://schemas.openxmlformats.org/officeDocument/2006/relationships/oleObject" Target="../embeddings/oleObject28.bin"/><Relationship Id="rId19" Type="http://schemas.openxmlformats.org/officeDocument/2006/relationships/image" Target="../media/image38.wmf"/><Relationship Id="rId31" Type="http://schemas.openxmlformats.org/officeDocument/2006/relationships/oleObject" Target="../embeddings/oleObject39.bin"/><Relationship Id="rId4" Type="http://schemas.openxmlformats.org/officeDocument/2006/relationships/oleObject" Target="../embeddings/oleObject25.bin"/><Relationship Id="rId9" Type="http://schemas.openxmlformats.org/officeDocument/2006/relationships/image" Target="../media/image33.wmf"/><Relationship Id="rId14" Type="http://schemas.openxmlformats.org/officeDocument/2006/relationships/oleObject" Target="../embeddings/oleObject30.bin"/><Relationship Id="rId22" Type="http://schemas.openxmlformats.org/officeDocument/2006/relationships/oleObject" Target="../embeddings/oleObject34.bin"/><Relationship Id="rId27" Type="http://schemas.openxmlformats.org/officeDocument/2006/relationships/image" Target="../media/image42.wmf"/><Relationship Id="rId30" Type="http://schemas.openxmlformats.org/officeDocument/2006/relationships/oleObject" Target="../embeddings/oleObject38.bin"/><Relationship Id="rId8" Type="http://schemas.openxmlformats.org/officeDocument/2006/relationships/oleObject" Target="../embeddings/oleObject27.bin"/></Relationships>
</file>

<file path=ppt/slides/_rels/slide13.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49.wmf"/><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6.wmf"/><Relationship Id="rId11" Type="http://schemas.openxmlformats.org/officeDocument/2006/relationships/oleObject" Target="../embeddings/oleObject45.bin"/><Relationship Id="rId5" Type="http://schemas.openxmlformats.org/officeDocument/2006/relationships/oleObject" Target="../embeddings/oleObject42.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3.wmf"/><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2.wmf"/><Relationship Id="rId11" Type="http://schemas.openxmlformats.org/officeDocument/2006/relationships/oleObject" Target="../embeddings/oleObject50.bin"/><Relationship Id="rId5" Type="http://schemas.openxmlformats.org/officeDocument/2006/relationships/oleObject" Target="../embeddings/oleObject47.bin"/><Relationship Id="rId10" Type="http://schemas.openxmlformats.org/officeDocument/2006/relationships/image" Target="../media/image18.wmf"/><Relationship Id="rId4" Type="http://schemas.openxmlformats.org/officeDocument/2006/relationships/image" Target="../media/image51.wmf"/><Relationship Id="rId9" Type="http://schemas.openxmlformats.org/officeDocument/2006/relationships/oleObject" Target="../embeddings/oleObject4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21.wmf"/><Relationship Id="rId3" Type="http://schemas.openxmlformats.org/officeDocument/2006/relationships/image" Target="../media/image54.wmf"/><Relationship Id="rId7" Type="http://schemas.openxmlformats.org/officeDocument/2006/relationships/image" Target="../media/image56.wmf"/><Relationship Id="rId12" Type="http://schemas.openxmlformats.org/officeDocument/2006/relationships/oleObject" Target="../embeddings/oleObject16.bin"/><Relationship Id="rId2" Type="http://schemas.openxmlformats.org/officeDocument/2006/relationships/oleObject" Target="../embeddings/oleObject51.bin"/><Relationship Id="rId1" Type="http://schemas.openxmlformats.org/officeDocument/2006/relationships/slideLayout" Target="../slideLayouts/slideLayout3.xml"/><Relationship Id="rId6" Type="http://schemas.openxmlformats.org/officeDocument/2006/relationships/oleObject" Target="../embeddings/oleObject53.bin"/><Relationship Id="rId11" Type="http://schemas.openxmlformats.org/officeDocument/2006/relationships/image" Target="../media/image58.wmf"/><Relationship Id="rId5" Type="http://schemas.openxmlformats.org/officeDocument/2006/relationships/image" Target="../media/image55.wmf"/><Relationship Id="rId15" Type="http://schemas.openxmlformats.org/officeDocument/2006/relationships/image" Target="../media/image17.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57.wmf"/><Relationship Id="rId14"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63.wmf"/><Relationship Id="rId5" Type="http://schemas.openxmlformats.org/officeDocument/2006/relationships/oleObject" Target="../embeddings/oleObject57.bin"/><Relationship Id="rId4" Type="http://schemas.openxmlformats.org/officeDocument/2006/relationships/image" Target="../media/image62.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oleObject" Target="../embeddings/oleObject63.bin"/><Relationship Id="rId3" Type="http://schemas.openxmlformats.org/officeDocument/2006/relationships/image" Target="../media/image64.wmf"/><Relationship Id="rId7" Type="http://schemas.openxmlformats.org/officeDocument/2006/relationships/image" Target="../media/image66.wmf"/><Relationship Id="rId12" Type="http://schemas.openxmlformats.org/officeDocument/2006/relationships/image" Target="../media/image68.wmf"/><Relationship Id="rId2" Type="http://schemas.openxmlformats.org/officeDocument/2006/relationships/oleObject" Target="../embeddings/oleObject58.bin"/><Relationship Id="rId1" Type="http://schemas.openxmlformats.org/officeDocument/2006/relationships/slideLayout" Target="../slideLayouts/slideLayout3.xml"/><Relationship Id="rId6" Type="http://schemas.openxmlformats.org/officeDocument/2006/relationships/oleObject" Target="../embeddings/oleObject60.bin"/><Relationship Id="rId11" Type="http://schemas.openxmlformats.org/officeDocument/2006/relationships/oleObject" Target="../embeddings/oleObject62.bin"/><Relationship Id="rId5" Type="http://schemas.openxmlformats.org/officeDocument/2006/relationships/image" Target="../media/image65.wmf"/><Relationship Id="rId10" Type="http://schemas.openxmlformats.org/officeDocument/2006/relationships/image" Target="../media/image61.png"/><Relationship Id="rId4" Type="http://schemas.openxmlformats.org/officeDocument/2006/relationships/oleObject" Target="../embeddings/oleObject59.bin"/><Relationship Id="rId9" Type="http://schemas.openxmlformats.org/officeDocument/2006/relationships/image" Target="../media/image67.wmf"/><Relationship Id="rId14" Type="http://schemas.openxmlformats.org/officeDocument/2006/relationships/image" Target="../media/image69.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67.wmf"/><Relationship Id="rId3" Type="http://schemas.openxmlformats.org/officeDocument/2006/relationships/image" Target="../media/image70.wmf"/><Relationship Id="rId7" Type="http://schemas.openxmlformats.org/officeDocument/2006/relationships/image" Target="../media/image72.wmf"/><Relationship Id="rId12" Type="http://schemas.openxmlformats.org/officeDocument/2006/relationships/oleObject" Target="../embeddings/oleObject61.bin"/><Relationship Id="rId2" Type="http://schemas.openxmlformats.org/officeDocument/2006/relationships/oleObject" Target="../embeddings/oleObject64.bin"/><Relationship Id="rId1" Type="http://schemas.openxmlformats.org/officeDocument/2006/relationships/slideLayout" Target="../slideLayouts/slideLayout3.xml"/><Relationship Id="rId6" Type="http://schemas.openxmlformats.org/officeDocument/2006/relationships/oleObject" Target="../embeddings/oleObject66.bin"/><Relationship Id="rId11" Type="http://schemas.openxmlformats.org/officeDocument/2006/relationships/image" Target="../media/image66.wmf"/><Relationship Id="rId5" Type="http://schemas.openxmlformats.org/officeDocument/2006/relationships/image" Target="../media/image71.wmf"/><Relationship Id="rId10" Type="http://schemas.openxmlformats.org/officeDocument/2006/relationships/oleObject" Target="../embeddings/oleObject60.bin"/><Relationship Id="rId4" Type="http://schemas.openxmlformats.org/officeDocument/2006/relationships/oleObject" Target="../embeddings/oleObject65.bin"/><Relationship Id="rId9" Type="http://schemas.openxmlformats.org/officeDocument/2006/relationships/image" Target="../media/image65.wmf"/><Relationship Id="rId14"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68.bin"/><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76.wmf"/><Relationship Id="rId2" Type="http://schemas.openxmlformats.org/officeDocument/2006/relationships/oleObject" Target="../embeddings/oleObject69.bin"/><Relationship Id="rId1" Type="http://schemas.openxmlformats.org/officeDocument/2006/relationships/slideLayout" Target="../slideLayouts/slideLayout3.xml"/><Relationship Id="rId6" Type="http://schemas.openxmlformats.org/officeDocument/2006/relationships/oleObject" Target="../embeddings/oleObject71.bin"/><Relationship Id="rId5" Type="http://schemas.openxmlformats.org/officeDocument/2006/relationships/image" Target="../media/image75.wmf"/><Relationship Id="rId4" Type="http://schemas.openxmlformats.org/officeDocument/2006/relationships/oleObject" Target="../embeddings/oleObject70.bin"/></Relationships>
</file>

<file path=ppt/slides/_rels/slide30.x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76.wmf"/><Relationship Id="rId2" Type="http://schemas.openxmlformats.org/officeDocument/2006/relationships/oleObject" Target="../embeddings/oleObject69.bin"/><Relationship Id="rId1" Type="http://schemas.openxmlformats.org/officeDocument/2006/relationships/slideLayout" Target="../slideLayouts/slideLayout3.xml"/><Relationship Id="rId6" Type="http://schemas.openxmlformats.org/officeDocument/2006/relationships/oleObject" Target="../embeddings/oleObject71.bin"/><Relationship Id="rId5" Type="http://schemas.openxmlformats.org/officeDocument/2006/relationships/image" Target="../media/image75.wmf"/><Relationship Id="rId4" Type="http://schemas.openxmlformats.org/officeDocument/2006/relationships/oleObject" Target="../embeddings/oleObject70.bin"/></Relationships>
</file>

<file path=ppt/slides/_rels/slide31.xml.rels><?xml version="1.0" encoding="UTF-8" standalone="yes"?>
<Relationships xmlns="http://schemas.openxmlformats.org/package/2006/relationships"><Relationship Id="rId3" Type="http://schemas.openxmlformats.org/officeDocument/2006/relationships/image" Target="../media/image77.wmf"/><Relationship Id="rId7" Type="http://schemas.openxmlformats.org/officeDocument/2006/relationships/image" Target="../media/image76.wmf"/><Relationship Id="rId2" Type="http://schemas.openxmlformats.org/officeDocument/2006/relationships/oleObject" Target="../embeddings/oleObject72.bin"/><Relationship Id="rId1" Type="http://schemas.openxmlformats.org/officeDocument/2006/relationships/slideLayout" Target="../slideLayouts/slideLayout3.xml"/><Relationship Id="rId6" Type="http://schemas.openxmlformats.org/officeDocument/2006/relationships/oleObject" Target="../embeddings/oleObject71.bin"/><Relationship Id="rId5" Type="http://schemas.openxmlformats.org/officeDocument/2006/relationships/image" Target="../media/image78.wmf"/><Relationship Id="rId4" Type="http://schemas.openxmlformats.org/officeDocument/2006/relationships/oleObject" Target="../embeddings/oleObject73.bin"/></Relationships>
</file>

<file path=ppt/slides/_rels/slide32.xml.rels><?xml version="1.0" encoding="UTF-8" standalone="yes"?>
<Relationships xmlns="http://schemas.openxmlformats.org/package/2006/relationships"><Relationship Id="rId3" Type="http://schemas.openxmlformats.org/officeDocument/2006/relationships/image" Target="../media/image77.wmf"/><Relationship Id="rId7" Type="http://schemas.openxmlformats.org/officeDocument/2006/relationships/image" Target="../media/image76.wmf"/><Relationship Id="rId2" Type="http://schemas.openxmlformats.org/officeDocument/2006/relationships/oleObject" Target="../embeddings/oleObject72.bin"/><Relationship Id="rId1" Type="http://schemas.openxmlformats.org/officeDocument/2006/relationships/slideLayout" Target="../slideLayouts/slideLayout3.xml"/><Relationship Id="rId6" Type="http://schemas.openxmlformats.org/officeDocument/2006/relationships/oleObject" Target="../embeddings/oleObject71.bin"/><Relationship Id="rId5" Type="http://schemas.openxmlformats.org/officeDocument/2006/relationships/image" Target="../media/image78.wmf"/><Relationship Id="rId4" Type="http://schemas.openxmlformats.org/officeDocument/2006/relationships/oleObject" Target="../embeddings/oleObject73.bin"/></Relationships>
</file>

<file path=ppt/slides/_rels/slide33.xml.rels><?xml version="1.0" encoding="UTF-8" standalone="yes"?>
<Relationships xmlns="http://schemas.openxmlformats.org/package/2006/relationships"><Relationship Id="rId3" Type="http://schemas.openxmlformats.org/officeDocument/2006/relationships/image" Target="../media/image65.wmf"/><Relationship Id="rId7" Type="http://schemas.openxmlformats.org/officeDocument/2006/relationships/image" Target="../media/image80.wmf"/><Relationship Id="rId2" Type="http://schemas.openxmlformats.org/officeDocument/2006/relationships/oleObject" Target="../embeddings/oleObject59.bin"/><Relationship Id="rId1" Type="http://schemas.openxmlformats.org/officeDocument/2006/relationships/slideLayout" Target="../slideLayouts/slideLayout3.xml"/><Relationship Id="rId6" Type="http://schemas.openxmlformats.org/officeDocument/2006/relationships/oleObject" Target="../embeddings/oleObject75.bin"/><Relationship Id="rId5" Type="http://schemas.openxmlformats.org/officeDocument/2006/relationships/image" Target="../media/image79.wmf"/><Relationship Id="rId4" Type="http://schemas.openxmlformats.org/officeDocument/2006/relationships/oleObject" Target="../embeddings/oleObject74.bin"/></Relationships>
</file>

<file path=ppt/slides/_rels/slide34.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60.bin"/><Relationship Id="rId1" Type="http://schemas.openxmlformats.org/officeDocument/2006/relationships/slideLayout" Target="../slideLayouts/slideLayout3.xml"/><Relationship Id="rId5" Type="http://schemas.openxmlformats.org/officeDocument/2006/relationships/image" Target="../media/image81.wmf"/><Relationship Id="rId4" Type="http://schemas.openxmlformats.org/officeDocument/2006/relationships/oleObject" Target="../embeddings/oleObject7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82.bin"/><Relationship Id="rId18" Type="http://schemas.openxmlformats.org/officeDocument/2006/relationships/image" Target="../media/image21.wmf"/><Relationship Id="rId3" Type="http://schemas.openxmlformats.org/officeDocument/2006/relationships/oleObject" Target="../embeddings/oleObject77.bin"/><Relationship Id="rId21" Type="http://schemas.openxmlformats.org/officeDocument/2006/relationships/oleObject" Target="../embeddings/oleObject84.bin"/><Relationship Id="rId7" Type="http://schemas.openxmlformats.org/officeDocument/2006/relationships/oleObject" Target="../embeddings/oleObject79.bin"/><Relationship Id="rId12" Type="http://schemas.openxmlformats.org/officeDocument/2006/relationships/image" Target="../media/image86.wmf"/><Relationship Id="rId17" Type="http://schemas.openxmlformats.org/officeDocument/2006/relationships/oleObject" Target="../embeddings/oleObject16.bin"/><Relationship Id="rId2" Type="http://schemas.openxmlformats.org/officeDocument/2006/relationships/notesSlide" Target="../notesSlides/notesSlide15.xml"/><Relationship Id="rId16" Type="http://schemas.openxmlformats.org/officeDocument/2006/relationships/image" Target="../media/image17.wmf"/><Relationship Id="rId20" Type="http://schemas.openxmlformats.org/officeDocument/2006/relationships/image" Target="../media/image88.wmf"/><Relationship Id="rId1" Type="http://schemas.openxmlformats.org/officeDocument/2006/relationships/slideLayout" Target="../slideLayouts/slideLayout3.xml"/><Relationship Id="rId6" Type="http://schemas.openxmlformats.org/officeDocument/2006/relationships/image" Target="../media/image83.wmf"/><Relationship Id="rId11" Type="http://schemas.openxmlformats.org/officeDocument/2006/relationships/oleObject" Target="../embeddings/oleObject81.bin"/><Relationship Id="rId24" Type="http://schemas.openxmlformats.org/officeDocument/2006/relationships/image" Target="../media/image90.wmf"/><Relationship Id="rId5" Type="http://schemas.openxmlformats.org/officeDocument/2006/relationships/oleObject" Target="../embeddings/oleObject78.bin"/><Relationship Id="rId15" Type="http://schemas.openxmlformats.org/officeDocument/2006/relationships/oleObject" Target="../embeddings/oleObject12.bin"/><Relationship Id="rId23" Type="http://schemas.openxmlformats.org/officeDocument/2006/relationships/oleObject" Target="../embeddings/oleObject85.bin"/><Relationship Id="rId10" Type="http://schemas.openxmlformats.org/officeDocument/2006/relationships/image" Target="../media/image85.wmf"/><Relationship Id="rId19" Type="http://schemas.openxmlformats.org/officeDocument/2006/relationships/oleObject" Target="../embeddings/oleObject83.bin"/><Relationship Id="rId4" Type="http://schemas.openxmlformats.org/officeDocument/2006/relationships/image" Target="../media/image82.wmf"/><Relationship Id="rId9" Type="http://schemas.openxmlformats.org/officeDocument/2006/relationships/oleObject" Target="../embeddings/oleObject80.bin"/><Relationship Id="rId14" Type="http://schemas.openxmlformats.org/officeDocument/2006/relationships/image" Target="../media/image87.wmf"/><Relationship Id="rId22" Type="http://schemas.openxmlformats.org/officeDocument/2006/relationships/image" Target="../media/image89.wmf"/></Relationships>
</file>

<file path=ppt/slides/_rels/slide40.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89.wmf"/><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92.wmf"/><Relationship Id="rId11" Type="http://schemas.openxmlformats.org/officeDocument/2006/relationships/oleObject" Target="../embeddings/oleObject84.bin"/><Relationship Id="rId5" Type="http://schemas.openxmlformats.org/officeDocument/2006/relationships/oleObject" Target="../embeddings/oleObject87.bin"/><Relationship Id="rId10" Type="http://schemas.openxmlformats.org/officeDocument/2006/relationships/image" Target="../media/image10.wmf"/><Relationship Id="rId4" Type="http://schemas.openxmlformats.org/officeDocument/2006/relationships/image" Target="../media/image91.wmf"/><Relationship Id="rId9" Type="http://schemas.openxmlformats.org/officeDocument/2006/relationships/oleObject" Target="../embeddings/oleObject6.bin"/></Relationships>
</file>

<file path=ppt/slides/_rels/slide41.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image" Target="../media/image94.png"/><Relationship Id="rId1" Type="http://schemas.openxmlformats.org/officeDocument/2006/relationships/slideLayout" Target="../slideLayouts/slideLayout3.xml"/><Relationship Id="rId6" Type="http://schemas.openxmlformats.org/officeDocument/2006/relationships/image" Target="../media/image96.wmf"/><Relationship Id="rId5" Type="http://schemas.openxmlformats.org/officeDocument/2006/relationships/oleObject" Target="../embeddings/oleObject90.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92.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02.wmf"/><Relationship Id="rId18" Type="http://schemas.openxmlformats.org/officeDocument/2006/relationships/oleObject" Target="../embeddings/oleObject101.bin"/><Relationship Id="rId26" Type="http://schemas.openxmlformats.org/officeDocument/2006/relationships/image" Target="../media/image106.wmf"/><Relationship Id="rId3" Type="http://schemas.openxmlformats.org/officeDocument/2006/relationships/image" Target="../media/image99.wmf"/><Relationship Id="rId21" Type="http://schemas.openxmlformats.org/officeDocument/2006/relationships/oleObject" Target="../embeddings/oleObject12.bin"/><Relationship Id="rId7" Type="http://schemas.openxmlformats.org/officeDocument/2006/relationships/image" Target="../media/image100.wmf"/><Relationship Id="rId12" Type="http://schemas.openxmlformats.org/officeDocument/2006/relationships/oleObject" Target="../embeddings/oleObject98.bin"/><Relationship Id="rId17" Type="http://schemas.openxmlformats.org/officeDocument/2006/relationships/image" Target="../media/image104.wmf"/><Relationship Id="rId25" Type="http://schemas.openxmlformats.org/officeDocument/2006/relationships/oleObject" Target="../embeddings/oleObject104.bin"/><Relationship Id="rId2" Type="http://schemas.openxmlformats.org/officeDocument/2006/relationships/oleObject" Target="../embeddings/oleObject93.bin"/><Relationship Id="rId16" Type="http://schemas.openxmlformats.org/officeDocument/2006/relationships/oleObject" Target="../embeddings/oleObject100.bin"/><Relationship Id="rId20" Type="http://schemas.openxmlformats.org/officeDocument/2006/relationships/oleObject" Target="../embeddings/oleObject102.bin"/><Relationship Id="rId1" Type="http://schemas.openxmlformats.org/officeDocument/2006/relationships/slideLayout" Target="../slideLayouts/slideLayout3.xml"/><Relationship Id="rId6" Type="http://schemas.openxmlformats.org/officeDocument/2006/relationships/oleObject" Target="../embeddings/oleObject95.bin"/><Relationship Id="rId11" Type="http://schemas.openxmlformats.org/officeDocument/2006/relationships/image" Target="../media/image101.wmf"/><Relationship Id="rId24" Type="http://schemas.openxmlformats.org/officeDocument/2006/relationships/image" Target="../media/image11.wmf"/><Relationship Id="rId5" Type="http://schemas.openxmlformats.org/officeDocument/2006/relationships/image" Target="../media/image21.wmf"/><Relationship Id="rId15" Type="http://schemas.openxmlformats.org/officeDocument/2006/relationships/image" Target="../media/image103.wmf"/><Relationship Id="rId23" Type="http://schemas.openxmlformats.org/officeDocument/2006/relationships/oleObject" Target="../embeddings/oleObject103.bin"/><Relationship Id="rId10" Type="http://schemas.openxmlformats.org/officeDocument/2006/relationships/oleObject" Target="../embeddings/oleObject97.bin"/><Relationship Id="rId19" Type="http://schemas.openxmlformats.org/officeDocument/2006/relationships/image" Target="../media/image105.wmf"/><Relationship Id="rId4" Type="http://schemas.openxmlformats.org/officeDocument/2006/relationships/oleObject" Target="../embeddings/oleObject94.bin"/><Relationship Id="rId9" Type="http://schemas.openxmlformats.org/officeDocument/2006/relationships/image" Target="../media/image22.wmf"/><Relationship Id="rId14" Type="http://schemas.openxmlformats.org/officeDocument/2006/relationships/oleObject" Target="../embeddings/oleObject99.bin"/><Relationship Id="rId22" Type="http://schemas.openxmlformats.org/officeDocument/2006/relationships/image" Target="../media/image17.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10.wmf"/><Relationship Id="rId3" Type="http://schemas.openxmlformats.org/officeDocument/2006/relationships/image" Target="../media/image107.wmf"/><Relationship Id="rId7" Type="http://schemas.openxmlformats.org/officeDocument/2006/relationships/image" Target="../media/image109.wmf"/><Relationship Id="rId12" Type="http://schemas.openxmlformats.org/officeDocument/2006/relationships/oleObject" Target="../embeddings/oleObject108.bin"/><Relationship Id="rId17" Type="http://schemas.openxmlformats.org/officeDocument/2006/relationships/image" Target="../media/image17.wmf"/><Relationship Id="rId2" Type="http://schemas.openxmlformats.org/officeDocument/2006/relationships/oleObject" Target="../embeddings/oleObject105.bin"/><Relationship Id="rId16" Type="http://schemas.openxmlformats.org/officeDocument/2006/relationships/oleObject" Target="../embeddings/oleObject12.bin"/><Relationship Id="rId1" Type="http://schemas.openxmlformats.org/officeDocument/2006/relationships/slideLayout" Target="../slideLayouts/slideLayout3.xml"/><Relationship Id="rId6" Type="http://schemas.openxmlformats.org/officeDocument/2006/relationships/oleObject" Target="../embeddings/oleObject107.bin"/><Relationship Id="rId11" Type="http://schemas.openxmlformats.org/officeDocument/2006/relationships/image" Target="../media/image22.wmf"/><Relationship Id="rId5" Type="http://schemas.openxmlformats.org/officeDocument/2006/relationships/image" Target="../media/image108.wmf"/><Relationship Id="rId15" Type="http://schemas.openxmlformats.org/officeDocument/2006/relationships/image" Target="../media/image106.wmf"/><Relationship Id="rId10" Type="http://schemas.openxmlformats.org/officeDocument/2006/relationships/oleObject" Target="../embeddings/oleObject96.bin"/><Relationship Id="rId4" Type="http://schemas.openxmlformats.org/officeDocument/2006/relationships/oleObject" Target="../embeddings/oleObject106.bin"/><Relationship Id="rId9" Type="http://schemas.openxmlformats.org/officeDocument/2006/relationships/image" Target="../media/image102.wmf"/><Relationship Id="rId14" Type="http://schemas.openxmlformats.org/officeDocument/2006/relationships/oleObject" Target="../embeddings/oleObject104.bin"/></Relationships>
</file>

<file path=ppt/slides/_rels/slide45.x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oleObject" Target="../embeddings/oleObject114.bin"/><Relationship Id="rId3" Type="http://schemas.openxmlformats.org/officeDocument/2006/relationships/oleObject" Target="../embeddings/oleObject109.bin"/><Relationship Id="rId7" Type="http://schemas.openxmlformats.org/officeDocument/2006/relationships/oleObject" Target="../embeddings/oleObject111.bin"/><Relationship Id="rId12" Type="http://schemas.openxmlformats.org/officeDocument/2006/relationships/image" Target="../media/image28.wmf"/><Relationship Id="rId2" Type="http://schemas.openxmlformats.org/officeDocument/2006/relationships/image" Target="../media/image111.png"/><Relationship Id="rId16" Type="http://schemas.openxmlformats.org/officeDocument/2006/relationships/image" Target="../media/image115.wmf"/><Relationship Id="rId1" Type="http://schemas.openxmlformats.org/officeDocument/2006/relationships/slideLayout" Target="../slideLayouts/slideLayout3.xml"/><Relationship Id="rId6" Type="http://schemas.openxmlformats.org/officeDocument/2006/relationships/image" Target="../media/image99.wmf"/><Relationship Id="rId11" Type="http://schemas.openxmlformats.org/officeDocument/2006/relationships/oleObject" Target="../embeddings/oleObject113.bin"/><Relationship Id="rId5" Type="http://schemas.openxmlformats.org/officeDocument/2006/relationships/oleObject" Target="../embeddings/oleObject110.bin"/><Relationship Id="rId15" Type="http://schemas.openxmlformats.org/officeDocument/2006/relationships/oleObject" Target="../embeddings/oleObject115.bin"/><Relationship Id="rId10" Type="http://schemas.openxmlformats.org/officeDocument/2006/relationships/image" Target="../media/image113.wmf"/><Relationship Id="rId4" Type="http://schemas.openxmlformats.org/officeDocument/2006/relationships/image" Target="../media/image21.wmf"/><Relationship Id="rId9" Type="http://schemas.openxmlformats.org/officeDocument/2006/relationships/oleObject" Target="../embeddings/oleObject112.bin"/><Relationship Id="rId14" Type="http://schemas.openxmlformats.org/officeDocument/2006/relationships/image" Target="../media/image114.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21.wmf"/><Relationship Id="rId18" Type="http://schemas.openxmlformats.org/officeDocument/2006/relationships/oleObject" Target="../embeddings/oleObject124.bin"/><Relationship Id="rId3" Type="http://schemas.openxmlformats.org/officeDocument/2006/relationships/image" Target="../media/image116.wmf"/><Relationship Id="rId21" Type="http://schemas.openxmlformats.org/officeDocument/2006/relationships/image" Target="../media/image99.wmf"/><Relationship Id="rId7" Type="http://schemas.openxmlformats.org/officeDocument/2006/relationships/image" Target="../media/image118.wmf"/><Relationship Id="rId12" Type="http://schemas.openxmlformats.org/officeDocument/2006/relationships/oleObject" Target="../embeddings/oleObject121.bin"/><Relationship Id="rId17" Type="http://schemas.openxmlformats.org/officeDocument/2006/relationships/image" Target="../media/image123.wmf"/><Relationship Id="rId25" Type="http://schemas.openxmlformats.org/officeDocument/2006/relationships/image" Target="../media/image21.wmf"/><Relationship Id="rId2" Type="http://schemas.openxmlformats.org/officeDocument/2006/relationships/oleObject" Target="../embeddings/oleObject116.bin"/><Relationship Id="rId16" Type="http://schemas.openxmlformats.org/officeDocument/2006/relationships/oleObject" Target="../embeddings/oleObject123.bin"/><Relationship Id="rId20" Type="http://schemas.openxmlformats.org/officeDocument/2006/relationships/oleObject" Target="../embeddings/oleObject125.bin"/><Relationship Id="rId1" Type="http://schemas.openxmlformats.org/officeDocument/2006/relationships/slideLayout" Target="../slideLayouts/slideLayout3.xml"/><Relationship Id="rId6" Type="http://schemas.openxmlformats.org/officeDocument/2006/relationships/oleObject" Target="../embeddings/oleObject118.bin"/><Relationship Id="rId11" Type="http://schemas.openxmlformats.org/officeDocument/2006/relationships/image" Target="../media/image120.wmf"/><Relationship Id="rId24" Type="http://schemas.openxmlformats.org/officeDocument/2006/relationships/oleObject" Target="../embeddings/oleObject94.bin"/><Relationship Id="rId5" Type="http://schemas.openxmlformats.org/officeDocument/2006/relationships/image" Target="../media/image117.wmf"/><Relationship Id="rId15" Type="http://schemas.openxmlformats.org/officeDocument/2006/relationships/image" Target="../media/image122.wmf"/><Relationship Id="rId23" Type="http://schemas.openxmlformats.org/officeDocument/2006/relationships/image" Target="../media/image125.wmf"/><Relationship Id="rId10" Type="http://schemas.openxmlformats.org/officeDocument/2006/relationships/oleObject" Target="../embeddings/oleObject120.bin"/><Relationship Id="rId19" Type="http://schemas.openxmlformats.org/officeDocument/2006/relationships/image" Target="../media/image124.wmf"/><Relationship Id="rId4" Type="http://schemas.openxmlformats.org/officeDocument/2006/relationships/oleObject" Target="../embeddings/oleObject117.bin"/><Relationship Id="rId9" Type="http://schemas.openxmlformats.org/officeDocument/2006/relationships/image" Target="../media/image119.wmf"/><Relationship Id="rId14" Type="http://schemas.openxmlformats.org/officeDocument/2006/relationships/oleObject" Target="../embeddings/oleObject122.bin"/><Relationship Id="rId22" Type="http://schemas.openxmlformats.org/officeDocument/2006/relationships/oleObject" Target="../embeddings/oleObject126.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49.wmf"/><Relationship Id="rId3" Type="http://schemas.openxmlformats.org/officeDocument/2006/relationships/image" Target="../media/image126.wmf"/><Relationship Id="rId7" Type="http://schemas.openxmlformats.org/officeDocument/2006/relationships/image" Target="../media/image128.wmf"/><Relationship Id="rId12" Type="http://schemas.openxmlformats.org/officeDocument/2006/relationships/oleObject" Target="../embeddings/oleObject132.bin"/><Relationship Id="rId2" Type="http://schemas.openxmlformats.org/officeDocument/2006/relationships/oleObject" Target="../embeddings/oleObject127.bin"/><Relationship Id="rId1" Type="http://schemas.openxmlformats.org/officeDocument/2006/relationships/slideLayout" Target="../slideLayouts/slideLayout3.xml"/><Relationship Id="rId6" Type="http://schemas.openxmlformats.org/officeDocument/2006/relationships/oleObject" Target="../embeddings/oleObject129.bin"/><Relationship Id="rId11" Type="http://schemas.openxmlformats.org/officeDocument/2006/relationships/image" Target="../media/image48.wmf"/><Relationship Id="rId5" Type="http://schemas.openxmlformats.org/officeDocument/2006/relationships/image" Target="../media/image127.w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29.wmf"/><Relationship Id="rId14" Type="http://schemas.openxmlformats.org/officeDocument/2006/relationships/image" Target="../media/image1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image" Target="../media/image133.wmf"/><Relationship Id="rId7" Type="http://schemas.openxmlformats.org/officeDocument/2006/relationships/image" Target="../media/image135.wmf"/><Relationship Id="rId2" Type="http://schemas.openxmlformats.org/officeDocument/2006/relationships/oleObject" Target="../embeddings/oleObject133.bin"/><Relationship Id="rId1" Type="http://schemas.openxmlformats.org/officeDocument/2006/relationships/slideLayout" Target="../slideLayouts/slideLayout3.xml"/><Relationship Id="rId6" Type="http://schemas.openxmlformats.org/officeDocument/2006/relationships/oleObject" Target="../embeddings/oleObject135.bin"/><Relationship Id="rId5" Type="http://schemas.openxmlformats.org/officeDocument/2006/relationships/image" Target="../media/image134.wmf"/><Relationship Id="rId4" Type="http://schemas.openxmlformats.org/officeDocument/2006/relationships/oleObject" Target="../embeddings/oleObject134.bin"/><Relationship Id="rId9" Type="http://schemas.openxmlformats.org/officeDocument/2006/relationships/image" Target="../media/image136.wmf"/></Relationships>
</file>

<file path=ppt/slides/_rels/slide53.xml.rels><?xml version="1.0" encoding="UTF-8" standalone="yes"?>
<Relationships xmlns="http://schemas.openxmlformats.org/package/2006/relationships"><Relationship Id="rId3" Type="http://schemas.openxmlformats.org/officeDocument/2006/relationships/image" Target="../media/image137.wmf"/><Relationship Id="rId7" Type="http://schemas.openxmlformats.org/officeDocument/2006/relationships/image" Target="../media/image139.wmf"/><Relationship Id="rId2" Type="http://schemas.openxmlformats.org/officeDocument/2006/relationships/oleObject" Target="../embeddings/oleObject137.bin"/><Relationship Id="rId1" Type="http://schemas.openxmlformats.org/officeDocument/2006/relationships/slideLayout" Target="../slideLayouts/slideLayout3.xml"/><Relationship Id="rId6" Type="http://schemas.openxmlformats.org/officeDocument/2006/relationships/oleObject" Target="../embeddings/oleObject139.bin"/><Relationship Id="rId5" Type="http://schemas.openxmlformats.org/officeDocument/2006/relationships/image" Target="../media/image138.wmf"/><Relationship Id="rId4" Type="http://schemas.openxmlformats.org/officeDocument/2006/relationships/oleObject" Target="../embeddings/oleObject138.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89CEAB63-345C-2F05-4CB5-BB4BC87CC6CB}"/>
              </a:ext>
            </a:extLst>
          </p:cNvPr>
          <p:cNvSpPr txBox="1">
            <a:spLocks/>
          </p:cNvSpPr>
          <p:nvPr/>
        </p:nvSpPr>
        <p:spPr>
          <a:xfrm>
            <a:off x="0" y="1752600"/>
            <a:ext cx="9144000" cy="1069975"/>
          </a:xfrm>
          <a:prstGeom prst="rect">
            <a:avLst/>
          </a:prstGeom>
          <a:effectLst>
            <a:outerShdw blurRad="50800" dist="38100" dir="8100000" algn="tr" rotWithShape="0">
              <a:prstClr val="black">
                <a:alpha val="40000"/>
              </a:prstClr>
            </a:outerShdw>
          </a:effectLst>
        </p:spPr>
        <p:txBody>
          <a:bodyPr/>
          <a:lstStyle>
            <a:lvl1pPr algn="ctr" rtl="0" eaLnBrk="0" fontAlgn="base" hangingPunct="0">
              <a:spcBef>
                <a:spcPct val="0"/>
              </a:spcBef>
              <a:spcAft>
                <a:spcPct val="0"/>
              </a:spcAft>
              <a:defRPr sz="4000">
                <a:solidFill>
                  <a:schemeClr val="bg1"/>
                </a:solidFill>
                <a:latin typeface="Times New Roman Regular" charset="0"/>
                <a:ea typeface="+mj-ea"/>
                <a:cs typeface="+mj-cs"/>
              </a:defRPr>
            </a:lvl1pPr>
            <a:lvl2pPr algn="ctr" rtl="0" eaLnBrk="0" fontAlgn="base" hangingPunct="0">
              <a:spcBef>
                <a:spcPct val="0"/>
              </a:spcBef>
              <a:spcAft>
                <a:spcPct val="0"/>
              </a:spcAft>
              <a:defRPr sz="4000">
                <a:solidFill>
                  <a:schemeClr val="bg1"/>
                </a:solidFill>
                <a:latin typeface="Times New Roman Regular" charset="0"/>
                <a:ea typeface="黑体" panose="02010609060101010101" pitchFamily="49" charset="-122"/>
              </a:defRPr>
            </a:lvl2pPr>
            <a:lvl3pPr algn="ctr" rtl="0" eaLnBrk="0" fontAlgn="base" hangingPunct="0">
              <a:spcBef>
                <a:spcPct val="0"/>
              </a:spcBef>
              <a:spcAft>
                <a:spcPct val="0"/>
              </a:spcAft>
              <a:defRPr sz="4000">
                <a:solidFill>
                  <a:schemeClr val="bg1"/>
                </a:solidFill>
                <a:latin typeface="Times New Roman Regular" charset="0"/>
                <a:ea typeface="黑体" panose="02010609060101010101" pitchFamily="49" charset="-122"/>
              </a:defRPr>
            </a:lvl3pPr>
            <a:lvl4pPr algn="ctr" rtl="0" eaLnBrk="0" fontAlgn="base" hangingPunct="0">
              <a:spcBef>
                <a:spcPct val="0"/>
              </a:spcBef>
              <a:spcAft>
                <a:spcPct val="0"/>
              </a:spcAft>
              <a:defRPr sz="4000">
                <a:solidFill>
                  <a:schemeClr val="bg1"/>
                </a:solidFill>
                <a:latin typeface="Times New Roman Regular" charset="0"/>
                <a:ea typeface="黑体" panose="02010609060101010101" pitchFamily="49" charset="-122"/>
              </a:defRPr>
            </a:lvl4pPr>
            <a:lvl5pPr algn="ctr" rtl="0" eaLnBrk="0" fontAlgn="base" hangingPunct="0">
              <a:spcBef>
                <a:spcPct val="0"/>
              </a:spcBef>
              <a:spcAft>
                <a:spcPct val="0"/>
              </a:spcAft>
              <a:defRPr sz="4000">
                <a:solidFill>
                  <a:schemeClr val="bg1"/>
                </a:solidFill>
                <a:latin typeface="Times New Roman Regular" charset="0"/>
                <a:ea typeface="黑体" panose="02010609060101010101" pitchFamily="49" charset="-122"/>
              </a:defRPr>
            </a:lvl5pPr>
            <a:lvl6pPr marL="457200"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49" charset="-122"/>
              </a:defRPr>
            </a:lvl6pPr>
            <a:lvl7pPr marL="914400"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49" charset="-122"/>
              </a:defRPr>
            </a:lvl7pPr>
            <a:lvl8pPr marL="1371600"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49" charset="-122"/>
              </a:defRPr>
            </a:lvl8pPr>
            <a:lvl9pPr marL="1828800"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49" charset="-122"/>
              </a:defRPr>
            </a:lvl9pPr>
          </a:lstStyle>
          <a:p>
            <a:pPr eaLnBrk="1" hangingPunct="1">
              <a:defRPr/>
            </a:pPr>
            <a:r>
              <a:rPr lang="zh-CN" altLang="en-US" sz="5400" b="1" kern="0" baseline="0">
                <a:solidFill>
                  <a:schemeClr val="tx1"/>
                </a:solidFill>
                <a:latin typeface="微软雅黑" panose="020B0503020204020204" pitchFamily="34" charset="-122"/>
                <a:ea typeface="微软雅黑" panose="020B0503020204020204" pitchFamily="34" charset="-122"/>
              </a:rPr>
              <a:t>机器学习</a:t>
            </a:r>
            <a:endParaRPr lang="en-US" altLang="zh-CN" sz="5400" b="1" kern="0" baseline="0">
              <a:solidFill>
                <a:schemeClr val="tx1"/>
              </a:solidFill>
              <a:latin typeface="微软雅黑" panose="020B0503020204020204" pitchFamily="34" charset="-122"/>
              <a:ea typeface="微软雅黑" panose="020B0503020204020204" pitchFamily="34" charset="-122"/>
            </a:endParaRPr>
          </a:p>
          <a:p>
            <a:pPr eaLnBrk="1" hangingPunct="1">
              <a:lnSpc>
                <a:spcPts val="1200"/>
              </a:lnSpc>
              <a:defRPr/>
            </a:pPr>
            <a:endParaRPr lang="en-US" altLang="zh-CN" sz="5400" b="1" kern="0" baseline="0">
              <a:solidFill>
                <a:schemeClr val="tx1"/>
              </a:solidFill>
              <a:latin typeface="微软雅黑" panose="020B0503020204020204" pitchFamily="34" charset="-122"/>
              <a:ea typeface="微软雅黑" panose="020B0503020204020204" pitchFamily="34" charset="-122"/>
            </a:endParaRPr>
          </a:p>
          <a:p>
            <a:pPr eaLnBrk="1" hangingPunct="1">
              <a:defRPr/>
            </a:pPr>
            <a:r>
              <a:rPr lang="en-US" altLang="zh-CN" sz="5400" b="1" kern="0" baseline="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Machine Learning</a:t>
            </a:r>
            <a:endParaRPr lang="zh-CN" altLang="en-US" sz="5400" b="1" kern="0" baseline="0"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99" name="灯片编号占位符 3">
            <a:extLst>
              <a:ext uri="{FF2B5EF4-FFF2-40B4-BE49-F238E27FC236}">
                <a16:creationId xmlns:a16="http://schemas.microsoft.com/office/drawing/2014/main" id="{DAB81B74-A65A-B9A1-E0C4-DFF64F950777}"/>
              </a:ext>
            </a:extLst>
          </p:cNvPr>
          <p:cNvSpPr>
            <a:spLocks noGrp="1" noChangeArrowheads="1"/>
          </p:cNvSpPr>
          <p:nvPr>
            <p:ph type="sldNum" sz="quarter" idx="12"/>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baseline="0">
                <a:solidFill>
                  <a:schemeClr val="tx1"/>
                </a:solidFill>
                <a:latin typeface="Times New Roman Regular"/>
                <a:ea typeface="宋体" panose="02010600030101010101" pitchFamily="2" charset="-122"/>
                <a:cs typeface="+mn-cs"/>
              </a:defRPr>
            </a:lvl1pPr>
            <a:lvl2pPr marL="4572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a:lstStyle>
          <a:p>
            <a:pPr>
              <a:lnSpc>
                <a:spcPct val="100000"/>
              </a:lnSpc>
              <a:spcBef>
                <a:spcPct val="0"/>
              </a:spcBef>
              <a:buClrTx/>
              <a:buSzTx/>
              <a:buFontTx/>
              <a:buNone/>
              <a:defRPr/>
            </a:pPr>
            <a:fld id="{B8ABD1D9-E552-4C1F-BA4A-A10AB43C0B54}" type="slidenum">
              <a:rPr lang="en-US" altLang="zh-CN" smtClean="0"/>
              <a:pPr>
                <a:lnSpc>
                  <a:spcPct val="100000"/>
                </a:lnSpc>
                <a:spcBef>
                  <a:spcPct val="0"/>
                </a:spcBef>
                <a:buClrTx/>
                <a:buSzTx/>
                <a:buFontTx/>
                <a:buNone/>
                <a:defRPr/>
              </a:pPr>
              <a:t>1</a:t>
            </a:fld>
            <a:endParaRPr lang="en-US" altLang="zh-CN" sz="1400">
              <a:ea typeface="宋体" panose="02010600030101010101" pitchFamily="2" charset="-122"/>
            </a:endParaRPr>
          </a:p>
        </p:txBody>
      </p:sp>
      <p:sp>
        <p:nvSpPr>
          <p:cNvPr id="4" name="副标题 2">
            <a:extLst>
              <a:ext uri="{FF2B5EF4-FFF2-40B4-BE49-F238E27FC236}">
                <a16:creationId xmlns:a16="http://schemas.microsoft.com/office/drawing/2014/main" id="{DECCD2DD-CF4E-3E04-1522-B8A5D4A7442A}"/>
              </a:ext>
            </a:extLst>
          </p:cNvPr>
          <p:cNvSpPr txBox="1">
            <a:spLocks/>
          </p:cNvSpPr>
          <p:nvPr/>
        </p:nvSpPr>
        <p:spPr>
          <a:xfrm>
            <a:off x="0" y="4098925"/>
            <a:ext cx="9144000" cy="1082675"/>
          </a:xfrm>
          <a:prstGeom prst="rect">
            <a:avLst/>
          </a:prstGeom>
        </p:spPr>
        <p:txBody>
          <a:bodyPr/>
          <a:lst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defRPr/>
            </a:pPr>
            <a:r>
              <a:rPr lang="zh-CN" altLang="en-US" sz="2400">
                <a:latin typeface="微软雅黑" panose="020B0503020204020204" pitchFamily="34" charset="-122"/>
                <a:ea typeface="微软雅黑" panose="020B0503020204020204" pitchFamily="34" charset="-122"/>
              </a:rPr>
              <a:t>肖力</a:t>
            </a:r>
            <a:endParaRPr lang="en-US" altLang="zh-CN" sz="2400">
              <a:latin typeface="微软雅黑" panose="020B0503020204020204" pitchFamily="34" charset="-122"/>
              <a:ea typeface="微软雅黑" panose="020B0503020204020204" pitchFamily="34" charset="-122"/>
            </a:endParaRPr>
          </a:p>
          <a:p>
            <a:pPr algn="ctr">
              <a:lnSpc>
                <a:spcPts val="100"/>
              </a:lnSpc>
              <a:defRPr/>
            </a:pPr>
            <a:endParaRPr lang="zh-CN" altLang="en-US" sz="2400">
              <a:latin typeface="微软雅黑" panose="020B0503020204020204" pitchFamily="34" charset="-122"/>
              <a:ea typeface="微软雅黑" panose="020B0503020204020204" pitchFamily="34" charset="-122"/>
            </a:endParaRPr>
          </a:p>
          <a:p>
            <a:pPr marL="0" indent="0" algn="ctr">
              <a:buFont typeface="Wingdings" panose="05000000000000000000" pitchFamily="2" charset="2"/>
              <a:buNone/>
              <a:defRPr/>
            </a:pPr>
            <a:r>
              <a:rPr lang="zh-CN" altLang="en-US" sz="2400">
                <a:latin typeface="微软雅黑" panose="020B0503020204020204" pitchFamily="34" charset="-122"/>
                <a:ea typeface="微软雅黑" panose="020B0503020204020204" pitchFamily="34" charset="-122"/>
              </a:rPr>
              <a:t>信息科学技术学院</a:t>
            </a:r>
            <a:r>
              <a:rPr lang="en-US" altLang="zh-CN" sz="2400">
                <a:latin typeface="微软雅黑" panose="020B0503020204020204" pitchFamily="34" charset="-122"/>
                <a:ea typeface="微软雅黑" panose="020B0503020204020204" pitchFamily="34" charset="-122"/>
              </a:rPr>
              <a:t>—6</a:t>
            </a:r>
            <a:r>
              <a:rPr lang="zh-CN" altLang="en-US" sz="2400">
                <a:latin typeface="微软雅黑" panose="020B0503020204020204" pitchFamily="34" charset="-122"/>
                <a:ea typeface="微软雅黑" panose="020B0503020204020204" pitchFamily="34" charset="-122"/>
              </a:rPr>
              <a:t>系</a:t>
            </a:r>
            <a:endParaRPr lang="en-US" altLang="zh-CN" sz="2400">
              <a:latin typeface="微软雅黑" panose="020B0503020204020204" pitchFamily="34" charset="-122"/>
              <a:ea typeface="微软雅黑" panose="020B0503020204020204" pitchFamily="34" charset="-122"/>
            </a:endParaRPr>
          </a:p>
          <a:p>
            <a:pPr marL="0" indent="0" algn="ctr">
              <a:lnSpc>
                <a:spcPts val="0"/>
              </a:lnSpc>
              <a:buFont typeface="Wingdings" panose="05000000000000000000" pitchFamily="2" charset="2"/>
              <a:buNone/>
              <a:defRPr/>
            </a:pPr>
            <a:endParaRPr lang="en-US" altLang="zh-CN" sz="2400">
              <a:latin typeface="微软雅黑" panose="020B0503020204020204" pitchFamily="34" charset="-122"/>
              <a:ea typeface="微软雅黑" panose="020B0503020204020204" pitchFamily="34" charset="-122"/>
            </a:endParaRPr>
          </a:p>
          <a:p>
            <a:pPr marL="0" indent="0" algn="ctr">
              <a:buFont typeface="Wingdings" panose="05000000000000000000" pitchFamily="2" charset="2"/>
              <a:buNone/>
              <a:defRPr/>
            </a:pPr>
            <a:r>
              <a:rPr lang="en-US" altLang="zh-CN" sz="2400">
                <a:latin typeface="微软雅黑" panose="020B0503020204020204" pitchFamily="34" charset="-122"/>
                <a:ea typeface="微软雅黑" panose="020B0503020204020204" pitchFamily="34" charset="-122"/>
              </a:rPr>
              <a:t>https://faculty.ustc.edu.cn/xiaoli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a:extLst>
              <a:ext uri="{FF2B5EF4-FFF2-40B4-BE49-F238E27FC236}">
                <a16:creationId xmlns:a16="http://schemas.microsoft.com/office/drawing/2014/main" id="{12F21B63-26C2-6583-08EC-FE9DF775FB23}"/>
              </a:ext>
            </a:extLst>
          </p:cNvPr>
          <p:cNvSpPr>
            <a:spLocks noGrp="1" noChangeArrowheads="1"/>
          </p:cNvSpPr>
          <p:nvPr>
            <p:ph type="sldNum" sz="quarter" idx="12"/>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baseline="0">
                <a:solidFill>
                  <a:schemeClr val="tx1"/>
                </a:solidFill>
                <a:latin typeface="Times New Roman Regular"/>
                <a:ea typeface="宋体" panose="02010600030101010101" pitchFamily="2" charset="-122"/>
                <a:cs typeface="+mn-cs"/>
              </a:defRPr>
            </a:lvl1pPr>
            <a:lvl2pPr marL="4572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a:lstStyle>
          <a:p>
            <a:pPr>
              <a:lnSpc>
                <a:spcPct val="100000"/>
              </a:lnSpc>
              <a:spcBef>
                <a:spcPct val="0"/>
              </a:spcBef>
              <a:buClrTx/>
              <a:buSzTx/>
              <a:buFontTx/>
              <a:buNone/>
              <a:defRPr/>
            </a:pPr>
            <a:fld id="{B8ABD1D9-E552-4C1F-BA4A-A10AB43C0B54}" type="slidenum">
              <a:rPr lang="en-US" altLang="zh-CN" smtClean="0"/>
              <a:pPr>
                <a:lnSpc>
                  <a:spcPct val="100000"/>
                </a:lnSpc>
                <a:spcBef>
                  <a:spcPct val="0"/>
                </a:spcBef>
                <a:buClrTx/>
                <a:buSzTx/>
                <a:buFontTx/>
                <a:buNone/>
                <a:defRPr/>
              </a:pPr>
              <a:t>2</a:t>
            </a:fld>
            <a:endParaRPr lang="en-US" altLang="zh-CN" sz="1400">
              <a:ea typeface="宋体" panose="02010600030101010101" pitchFamily="2" charset="-122"/>
            </a:endParaRPr>
          </a:p>
        </p:txBody>
      </p:sp>
      <p:sp>
        <p:nvSpPr>
          <p:cNvPr id="5" name="文本框 4">
            <a:extLst>
              <a:ext uri="{FF2B5EF4-FFF2-40B4-BE49-F238E27FC236}">
                <a16:creationId xmlns:a16="http://schemas.microsoft.com/office/drawing/2014/main" id="{C473CBC0-E707-3EE2-0D34-7738130F27A1}"/>
              </a:ext>
            </a:extLst>
          </p:cNvPr>
          <p:cNvSpPr txBox="1"/>
          <p:nvPr/>
        </p:nvSpPr>
        <p:spPr>
          <a:xfrm>
            <a:off x="762000" y="2133600"/>
            <a:ext cx="7391400" cy="830997"/>
          </a:xfrm>
          <a:prstGeom prst="rect">
            <a:avLst/>
          </a:prstGeom>
          <a:noFill/>
        </p:spPr>
        <p:txBody>
          <a:bodyPr>
            <a:spAutoFit/>
          </a:bodyPr>
          <a:lstStyle/>
          <a:p>
            <a:pPr>
              <a:defRPr/>
            </a:pPr>
            <a:r>
              <a:rPr lang="zh-CN" altLang="en-US" sz="4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a:t>
            </a:r>
            <a:r>
              <a:rPr lang="en-US" altLang="zh-CN" sz="4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zh-CN" altLang="en-US" sz="4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章：决策树</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t>基本流程</a:t>
            </a:r>
            <a:endParaRPr lang="en-US" altLang="zh-CN" dirty="0"/>
          </a:p>
          <a:p>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extLst>
      <p:ext uri="{BB962C8B-B14F-4D97-AF65-F5344CB8AC3E}">
        <p14:creationId xmlns:p14="http://schemas.microsoft.com/office/powerpoint/2010/main" val="184100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基本流程</a:t>
            </a:r>
          </a:p>
        </p:txBody>
      </p:sp>
      <p:sp>
        <p:nvSpPr>
          <p:cNvPr id="3" name="文本占位符 2"/>
          <p:cNvSpPr>
            <a:spLocks noGrp="1"/>
          </p:cNvSpPr>
          <p:nvPr>
            <p:ph type="body" sz="quarter" idx="13"/>
          </p:nvPr>
        </p:nvSpPr>
        <p:spPr/>
        <p:txBody>
          <a:bodyPr>
            <a:normAutofit lnSpcReduction="10000"/>
          </a:bodyPr>
          <a:lstStyle/>
          <a:p>
            <a:r>
              <a:rPr lang="zh-CN" altLang="en-US" dirty="0"/>
              <a:t>决策树基于树结构</a:t>
            </a:r>
            <a:r>
              <a:rPr lang="zh-CN" altLang="en-US"/>
              <a:t>来进行决策（预测）</a:t>
            </a:r>
            <a:endParaRPr lang="zh-CN" altLang="en-US" dirty="0"/>
          </a:p>
        </p:txBody>
      </p:sp>
      <p:sp>
        <p:nvSpPr>
          <p:cNvPr id="5" name="圆角矩形 4"/>
          <p:cNvSpPr/>
          <p:nvPr/>
        </p:nvSpPr>
        <p:spPr>
          <a:xfrm>
            <a:off x="4196055" y="1822016"/>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6" name="圆角矩形 5"/>
          <p:cNvSpPr/>
          <p:nvPr/>
        </p:nvSpPr>
        <p:spPr>
          <a:xfrm>
            <a:off x="3466040" y="2836135"/>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7" name="圆角矩形 6"/>
          <p:cNvSpPr/>
          <p:nvPr/>
        </p:nvSpPr>
        <p:spPr>
          <a:xfrm>
            <a:off x="2736025" y="385025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敲声</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8" name="椭圆 7"/>
          <p:cNvSpPr/>
          <p:nvPr/>
        </p:nvSpPr>
        <p:spPr>
          <a:xfrm>
            <a:off x="2006010" y="4864372"/>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9" name="直接连接符 8"/>
          <p:cNvCxnSpPr>
            <a:endCxn id="6" idx="0"/>
          </p:cNvCxnSpPr>
          <p:nvPr/>
        </p:nvCxnSpPr>
        <p:spPr>
          <a:xfrm flipH="1">
            <a:off x="4006040" y="2254016"/>
            <a:ext cx="540000" cy="582119"/>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a:endCxn id="7" idx="0"/>
          </p:cNvCxnSpPr>
          <p:nvPr/>
        </p:nvCxnSpPr>
        <p:spPr>
          <a:xfrm flipH="1">
            <a:off x="3276025" y="3268135"/>
            <a:ext cx="540000" cy="582119"/>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p:cNvCxnSpPr>
            <a:endCxn id="8" idx="0"/>
          </p:cNvCxnSpPr>
          <p:nvPr/>
        </p:nvCxnSpPr>
        <p:spPr>
          <a:xfrm flipH="1">
            <a:off x="2546010" y="4282254"/>
            <a:ext cx="540000" cy="582118"/>
          </a:xfrm>
          <a:prstGeom prst="line">
            <a:avLst/>
          </a:prstGeom>
        </p:spPr>
        <p:style>
          <a:lnRef idx="1">
            <a:schemeClr val="dk1"/>
          </a:lnRef>
          <a:fillRef idx="0">
            <a:schemeClr val="dk1"/>
          </a:fillRef>
          <a:effectRef idx="0">
            <a:schemeClr val="dk1"/>
          </a:effectRef>
          <a:fontRef idx="minor">
            <a:schemeClr val="tx1"/>
          </a:fontRef>
        </p:style>
      </p:cxnSp>
      <p:sp>
        <p:nvSpPr>
          <p:cNvPr id="12" name="文本框 19"/>
          <p:cNvSpPr txBox="1"/>
          <p:nvPr/>
        </p:nvSpPr>
        <p:spPr>
          <a:xfrm>
            <a:off x="3549724" y="2281957"/>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13" name="文本框 20"/>
          <p:cNvSpPr txBox="1"/>
          <p:nvPr/>
        </p:nvSpPr>
        <p:spPr>
          <a:xfrm>
            <a:off x="2899694" y="3299469"/>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sp>
        <p:nvSpPr>
          <p:cNvPr id="14" name="文本框 21"/>
          <p:cNvSpPr txBox="1"/>
          <p:nvPr/>
        </p:nvSpPr>
        <p:spPr>
          <a:xfrm>
            <a:off x="2169679" y="4358863"/>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浊响</a:t>
            </a:r>
          </a:p>
        </p:txBody>
      </p:sp>
      <p:cxnSp>
        <p:nvCxnSpPr>
          <p:cNvPr id="15" name="直接连接符 14"/>
          <p:cNvCxnSpPr/>
          <p:nvPr/>
        </p:nvCxnSpPr>
        <p:spPr>
          <a:xfrm>
            <a:off x="4951556" y="2254016"/>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16" name="文本框 25"/>
          <p:cNvSpPr txBox="1"/>
          <p:nvPr/>
        </p:nvSpPr>
        <p:spPr>
          <a:xfrm>
            <a:off x="5244253" y="2726056"/>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17" name="文本框 26"/>
          <p:cNvSpPr txBox="1"/>
          <p:nvPr/>
        </p:nvSpPr>
        <p:spPr>
          <a:xfrm>
            <a:off x="5359668" y="2189624"/>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cxnSp>
        <p:nvCxnSpPr>
          <p:cNvPr id="18" name="直接连接符 17"/>
          <p:cNvCxnSpPr/>
          <p:nvPr/>
        </p:nvCxnSpPr>
        <p:spPr>
          <a:xfrm>
            <a:off x="4186741" y="3273240"/>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19" name="文本框 28"/>
          <p:cNvSpPr txBox="1"/>
          <p:nvPr/>
        </p:nvSpPr>
        <p:spPr>
          <a:xfrm>
            <a:off x="4479438" y="3745280"/>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0" name="文本框 29"/>
          <p:cNvSpPr txBox="1"/>
          <p:nvPr/>
        </p:nvSpPr>
        <p:spPr>
          <a:xfrm>
            <a:off x="4594853" y="3208848"/>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cxnSp>
        <p:nvCxnSpPr>
          <p:cNvPr id="21" name="直接连接符 20"/>
          <p:cNvCxnSpPr/>
          <p:nvPr/>
        </p:nvCxnSpPr>
        <p:spPr>
          <a:xfrm>
            <a:off x="3453285" y="4289691"/>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22" name="文本框 31"/>
          <p:cNvSpPr txBox="1"/>
          <p:nvPr/>
        </p:nvSpPr>
        <p:spPr>
          <a:xfrm>
            <a:off x="3745982" y="4761731"/>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3" name="文本框 32"/>
          <p:cNvSpPr txBox="1"/>
          <p:nvPr/>
        </p:nvSpPr>
        <p:spPr>
          <a:xfrm>
            <a:off x="3861397" y="4225299"/>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Tree>
    <p:extLst>
      <p:ext uri="{BB962C8B-B14F-4D97-AF65-F5344CB8AC3E}">
        <p14:creationId xmlns:p14="http://schemas.microsoft.com/office/powerpoint/2010/main" val="3929422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基本流程</a:t>
            </a:r>
          </a:p>
        </p:txBody>
      </p:sp>
      <p:sp>
        <p:nvSpPr>
          <p:cNvPr id="3" name="内容占位符 2"/>
          <p:cNvSpPr>
            <a:spLocks noGrp="1"/>
          </p:cNvSpPr>
          <p:nvPr>
            <p:ph idx="1"/>
          </p:nvPr>
        </p:nvSpPr>
        <p:spPr>
          <a:xfrm>
            <a:off x="260350" y="1008224"/>
            <a:ext cx="8457765" cy="4930775"/>
          </a:xfrm>
        </p:spPr>
        <p:txBody>
          <a:bodyPr/>
          <a:lstStyle/>
          <a:p>
            <a:r>
              <a:rPr lang="zh-CN" altLang="en-US" sz="2100" dirty="0"/>
              <a:t>决策过程的最终结论对应了我们所希望的判定结果</a:t>
            </a:r>
            <a:endParaRPr lang="en-US" altLang="zh-CN" sz="2100" dirty="0"/>
          </a:p>
          <a:p>
            <a:pPr marL="0" indent="0">
              <a:lnSpc>
                <a:spcPct val="10000"/>
              </a:lnSpc>
              <a:buNone/>
            </a:pPr>
            <a:endParaRPr lang="en-US" altLang="zh-CN" sz="2100" dirty="0"/>
          </a:p>
          <a:p>
            <a:r>
              <a:rPr lang="zh-CN" altLang="en-US" sz="2100" dirty="0"/>
              <a:t>决策过程中提出的每个判定问题都是对某个属性的“测试”</a:t>
            </a:r>
            <a:endParaRPr lang="en-US" altLang="zh-CN" sz="2100" dirty="0"/>
          </a:p>
          <a:p>
            <a:pPr marL="0" indent="0">
              <a:lnSpc>
                <a:spcPct val="10000"/>
              </a:lnSpc>
              <a:buNone/>
            </a:pPr>
            <a:endParaRPr lang="zh-CN" altLang="en-US" sz="2100" dirty="0"/>
          </a:p>
          <a:p>
            <a:pPr>
              <a:lnSpc>
                <a:spcPct val="120000"/>
              </a:lnSpc>
            </a:pPr>
            <a:r>
              <a:rPr lang="zh-CN" altLang="en-US" sz="2100" dirty="0"/>
              <a:t>每个测试的结果或是导出最终结论，或者导出进一步的判定问题，其考虑范围是在上次决策结果的限定范围之内</a:t>
            </a:r>
            <a:endParaRPr lang="en-US" altLang="zh-CN" sz="2100" dirty="0"/>
          </a:p>
          <a:p>
            <a:pPr>
              <a:lnSpc>
                <a:spcPct val="10000"/>
              </a:lnSpc>
            </a:pPr>
            <a:endParaRPr lang="en-US" altLang="zh-CN" sz="2100" dirty="0"/>
          </a:p>
          <a:p>
            <a:pPr>
              <a:lnSpc>
                <a:spcPct val="120000"/>
              </a:lnSpc>
            </a:pPr>
            <a:r>
              <a:rPr lang="zh-CN" altLang="en-US" sz="2100" dirty="0"/>
              <a:t>一棵决策树包含一个根结点（包含样本全集）、若干个内部结点和若干个叶结点；叶结点对应于决策结果，其他每个结点对应于一个属性测试。每个结点包含的样本集合根据属性测试结果被划分到子结点</a:t>
            </a:r>
            <a:endParaRPr lang="en-US" altLang="zh-CN" sz="2100" dirty="0"/>
          </a:p>
          <a:p>
            <a:pPr>
              <a:lnSpc>
                <a:spcPct val="10000"/>
              </a:lnSpc>
            </a:pPr>
            <a:endParaRPr lang="en-US" altLang="zh-CN" sz="2100" dirty="0"/>
          </a:p>
          <a:p>
            <a:r>
              <a:rPr lang="zh-CN" altLang="en-US" sz="2100" dirty="0"/>
              <a:t>从根结点到每个叶结点的路径对应了一个判定测试序列</a:t>
            </a:r>
            <a:endParaRPr lang="en-US" altLang="zh-CN" sz="2100" dirty="0"/>
          </a:p>
          <a:p>
            <a:pPr marL="0" indent="0">
              <a:buNone/>
            </a:pPr>
            <a:endParaRPr lang="en-US" altLang="zh-CN" dirty="0"/>
          </a:p>
          <a:p>
            <a:pPr marL="0" indent="0">
              <a:buNone/>
            </a:pPr>
            <a:endParaRPr lang="en-US" altLang="zh-CN" dirty="0"/>
          </a:p>
          <a:p>
            <a:pPr marL="0" indent="0">
              <a:buNone/>
            </a:pPr>
            <a:endParaRPr lang="zh-CN" altLang="en-US" dirty="0"/>
          </a:p>
        </p:txBody>
      </p:sp>
      <p:sp>
        <p:nvSpPr>
          <p:cNvPr id="5" name="Rectangle 3"/>
          <p:cNvSpPr>
            <a:spLocks noChangeArrowheads="1"/>
          </p:cNvSpPr>
          <p:nvPr/>
        </p:nvSpPr>
        <p:spPr bwMode="auto">
          <a:xfrm>
            <a:off x="1438956" y="5154549"/>
            <a:ext cx="6266087" cy="1071672"/>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nSpc>
                <a:spcPts val="3600"/>
              </a:lnSpc>
              <a:buNone/>
            </a:pPr>
            <a:r>
              <a:rPr lang="zh-CN" altLang="en-US" sz="2200" dirty="0">
                <a:latin typeface="幼圆" panose="02010509060101010101" pitchFamily="49" charset="-122"/>
                <a:ea typeface="幼圆" panose="02010509060101010101" pitchFamily="49" charset="-122"/>
              </a:rPr>
              <a:t>决策树学习的目的是为了产生一棵</a:t>
            </a:r>
            <a:r>
              <a:rPr lang="zh-CN" altLang="en-US" sz="2200" dirty="0">
                <a:solidFill>
                  <a:srgbClr val="C00000"/>
                </a:solidFill>
                <a:latin typeface="幼圆" panose="02010509060101010101" pitchFamily="49" charset="-122"/>
                <a:ea typeface="幼圆" panose="02010509060101010101" pitchFamily="49" charset="-122"/>
              </a:rPr>
              <a:t>泛化能力强</a:t>
            </a:r>
            <a:r>
              <a:rPr lang="zh-CN" altLang="en-US" sz="2200" dirty="0">
                <a:latin typeface="幼圆" panose="02010509060101010101" pitchFamily="49" charset="-122"/>
                <a:ea typeface="幼圆" panose="02010509060101010101" pitchFamily="49" charset="-122"/>
              </a:rPr>
              <a:t>，即</a:t>
            </a:r>
            <a:r>
              <a:rPr lang="zh-CN" altLang="en-US" sz="2200" dirty="0">
                <a:solidFill>
                  <a:srgbClr val="C00000"/>
                </a:solidFill>
                <a:latin typeface="幼圆" panose="02010509060101010101" pitchFamily="49" charset="-122"/>
                <a:ea typeface="幼圆" panose="02010509060101010101" pitchFamily="49" charset="-122"/>
              </a:rPr>
              <a:t>处理未见示例能力强的决策树</a:t>
            </a:r>
          </a:p>
          <a:p>
            <a:pPr marL="0" indent="0">
              <a:lnSpc>
                <a:spcPts val="3200"/>
              </a:lnSpc>
              <a:buNone/>
            </a:pPr>
            <a:endParaRPr lang="zh-CN" altLang="en-US" sz="2200" i="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297084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基本流程</a:t>
            </a:r>
          </a:p>
        </p:txBody>
      </p:sp>
      <p:pic>
        <p:nvPicPr>
          <p:cNvPr id="4" name="Picture 7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699" y="1099374"/>
            <a:ext cx="5464278" cy="4940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27125" y="2704563"/>
            <a:ext cx="4636546" cy="25757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27125" y="3312819"/>
            <a:ext cx="4636546" cy="25757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12098" y="4662958"/>
            <a:ext cx="4636546" cy="25757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743977" y="3105834"/>
            <a:ext cx="2710314" cy="646331"/>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mj-ea"/>
              </a:rPr>
              <a:t>（</a:t>
            </a:r>
            <a:r>
              <a:rPr lang="en-US" altLang="zh-CN" b="1" dirty="0">
                <a:solidFill>
                  <a:schemeClr val="accent1"/>
                </a:solidFill>
                <a:latin typeface="+mj-ea"/>
              </a:rPr>
              <a:t>1</a:t>
            </a:r>
            <a:r>
              <a:rPr lang="zh-CN" altLang="en-US" b="1" dirty="0">
                <a:solidFill>
                  <a:schemeClr val="accent1"/>
                </a:solidFill>
                <a:latin typeface="+mj-ea"/>
              </a:rPr>
              <a:t>）当前结点</a:t>
            </a:r>
            <a:r>
              <a:rPr lang="zh-CN" altLang="en-US" b="1" dirty="0">
                <a:solidFill>
                  <a:schemeClr val="accent1"/>
                </a:solidFill>
                <a:latin typeface="+mj-ea"/>
                <a:ea typeface="+mj-ea"/>
              </a:rPr>
              <a:t>包含的样本全部属于同一类别</a:t>
            </a:r>
          </a:p>
        </p:txBody>
      </p:sp>
      <p:sp>
        <p:nvSpPr>
          <p:cNvPr id="15" name="矩形 14"/>
          <p:cNvSpPr/>
          <p:nvPr/>
        </p:nvSpPr>
        <p:spPr>
          <a:xfrm>
            <a:off x="5743977" y="3923131"/>
            <a:ext cx="2811395" cy="92333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mj-ea"/>
              </a:rPr>
              <a:t>（</a:t>
            </a:r>
            <a:r>
              <a:rPr lang="en-US" altLang="zh-CN" b="1" dirty="0">
                <a:solidFill>
                  <a:schemeClr val="accent1"/>
                </a:solidFill>
                <a:latin typeface="+mj-ea"/>
              </a:rPr>
              <a:t>2</a:t>
            </a:r>
            <a:r>
              <a:rPr lang="zh-CN" altLang="en-US" b="1" dirty="0">
                <a:solidFill>
                  <a:schemeClr val="accent1"/>
                </a:solidFill>
                <a:latin typeface="+mj-ea"/>
              </a:rPr>
              <a:t>）当前属性集为空，或所有样本在所有属性上取值相同</a:t>
            </a:r>
            <a:endParaRPr lang="zh-CN" altLang="en-US" b="1" dirty="0">
              <a:solidFill>
                <a:schemeClr val="accent1"/>
              </a:solidFill>
              <a:latin typeface="+mj-ea"/>
              <a:ea typeface="+mj-ea"/>
            </a:endParaRPr>
          </a:p>
        </p:txBody>
      </p:sp>
      <p:sp>
        <p:nvSpPr>
          <p:cNvPr id="16" name="矩形 15"/>
          <p:cNvSpPr/>
          <p:nvPr/>
        </p:nvSpPr>
        <p:spPr>
          <a:xfrm>
            <a:off x="5803009" y="5017427"/>
            <a:ext cx="2451079" cy="646331"/>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mj-ea"/>
              </a:rPr>
              <a:t>（</a:t>
            </a:r>
            <a:r>
              <a:rPr lang="en-US" altLang="zh-CN" b="1" dirty="0">
                <a:solidFill>
                  <a:schemeClr val="accent1"/>
                </a:solidFill>
                <a:latin typeface="+mj-ea"/>
              </a:rPr>
              <a:t>3</a:t>
            </a:r>
            <a:r>
              <a:rPr lang="zh-CN" altLang="en-US" b="1" dirty="0">
                <a:solidFill>
                  <a:schemeClr val="accent1"/>
                </a:solidFill>
                <a:latin typeface="+mj-ea"/>
              </a:rPr>
              <a:t>）当前结点包含的样本集合为空</a:t>
            </a:r>
            <a:endParaRPr lang="zh-CN" altLang="en-US" b="1" dirty="0">
              <a:solidFill>
                <a:schemeClr val="accent1"/>
              </a:solidFill>
              <a:latin typeface="+mj-ea"/>
              <a:ea typeface="+mj-ea"/>
            </a:endParaRPr>
          </a:p>
        </p:txBody>
      </p:sp>
      <p:sp>
        <p:nvSpPr>
          <p:cNvPr id="14" name="内容占位符 2">
            <a:extLst>
              <a:ext uri="{FF2B5EF4-FFF2-40B4-BE49-F238E27FC236}">
                <a16:creationId xmlns:a16="http://schemas.microsoft.com/office/drawing/2014/main" id="{8A8C4B77-F22E-196B-935E-283C4DFBD4B0}"/>
              </a:ext>
            </a:extLst>
          </p:cNvPr>
          <p:cNvSpPr>
            <a:spLocks noGrp="1"/>
          </p:cNvSpPr>
          <p:nvPr>
            <p:ph idx="1"/>
          </p:nvPr>
        </p:nvSpPr>
        <p:spPr>
          <a:xfrm>
            <a:off x="5620785" y="1353942"/>
            <a:ext cx="3057778" cy="1751892"/>
          </a:xfrm>
        </p:spPr>
        <p:txBody>
          <a:bodyPr>
            <a:normAutofit/>
          </a:bodyPr>
          <a:lstStyle/>
          <a:p>
            <a:pPr>
              <a:lnSpc>
                <a:spcPct val="120000"/>
              </a:lnSpc>
            </a:pPr>
            <a:r>
              <a:rPr lang="zh-CN" altLang="en-US" sz="2100"/>
              <a:t>决策树的生成是一个递归过程，在其基本算法中，有以下三种情形会导致递归返回：</a:t>
            </a: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264835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3"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endParaRPr lang="en-US" altLang="zh-CN" dirty="0"/>
          </a:p>
          <a:p>
            <a:r>
              <a:rPr lang="zh-CN" altLang="en-US" dirty="0"/>
              <a:t>划分选择</a:t>
            </a:r>
            <a:endParaRPr lang="en-US" altLang="zh-CN" dirty="0"/>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extLst>
      <p:ext uri="{BB962C8B-B14F-4D97-AF65-F5344CB8AC3E}">
        <p14:creationId xmlns:p14="http://schemas.microsoft.com/office/powerpoint/2010/main" val="3889263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p>
        </p:txBody>
      </p:sp>
      <p:sp>
        <p:nvSpPr>
          <p:cNvPr id="3" name="内容占位符 2"/>
          <p:cNvSpPr>
            <a:spLocks noGrp="1"/>
          </p:cNvSpPr>
          <p:nvPr>
            <p:ph idx="1"/>
          </p:nvPr>
        </p:nvSpPr>
        <p:spPr>
          <a:xfrm>
            <a:off x="260350" y="1158536"/>
            <a:ext cx="8359948" cy="5192388"/>
          </a:xfrm>
        </p:spPr>
        <p:txBody>
          <a:bodyPr/>
          <a:lstStyle/>
          <a:p>
            <a:pPr>
              <a:lnSpc>
                <a:spcPct val="130000"/>
              </a:lnSpc>
            </a:pPr>
            <a:r>
              <a:rPr lang="zh-CN" altLang="en-US" dirty="0"/>
              <a:t>决策树学习的关键在于</a:t>
            </a:r>
            <a:r>
              <a:rPr lang="zh-CN" altLang="en-US" dirty="0">
                <a:solidFill>
                  <a:srgbClr val="C00000"/>
                </a:solidFill>
              </a:rPr>
              <a:t>如何选择最优划分属性（算法中第</a:t>
            </a:r>
            <a:r>
              <a:rPr lang="en-US" altLang="zh-CN" dirty="0">
                <a:solidFill>
                  <a:srgbClr val="C00000"/>
                </a:solidFill>
              </a:rPr>
              <a:t>8</a:t>
            </a:r>
            <a:r>
              <a:rPr lang="zh-CN" altLang="en-US" dirty="0">
                <a:solidFill>
                  <a:srgbClr val="C00000"/>
                </a:solidFill>
              </a:rPr>
              <a:t>步）</a:t>
            </a:r>
            <a:r>
              <a:rPr lang="zh-CN" altLang="en-US" dirty="0"/>
              <a:t>。一般而言，随着划分过程不断进行，我们希望决策树的分支结点所包含的样本</a:t>
            </a:r>
            <a:r>
              <a:rPr lang="zh-CN" altLang="en-US" dirty="0">
                <a:solidFill>
                  <a:srgbClr val="C00000"/>
                </a:solidFill>
              </a:rPr>
              <a:t>尽可能属于同一类别，即结点的“纯度”</a:t>
            </a:r>
            <a:r>
              <a:rPr lang="en-US" altLang="zh-CN" dirty="0">
                <a:solidFill>
                  <a:srgbClr val="C00000"/>
                </a:solidFill>
              </a:rPr>
              <a:t>(purity)</a:t>
            </a:r>
            <a:r>
              <a:rPr lang="zh-CN" altLang="en-US" dirty="0">
                <a:solidFill>
                  <a:srgbClr val="C00000"/>
                </a:solidFill>
              </a:rPr>
              <a:t>越来越高</a:t>
            </a:r>
            <a:endParaRPr lang="en-US" altLang="zh-CN" dirty="0"/>
          </a:p>
          <a:p>
            <a:pPr marL="0" indent="0">
              <a:buNone/>
            </a:pPr>
            <a:endParaRPr lang="en-US" altLang="zh-CN" dirty="0"/>
          </a:p>
          <a:p>
            <a:r>
              <a:rPr lang="zh-CN" altLang="en-US" dirty="0"/>
              <a:t>经典的属性划分方法：</a:t>
            </a:r>
            <a:endParaRPr lang="en-US" altLang="zh-CN" dirty="0"/>
          </a:p>
          <a:p>
            <a:pPr>
              <a:lnSpc>
                <a:spcPct val="10000"/>
              </a:lnSpc>
            </a:pPr>
            <a:endParaRPr lang="en-US" altLang="zh-CN" dirty="0"/>
          </a:p>
          <a:p>
            <a:pPr lvl="1"/>
            <a:r>
              <a:rPr lang="zh-CN" altLang="en-US" dirty="0"/>
              <a:t>信息增益</a:t>
            </a:r>
            <a:endParaRPr lang="en-US" altLang="zh-CN" dirty="0"/>
          </a:p>
          <a:p>
            <a:pPr lvl="1">
              <a:lnSpc>
                <a:spcPts val="200"/>
              </a:lnSpc>
            </a:pPr>
            <a:endParaRPr lang="en-US" altLang="zh-CN" dirty="0"/>
          </a:p>
          <a:p>
            <a:pPr lvl="1"/>
            <a:r>
              <a:rPr lang="zh-CN" altLang="en-US" dirty="0"/>
              <a:t>增益率</a:t>
            </a:r>
            <a:endParaRPr lang="en-US" altLang="zh-CN" dirty="0"/>
          </a:p>
          <a:p>
            <a:pPr lvl="1">
              <a:lnSpc>
                <a:spcPts val="200"/>
              </a:lnSpc>
            </a:pPr>
            <a:endParaRPr lang="en-US" altLang="zh-CN" dirty="0"/>
          </a:p>
          <a:p>
            <a:pPr lvl="1"/>
            <a:r>
              <a:rPr lang="zh-CN" altLang="en-US" dirty="0"/>
              <a:t>基尼指数</a:t>
            </a:r>
            <a:endParaRPr lang="en-US" altLang="zh-CN" dirty="0"/>
          </a:p>
          <a:p>
            <a:pPr lvl="1"/>
            <a:endParaRPr lang="zh-CN" altLang="en-US" dirty="0"/>
          </a:p>
        </p:txBody>
      </p:sp>
    </p:spTree>
    <p:extLst>
      <p:ext uri="{BB962C8B-B14F-4D97-AF65-F5344CB8AC3E}">
        <p14:creationId xmlns:p14="http://schemas.microsoft.com/office/powerpoint/2010/main" val="222263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350" y="120137"/>
            <a:ext cx="7886700" cy="777874"/>
          </a:xfrm>
        </p:spPr>
        <p:txBody>
          <a:bodyPr/>
          <a:lstStyle/>
          <a:p>
            <a:r>
              <a:rPr lang="zh-CN" altLang="en-US" dirty="0"/>
              <a:t>划分选择</a:t>
            </a:r>
            <a:r>
              <a:rPr lang="en-US" altLang="zh-CN" dirty="0"/>
              <a:t>-</a:t>
            </a:r>
            <a:r>
              <a:rPr lang="zh-CN" altLang="en-US" dirty="0"/>
              <a:t>信息增益</a:t>
            </a:r>
          </a:p>
        </p:txBody>
      </p:sp>
      <p:sp>
        <p:nvSpPr>
          <p:cNvPr id="5" name="内容占位符 4"/>
          <p:cNvSpPr>
            <a:spLocks noGrp="1"/>
          </p:cNvSpPr>
          <p:nvPr>
            <p:ph idx="1"/>
          </p:nvPr>
        </p:nvSpPr>
        <p:spPr/>
        <p:txBody>
          <a:bodyPr/>
          <a:lstStyle/>
          <a:p>
            <a:pPr>
              <a:lnSpc>
                <a:spcPct val="130000"/>
              </a:lnSpc>
            </a:pPr>
            <a:r>
              <a:rPr lang="zh-CN" altLang="en-US" dirty="0"/>
              <a:t>“</a:t>
            </a:r>
            <a:r>
              <a:rPr lang="zh-CN" altLang="en-US" dirty="0">
                <a:solidFill>
                  <a:srgbClr val="C00000"/>
                </a:solidFill>
              </a:rPr>
              <a:t>信息熵</a:t>
            </a:r>
            <a:r>
              <a:rPr lang="zh-CN" altLang="en-US" dirty="0"/>
              <a:t>”是</a:t>
            </a:r>
            <a:r>
              <a:rPr lang="zh-CN" altLang="en-US" dirty="0">
                <a:solidFill>
                  <a:srgbClr val="C00000"/>
                </a:solidFill>
              </a:rPr>
              <a:t>度量样本集合纯度最常用的一种指标</a:t>
            </a:r>
            <a:r>
              <a:rPr lang="zh-CN" altLang="en-US" dirty="0"/>
              <a:t>，假定当前样本集合</a:t>
            </a:r>
            <a:r>
              <a:rPr lang="en-US" altLang="zh-CN" dirty="0"/>
              <a:t>  </a:t>
            </a:r>
            <a:r>
              <a:rPr lang="zh-CN" altLang="en-US" dirty="0"/>
              <a:t>中第</a:t>
            </a:r>
            <a:r>
              <a:rPr lang="en-US" altLang="zh-CN" dirty="0"/>
              <a:t>  </a:t>
            </a:r>
            <a:r>
              <a:rPr lang="zh-CN" altLang="en-US" dirty="0"/>
              <a:t>类样本所占的比例为   </a:t>
            </a:r>
            <a:r>
              <a:rPr lang="en-US" altLang="zh-CN" dirty="0"/>
              <a:t>                     </a:t>
            </a:r>
            <a:r>
              <a:rPr lang="zh-CN" altLang="en-US" dirty="0"/>
              <a:t>，则</a:t>
            </a:r>
            <a:r>
              <a:rPr lang="en-US" altLang="zh-CN" dirty="0"/>
              <a:t>  </a:t>
            </a:r>
            <a:r>
              <a:rPr lang="zh-CN" altLang="en-US" dirty="0"/>
              <a:t>的信息熵定义为</a:t>
            </a:r>
            <a:endParaRPr lang="en-US" altLang="zh-CN" dirty="0"/>
          </a:p>
          <a:p>
            <a:pPr marL="0" indent="0">
              <a:buNone/>
            </a:pPr>
            <a:endParaRPr lang="en-US" altLang="zh-CN" dirty="0"/>
          </a:p>
          <a:p>
            <a:endParaRPr lang="en-US" altLang="zh-CN" dirty="0"/>
          </a:p>
          <a:p>
            <a:endParaRPr lang="en-US" altLang="zh-CN" dirty="0"/>
          </a:p>
          <a:p>
            <a:pPr marL="0" indent="0">
              <a:buNone/>
            </a:pPr>
            <a:r>
              <a:rPr lang="zh-CN" altLang="en-US" dirty="0"/>
              <a:t>           的值越小，则  的纯度越高</a:t>
            </a:r>
            <a:endParaRPr lang="en-US" altLang="zh-CN" dirty="0"/>
          </a:p>
          <a:p>
            <a:pPr marL="0" indent="0">
              <a:lnSpc>
                <a:spcPct val="20000"/>
              </a:lnSpc>
              <a:buNone/>
            </a:pPr>
            <a:endParaRPr lang="en-US" altLang="zh-CN" dirty="0"/>
          </a:p>
          <a:p>
            <a:r>
              <a:rPr lang="zh-CN" altLang="en-US" dirty="0"/>
              <a:t>计算信息熵时约定：若        ，则</a:t>
            </a:r>
            <a:endParaRPr lang="en-US" altLang="zh-CN" dirty="0"/>
          </a:p>
          <a:p>
            <a:pPr>
              <a:lnSpc>
                <a:spcPts val="400"/>
              </a:lnSpc>
            </a:pPr>
            <a:endParaRPr lang="en-US" altLang="zh-CN" dirty="0"/>
          </a:p>
          <a:p>
            <a:r>
              <a:rPr lang="en-US" altLang="zh-CN" dirty="0"/>
              <a:t>         </a:t>
            </a:r>
            <a:r>
              <a:rPr lang="zh-CN" altLang="en-US" dirty="0"/>
              <a:t>的最小值为</a:t>
            </a:r>
            <a:r>
              <a:rPr lang="en-US" altLang="zh-CN" dirty="0"/>
              <a:t>  </a:t>
            </a:r>
            <a:r>
              <a:rPr lang="zh-CN" altLang="en-US" dirty="0"/>
              <a:t>，最大值为</a:t>
            </a:r>
            <a:endParaRPr lang="en-US" altLang="zh-CN" dirty="0"/>
          </a:p>
          <a:p>
            <a:pPr marL="0" indent="0">
              <a:buNone/>
            </a:pPr>
            <a:endParaRPr lang="en-US" altLang="zh-CN" dirty="0"/>
          </a:p>
          <a:p>
            <a:endParaRPr lang="en-US" altLang="zh-CN" dirty="0"/>
          </a:p>
        </p:txBody>
      </p:sp>
      <p:graphicFrame>
        <p:nvGraphicFramePr>
          <p:cNvPr id="6" name="内容占位符 3"/>
          <p:cNvGraphicFramePr>
            <a:graphicFrameLocks noChangeAspect="1"/>
          </p:cNvGraphicFramePr>
          <p:nvPr>
            <p:extLst>
              <p:ext uri="{D42A27DB-BD31-4B8C-83A1-F6EECF244321}">
                <p14:modId xmlns:p14="http://schemas.microsoft.com/office/powerpoint/2010/main" val="278311269"/>
              </p:ext>
            </p:extLst>
          </p:nvPr>
        </p:nvGraphicFramePr>
        <p:xfrm>
          <a:off x="2547938" y="2409513"/>
          <a:ext cx="3432175" cy="1003300"/>
        </p:xfrm>
        <a:graphic>
          <a:graphicData uri="http://schemas.openxmlformats.org/presentationml/2006/ole">
            <mc:AlternateContent xmlns:mc="http://schemas.openxmlformats.org/markup-compatibility/2006">
              <mc:Choice xmlns:v="urn:schemas-microsoft-com:vml" Requires="v">
                <p:oleObj name="Formula" r:id="rId2" imgW="1644840" imgH="480240" progId="Equation.Ribbit">
                  <p:embed/>
                </p:oleObj>
              </mc:Choice>
              <mc:Fallback>
                <p:oleObj name="Formula" r:id="rId2" imgW="1644840" imgH="480240" progId="Equation.Ribbit">
                  <p:embed/>
                  <p:pic>
                    <p:nvPicPr>
                      <p:cNvPr id="6" name="内容占位符 3"/>
                      <p:cNvPicPr/>
                      <p:nvPr/>
                    </p:nvPicPr>
                    <p:blipFill>
                      <a:blip r:embed="rId3"/>
                      <a:stretch>
                        <a:fillRect/>
                      </a:stretch>
                    </p:blipFill>
                    <p:spPr>
                      <a:xfrm>
                        <a:off x="2547938" y="2409513"/>
                        <a:ext cx="3432175" cy="10033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73804654"/>
              </p:ext>
            </p:extLst>
          </p:nvPr>
        </p:nvGraphicFramePr>
        <p:xfrm>
          <a:off x="4865688" y="4538228"/>
          <a:ext cx="1427162" cy="330200"/>
        </p:xfrm>
        <a:graphic>
          <a:graphicData uri="http://schemas.openxmlformats.org/presentationml/2006/ole">
            <mc:AlternateContent xmlns:mc="http://schemas.openxmlformats.org/markup-compatibility/2006">
              <mc:Choice xmlns:v="urn:schemas-microsoft-com:vml" Requires="v">
                <p:oleObj name="Formula" r:id="rId4" imgW="735480" imgH="169200" progId="Equation.Ribbit">
                  <p:embed/>
                </p:oleObj>
              </mc:Choice>
              <mc:Fallback>
                <p:oleObj name="Formula" r:id="rId4" imgW="735480" imgH="169200" progId="Equation.Ribbit">
                  <p:embed/>
                  <p:pic>
                    <p:nvPicPr>
                      <p:cNvPr id="8" name="对象 7"/>
                      <p:cNvPicPr/>
                      <p:nvPr/>
                    </p:nvPicPr>
                    <p:blipFill>
                      <a:blip r:embed="rId5"/>
                      <a:stretch>
                        <a:fillRect/>
                      </a:stretch>
                    </p:blipFill>
                    <p:spPr>
                      <a:xfrm>
                        <a:off x="4865688" y="4538228"/>
                        <a:ext cx="1427162" cy="3302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799382707"/>
              </p:ext>
            </p:extLst>
          </p:nvPr>
        </p:nvGraphicFramePr>
        <p:xfrm>
          <a:off x="3600450" y="4565217"/>
          <a:ext cx="663575" cy="303212"/>
        </p:xfrm>
        <a:graphic>
          <a:graphicData uri="http://schemas.openxmlformats.org/presentationml/2006/ole">
            <mc:AlternateContent xmlns:mc="http://schemas.openxmlformats.org/markup-compatibility/2006">
              <mc:Choice xmlns:v="urn:schemas-microsoft-com:vml" Requires="v">
                <p:oleObj name="Formula" r:id="rId6" imgW="360720" imgH="165240" progId="Equation.Ribbit">
                  <p:embed/>
                </p:oleObj>
              </mc:Choice>
              <mc:Fallback>
                <p:oleObj name="Formula" r:id="rId6" imgW="360720" imgH="165240" progId="Equation.Ribbit">
                  <p:embed/>
                  <p:pic>
                    <p:nvPicPr>
                      <p:cNvPr id="9" name="对象 8"/>
                      <p:cNvPicPr/>
                      <p:nvPr/>
                    </p:nvPicPr>
                    <p:blipFill>
                      <a:blip r:embed="rId7"/>
                      <a:stretch>
                        <a:fillRect/>
                      </a:stretch>
                    </p:blipFill>
                    <p:spPr>
                      <a:xfrm>
                        <a:off x="3600450" y="4565217"/>
                        <a:ext cx="663575" cy="303212"/>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623034586"/>
              </p:ext>
            </p:extLst>
          </p:nvPr>
        </p:nvGraphicFramePr>
        <p:xfrm>
          <a:off x="4578350" y="5155797"/>
          <a:ext cx="755650" cy="306388"/>
        </p:xfrm>
        <a:graphic>
          <a:graphicData uri="http://schemas.openxmlformats.org/presentationml/2006/ole">
            <mc:AlternateContent xmlns:mc="http://schemas.openxmlformats.org/markup-compatibility/2006">
              <mc:Choice xmlns:v="urn:schemas-microsoft-com:vml" Requires="v">
                <p:oleObj name="Formula" r:id="rId8" imgW="438480" imgH="177840" progId="Equation.Ribbit">
                  <p:embed/>
                </p:oleObj>
              </mc:Choice>
              <mc:Fallback>
                <p:oleObj name="Formula" r:id="rId8" imgW="438480" imgH="177840" progId="Equation.Ribbit">
                  <p:embed/>
                  <p:pic>
                    <p:nvPicPr>
                      <p:cNvPr id="10" name="对象 9"/>
                      <p:cNvPicPr/>
                      <p:nvPr/>
                    </p:nvPicPr>
                    <p:blipFill>
                      <a:blip r:embed="rId9"/>
                      <a:stretch>
                        <a:fillRect/>
                      </a:stretch>
                    </p:blipFill>
                    <p:spPr>
                      <a:xfrm>
                        <a:off x="4578350" y="5155797"/>
                        <a:ext cx="755650" cy="306388"/>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730486473"/>
              </p:ext>
            </p:extLst>
          </p:nvPr>
        </p:nvGraphicFramePr>
        <p:xfrm>
          <a:off x="5224463" y="1744891"/>
          <a:ext cx="1905000" cy="306387"/>
        </p:xfrm>
        <a:graphic>
          <a:graphicData uri="http://schemas.openxmlformats.org/presentationml/2006/ole">
            <mc:AlternateContent xmlns:mc="http://schemas.openxmlformats.org/markup-compatibility/2006">
              <mc:Choice xmlns:v="urn:schemas-microsoft-com:vml" Requires="v">
                <p:oleObj name="Formula" r:id="rId10" imgW="1106280" imgH="177840" progId="Equation.Ribbit">
                  <p:embed/>
                </p:oleObj>
              </mc:Choice>
              <mc:Fallback>
                <p:oleObj name="Formula" r:id="rId10" imgW="1106280" imgH="177840" progId="Equation.Ribbit">
                  <p:embed/>
                  <p:pic>
                    <p:nvPicPr>
                      <p:cNvPr id="11" name="对象 10"/>
                      <p:cNvPicPr/>
                      <p:nvPr/>
                    </p:nvPicPr>
                    <p:blipFill>
                      <a:blip r:embed="rId11"/>
                      <a:stretch>
                        <a:fillRect/>
                      </a:stretch>
                    </p:blipFill>
                    <p:spPr>
                      <a:xfrm>
                        <a:off x="5224463" y="1744891"/>
                        <a:ext cx="1905000" cy="30638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62748862"/>
              </p:ext>
            </p:extLst>
          </p:nvPr>
        </p:nvGraphicFramePr>
        <p:xfrm>
          <a:off x="1401248" y="1770116"/>
          <a:ext cx="205130" cy="251284"/>
        </p:xfrm>
        <a:graphic>
          <a:graphicData uri="http://schemas.openxmlformats.org/presentationml/2006/ole">
            <mc:AlternateContent xmlns:mc="http://schemas.openxmlformats.org/markup-compatibility/2006">
              <mc:Choice xmlns:v="urn:schemas-microsoft-com:vml" Requires="v">
                <p:oleObj name="Formula" r:id="rId12" imgW="127080" imgH="155160" progId="Equation.Ribbit">
                  <p:embed/>
                </p:oleObj>
              </mc:Choice>
              <mc:Fallback>
                <p:oleObj name="Formula" r:id="rId12" imgW="127080" imgH="155160" progId="Equation.Ribbit">
                  <p:embed/>
                  <p:pic>
                    <p:nvPicPr>
                      <p:cNvPr id="3" name="对象 2"/>
                      <p:cNvPicPr/>
                      <p:nvPr/>
                    </p:nvPicPr>
                    <p:blipFill>
                      <a:blip r:embed="rId13"/>
                      <a:stretch>
                        <a:fillRect/>
                      </a:stretch>
                    </p:blipFill>
                    <p:spPr>
                      <a:xfrm>
                        <a:off x="1401248" y="1770116"/>
                        <a:ext cx="205130" cy="25128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015254573"/>
              </p:ext>
            </p:extLst>
          </p:nvPr>
        </p:nvGraphicFramePr>
        <p:xfrm>
          <a:off x="2206625" y="1746478"/>
          <a:ext cx="141288" cy="293688"/>
        </p:xfrm>
        <a:graphic>
          <a:graphicData uri="http://schemas.openxmlformats.org/presentationml/2006/ole">
            <mc:AlternateContent xmlns:mc="http://schemas.openxmlformats.org/markup-compatibility/2006">
              <mc:Choice xmlns:v="urn:schemas-microsoft-com:vml" Requires="v">
                <p:oleObj name="Formula" r:id="rId14" imgW="80280" imgH="167760" progId="Equation.Ribbit">
                  <p:embed/>
                </p:oleObj>
              </mc:Choice>
              <mc:Fallback>
                <p:oleObj name="Formula" r:id="rId14" imgW="80280" imgH="167760" progId="Equation.Ribbit">
                  <p:embed/>
                  <p:pic>
                    <p:nvPicPr>
                      <p:cNvPr id="4" name="对象 3"/>
                      <p:cNvPicPr/>
                      <p:nvPr/>
                    </p:nvPicPr>
                    <p:blipFill>
                      <a:blip r:embed="rId15"/>
                      <a:stretch>
                        <a:fillRect/>
                      </a:stretch>
                    </p:blipFill>
                    <p:spPr>
                      <a:xfrm>
                        <a:off x="2206625" y="1746478"/>
                        <a:ext cx="141288" cy="293688"/>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797343823"/>
              </p:ext>
            </p:extLst>
          </p:nvPr>
        </p:nvGraphicFramePr>
        <p:xfrm>
          <a:off x="7786363" y="1768447"/>
          <a:ext cx="205130" cy="251284"/>
        </p:xfrm>
        <a:graphic>
          <a:graphicData uri="http://schemas.openxmlformats.org/presentationml/2006/ole">
            <mc:AlternateContent xmlns:mc="http://schemas.openxmlformats.org/markup-compatibility/2006">
              <mc:Choice xmlns:v="urn:schemas-microsoft-com:vml" Requires="v">
                <p:oleObj name="Formula" r:id="rId12" imgW="127080" imgH="155160" progId="Equation.Ribbit">
                  <p:embed/>
                </p:oleObj>
              </mc:Choice>
              <mc:Fallback>
                <p:oleObj name="Formula" r:id="rId12" imgW="127080" imgH="155160" progId="Equation.Ribbit">
                  <p:embed/>
                  <p:pic>
                    <p:nvPicPr>
                      <p:cNvPr id="12" name="对象 11"/>
                      <p:cNvPicPr/>
                      <p:nvPr/>
                    </p:nvPicPr>
                    <p:blipFill>
                      <a:blip r:embed="rId13"/>
                      <a:stretch>
                        <a:fillRect/>
                      </a:stretch>
                    </p:blipFill>
                    <p:spPr>
                      <a:xfrm>
                        <a:off x="7786363" y="1768447"/>
                        <a:ext cx="205130" cy="251284"/>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934748441"/>
              </p:ext>
            </p:extLst>
          </p:nvPr>
        </p:nvGraphicFramePr>
        <p:xfrm>
          <a:off x="4878388" y="1740970"/>
          <a:ext cx="307975" cy="277812"/>
        </p:xfrm>
        <a:graphic>
          <a:graphicData uri="http://schemas.openxmlformats.org/presentationml/2006/ole">
            <mc:AlternateContent xmlns:mc="http://schemas.openxmlformats.org/markup-compatibility/2006">
              <mc:Choice xmlns:v="urn:schemas-microsoft-com:vml" Requires="v">
                <p:oleObj name="Formula" r:id="rId16" imgW="146160" imgH="131040" progId="Equation.Ribbit">
                  <p:embed/>
                </p:oleObj>
              </mc:Choice>
              <mc:Fallback>
                <p:oleObj name="Formula" r:id="rId16" imgW="146160" imgH="131040" progId="Equation.Ribbit">
                  <p:embed/>
                  <p:pic>
                    <p:nvPicPr>
                      <p:cNvPr id="7" name="对象 6"/>
                      <p:cNvPicPr/>
                      <p:nvPr/>
                    </p:nvPicPr>
                    <p:blipFill>
                      <a:blip r:embed="rId17"/>
                      <a:stretch>
                        <a:fillRect/>
                      </a:stretch>
                    </p:blipFill>
                    <p:spPr>
                      <a:xfrm>
                        <a:off x="4878388" y="1740970"/>
                        <a:ext cx="307975" cy="277812"/>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906919131"/>
              </p:ext>
            </p:extLst>
          </p:nvPr>
        </p:nvGraphicFramePr>
        <p:xfrm>
          <a:off x="596900" y="3936337"/>
          <a:ext cx="787400" cy="296862"/>
        </p:xfrm>
        <a:graphic>
          <a:graphicData uri="http://schemas.openxmlformats.org/presentationml/2006/ole">
            <mc:AlternateContent xmlns:mc="http://schemas.openxmlformats.org/markup-compatibility/2006">
              <mc:Choice xmlns:v="urn:schemas-microsoft-com:vml" Requires="v">
                <p:oleObj name="Formula" r:id="rId18" imgW="472680" imgH="177840" progId="Equation.Ribbit">
                  <p:embed/>
                </p:oleObj>
              </mc:Choice>
              <mc:Fallback>
                <p:oleObj name="Formula" r:id="rId18" imgW="472680" imgH="177840" progId="Equation.Ribbit">
                  <p:embed/>
                  <p:pic>
                    <p:nvPicPr>
                      <p:cNvPr id="13" name="对象 12"/>
                      <p:cNvPicPr/>
                      <p:nvPr/>
                    </p:nvPicPr>
                    <p:blipFill>
                      <a:blip r:embed="rId19"/>
                      <a:stretch>
                        <a:fillRect/>
                      </a:stretch>
                    </p:blipFill>
                    <p:spPr>
                      <a:xfrm>
                        <a:off x="596900" y="3936337"/>
                        <a:ext cx="787400" cy="29686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97719257"/>
              </p:ext>
            </p:extLst>
          </p:nvPr>
        </p:nvGraphicFramePr>
        <p:xfrm>
          <a:off x="3096040" y="3977154"/>
          <a:ext cx="205130" cy="251284"/>
        </p:xfrm>
        <a:graphic>
          <a:graphicData uri="http://schemas.openxmlformats.org/presentationml/2006/ole">
            <mc:AlternateContent xmlns:mc="http://schemas.openxmlformats.org/markup-compatibility/2006">
              <mc:Choice xmlns:v="urn:schemas-microsoft-com:vml" Requires="v">
                <p:oleObj name="Formula" r:id="rId12" imgW="127080" imgH="155160" progId="Equation.Ribbit">
                  <p:embed/>
                </p:oleObj>
              </mc:Choice>
              <mc:Fallback>
                <p:oleObj name="Formula" r:id="rId12" imgW="127080" imgH="155160" progId="Equation.Ribbit">
                  <p:embed/>
                  <p:pic>
                    <p:nvPicPr>
                      <p:cNvPr id="14" name="对象 13"/>
                      <p:cNvPicPr/>
                      <p:nvPr/>
                    </p:nvPicPr>
                    <p:blipFill>
                      <a:blip r:embed="rId13"/>
                      <a:stretch>
                        <a:fillRect/>
                      </a:stretch>
                    </p:blipFill>
                    <p:spPr>
                      <a:xfrm>
                        <a:off x="3096040" y="3977154"/>
                        <a:ext cx="205130" cy="251284"/>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914242272"/>
              </p:ext>
            </p:extLst>
          </p:nvPr>
        </p:nvGraphicFramePr>
        <p:xfrm>
          <a:off x="712788" y="5149447"/>
          <a:ext cx="836612" cy="314325"/>
        </p:xfrm>
        <a:graphic>
          <a:graphicData uri="http://schemas.openxmlformats.org/presentationml/2006/ole">
            <mc:AlternateContent xmlns:mc="http://schemas.openxmlformats.org/markup-compatibility/2006">
              <mc:Choice xmlns:v="urn:schemas-microsoft-com:vml" Requires="v">
                <p:oleObj name="Formula" r:id="rId18" imgW="472680" imgH="177840" progId="Equation.Ribbit">
                  <p:embed/>
                </p:oleObj>
              </mc:Choice>
              <mc:Fallback>
                <p:oleObj name="Formula" r:id="rId18" imgW="472680" imgH="177840" progId="Equation.Ribbit">
                  <p:embed/>
                  <p:pic>
                    <p:nvPicPr>
                      <p:cNvPr id="15" name="对象 14"/>
                      <p:cNvPicPr/>
                      <p:nvPr/>
                    </p:nvPicPr>
                    <p:blipFill>
                      <a:blip r:embed="rId19"/>
                      <a:stretch>
                        <a:fillRect/>
                      </a:stretch>
                    </p:blipFill>
                    <p:spPr>
                      <a:xfrm>
                        <a:off x="712788" y="5149447"/>
                        <a:ext cx="836612" cy="31432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4176811451"/>
              </p:ext>
            </p:extLst>
          </p:nvPr>
        </p:nvGraphicFramePr>
        <p:xfrm>
          <a:off x="3018375" y="5158972"/>
          <a:ext cx="149225" cy="325438"/>
        </p:xfrm>
        <a:graphic>
          <a:graphicData uri="http://schemas.openxmlformats.org/presentationml/2006/ole">
            <mc:AlternateContent xmlns:mc="http://schemas.openxmlformats.org/markup-compatibility/2006">
              <mc:Choice xmlns:v="urn:schemas-microsoft-com:vml" Requires="v">
                <p:oleObj name="Formula" r:id="rId20" imgW="75240" imgH="162720" progId="Equation.Ribbit">
                  <p:embed/>
                </p:oleObj>
              </mc:Choice>
              <mc:Fallback>
                <p:oleObj name="Formula" r:id="rId20" imgW="75240" imgH="162720" progId="Equation.Ribbit">
                  <p:embed/>
                  <p:pic>
                    <p:nvPicPr>
                      <p:cNvPr id="16" name="对象 15"/>
                      <p:cNvPicPr/>
                      <p:nvPr/>
                    </p:nvPicPr>
                    <p:blipFill>
                      <a:blip r:embed="rId21"/>
                      <a:stretch>
                        <a:fillRect/>
                      </a:stretch>
                    </p:blipFill>
                    <p:spPr>
                      <a:xfrm>
                        <a:off x="3018375" y="5158972"/>
                        <a:ext cx="149225" cy="325438"/>
                      </a:xfrm>
                      <a:prstGeom prst="rect">
                        <a:avLst/>
                      </a:prstGeom>
                    </p:spPr>
                  </p:pic>
                </p:oleObj>
              </mc:Fallback>
            </mc:AlternateContent>
          </a:graphicData>
        </a:graphic>
      </p:graphicFrame>
      <p:pic>
        <p:nvPicPr>
          <p:cNvPr id="19" name="图片 18">
            <a:extLst>
              <a:ext uri="{FF2B5EF4-FFF2-40B4-BE49-F238E27FC236}">
                <a16:creationId xmlns:a16="http://schemas.microsoft.com/office/drawing/2014/main" id="{FE9A4E5E-99D5-1846-A110-E12F21E58B70}"/>
              </a:ext>
            </a:extLst>
          </p:cNvPr>
          <p:cNvPicPr>
            <a:picLocks noChangeAspect="1"/>
          </p:cNvPicPr>
          <p:nvPr/>
        </p:nvPicPr>
        <p:blipFill>
          <a:blip r:embed="rId22"/>
          <a:stretch>
            <a:fillRect/>
          </a:stretch>
        </p:blipFill>
        <p:spPr>
          <a:xfrm>
            <a:off x="5303044" y="1739842"/>
            <a:ext cx="307975" cy="380440"/>
          </a:xfrm>
          <a:prstGeom prst="rect">
            <a:avLst/>
          </a:prstGeom>
        </p:spPr>
      </p:pic>
      <p:graphicFrame>
        <p:nvGraphicFramePr>
          <p:cNvPr id="18" name="对象 17">
            <a:extLst>
              <a:ext uri="{FF2B5EF4-FFF2-40B4-BE49-F238E27FC236}">
                <a16:creationId xmlns:a16="http://schemas.microsoft.com/office/drawing/2014/main" id="{0E6F9B92-63D8-4968-6AC8-89251F0FD7EF}"/>
              </a:ext>
            </a:extLst>
          </p:cNvPr>
          <p:cNvGraphicFramePr>
            <a:graphicFrameLocks noChangeAspect="1"/>
          </p:cNvGraphicFramePr>
          <p:nvPr>
            <p:extLst>
              <p:ext uri="{D42A27DB-BD31-4B8C-83A1-F6EECF244321}">
                <p14:modId xmlns:p14="http://schemas.microsoft.com/office/powerpoint/2010/main" val="1468646407"/>
              </p:ext>
            </p:extLst>
          </p:nvPr>
        </p:nvGraphicFramePr>
        <p:xfrm>
          <a:off x="5417334" y="1754431"/>
          <a:ext cx="141288" cy="293688"/>
        </p:xfrm>
        <a:graphic>
          <a:graphicData uri="http://schemas.openxmlformats.org/presentationml/2006/ole">
            <mc:AlternateContent xmlns:mc="http://schemas.openxmlformats.org/markup-compatibility/2006">
              <mc:Choice xmlns:v="urn:schemas-microsoft-com:vml" Requires="v">
                <p:oleObj name="Formula" r:id="rId14" imgW="80280" imgH="167760" progId="Equation.Ribbit">
                  <p:embed/>
                </p:oleObj>
              </mc:Choice>
              <mc:Fallback>
                <p:oleObj name="Formula" r:id="rId14" imgW="80280" imgH="167760" progId="Equation.Ribbit">
                  <p:embed/>
                  <p:pic>
                    <p:nvPicPr>
                      <p:cNvPr id="4" name="对象 3"/>
                      <p:cNvPicPr/>
                      <p:nvPr/>
                    </p:nvPicPr>
                    <p:blipFill>
                      <a:blip r:embed="rId15"/>
                      <a:stretch>
                        <a:fillRect/>
                      </a:stretch>
                    </p:blipFill>
                    <p:spPr>
                      <a:xfrm>
                        <a:off x="5417334" y="1754431"/>
                        <a:ext cx="141288" cy="293688"/>
                      </a:xfrm>
                      <a:prstGeom prst="rect">
                        <a:avLst/>
                      </a:prstGeom>
                    </p:spPr>
                  </p:pic>
                </p:oleObj>
              </mc:Fallback>
            </mc:AlternateContent>
          </a:graphicData>
        </a:graphic>
      </p:graphicFrame>
    </p:spTree>
    <p:extLst>
      <p:ext uri="{BB962C8B-B14F-4D97-AF65-F5344CB8AC3E}">
        <p14:creationId xmlns:p14="http://schemas.microsoft.com/office/powerpoint/2010/main" val="44469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60350" y="1008903"/>
                <a:ext cx="8616950" cy="5566463"/>
              </a:xfrm>
            </p:spPr>
            <p:txBody>
              <a:bodyPr>
                <a:normAutofit lnSpcReduction="10000"/>
              </a:bodyPr>
              <a:lstStyle/>
              <a:p>
                <a:pPr>
                  <a:lnSpc>
                    <a:spcPct val="120000"/>
                  </a:lnSpc>
                </a:pPr>
                <a:r>
                  <a:rPr lang="zh-CN" altLang="en-US" dirty="0"/>
                  <a:t>离散属性</a:t>
                </a:r>
                <a:r>
                  <a:rPr lang="en-US" altLang="zh-CN" dirty="0"/>
                  <a:t>  </a:t>
                </a:r>
                <a:r>
                  <a:rPr lang="zh-CN" altLang="en-US" dirty="0"/>
                  <a:t>有</a:t>
                </a:r>
                <a:r>
                  <a:rPr lang="en-US" altLang="zh-CN" dirty="0"/>
                  <a:t>  </a:t>
                </a:r>
                <a:r>
                  <a:rPr lang="zh-CN" altLang="en-US" dirty="0"/>
                  <a:t>个可能的取值                 ，用</a:t>
                </a:r>
                <a:r>
                  <a:rPr lang="en-US" altLang="zh-CN" dirty="0"/>
                  <a:t>  </a:t>
                </a:r>
                <a:r>
                  <a:rPr lang="zh-CN" altLang="en-US" dirty="0"/>
                  <a:t>来进行划分，则会产生</a:t>
                </a:r>
                <a:r>
                  <a:rPr lang="en-US" altLang="zh-CN" dirty="0"/>
                  <a:t>  </a:t>
                </a:r>
                <a:r>
                  <a:rPr lang="zh-CN" altLang="en-US" dirty="0"/>
                  <a:t>个分支结点，其中第  个分支结点包含了  中所有在属性</a:t>
                </a:r>
                <a:r>
                  <a:rPr lang="en-US" altLang="zh-CN" dirty="0"/>
                  <a:t>  </a:t>
                </a:r>
                <a:r>
                  <a:rPr lang="zh-CN" altLang="en-US" dirty="0"/>
                  <a:t>上取值为  </a:t>
                </a:r>
                <a14:m>
                  <m:oMath xmlns:m="http://schemas.openxmlformats.org/officeDocument/2006/math">
                    <m:r>
                      <a:rPr lang="en-US" altLang="zh-CN" b="0" i="0" smtClean="0">
                        <a:latin typeface="Cambria Math" panose="02040503050406030204" pitchFamily="18" charset="0"/>
                      </a:rPr>
                      <m:t> </m:t>
                    </m:r>
                    <m:r>
                      <a:rPr lang="en-US" altLang="zh-CN" b="0" i="1" smtClean="0">
                        <a:latin typeface="Cambria Math" panose="02040503050406030204" pitchFamily="18" charset="0"/>
                      </a:rPr>
                      <m:t> </m:t>
                    </m:r>
                    <m:r>
                      <a:rPr lang="zh-CN" altLang="en-US" i="1">
                        <a:latin typeface="Cambria Math" panose="02040503050406030204" pitchFamily="18" charset="0"/>
                      </a:rPr>
                      <m:t>的样本，记为</m:t>
                    </m:r>
                    <m:r>
                      <a:rPr lang="en-US" altLang="zh-CN" b="0" i="1" smtClean="0">
                        <a:latin typeface="Cambria Math" panose="02040503050406030204" pitchFamily="18" charset="0"/>
                      </a:rPr>
                      <m:t>     </m:t>
                    </m:r>
                    <m:r>
                      <a:rPr lang="zh-CN" altLang="en-US" b="0" i="1" smtClean="0">
                        <a:latin typeface="Cambria Math" panose="02040503050406030204" pitchFamily="18" charset="0"/>
                      </a:rPr>
                      <m:t>。</m:t>
                    </m:r>
                    <m:r>
                      <a:rPr lang="zh-CN" altLang="en-US" i="1">
                        <a:latin typeface="Cambria Math" panose="02040503050406030204" pitchFamily="18" charset="0"/>
                      </a:rPr>
                      <m:t>则可计算出</m:t>
                    </m:r>
                  </m:oMath>
                </a14:m>
                <a:r>
                  <a:rPr lang="zh-CN" altLang="en-US" dirty="0"/>
                  <a:t>用属性</a:t>
                </a:r>
                <a:r>
                  <a:rPr lang="en-US" altLang="zh-CN" dirty="0"/>
                  <a:t>  </a:t>
                </a:r>
                <a:r>
                  <a:rPr lang="zh-CN" altLang="en-US" dirty="0"/>
                  <a:t>对样本集</a:t>
                </a:r>
                <a:r>
                  <a:rPr lang="en-US" altLang="zh-CN" dirty="0"/>
                  <a:t>  </a:t>
                </a:r>
                <a:r>
                  <a:rPr lang="zh-CN" altLang="en-US" dirty="0"/>
                  <a:t>进行划分所获得的“信息增益”：</a:t>
                </a:r>
                <a:endParaRPr lang="en-US" altLang="zh-CN" dirty="0"/>
              </a:p>
              <a:p>
                <a:endParaRPr lang="en-US" altLang="zh-CN" dirty="0"/>
              </a:p>
              <a:p>
                <a:endParaRPr lang="en-US" altLang="zh-CN" dirty="0"/>
              </a:p>
              <a:p>
                <a:endParaRPr lang="en-US" altLang="zh-CN" dirty="0"/>
              </a:p>
              <a:p>
                <a:endParaRPr lang="en-US" altLang="zh-CN" dirty="0"/>
              </a:p>
              <a:p>
                <a:pPr>
                  <a:lnSpc>
                    <a:spcPct val="60000"/>
                  </a:lnSpc>
                </a:pPr>
                <a:endParaRPr lang="en-US" altLang="zh-CN" dirty="0"/>
              </a:p>
              <a:p>
                <a:pPr marL="342900" indent="-342900">
                  <a:lnSpc>
                    <a:spcPct val="130000"/>
                  </a:lnSpc>
                </a:pPr>
                <a:r>
                  <a:rPr lang="en-US" altLang="zh-CN" dirty="0"/>
                  <a:t> </a:t>
                </a:r>
                <a:r>
                  <a:rPr lang="zh-CN" altLang="en-US" dirty="0"/>
                  <a:t>一般而言，</a:t>
                </a:r>
                <a:r>
                  <a:rPr lang="zh-CN" altLang="en-US" dirty="0">
                    <a:solidFill>
                      <a:srgbClr val="C00000"/>
                    </a:solidFill>
                  </a:rPr>
                  <a:t>信息增益越大</a:t>
                </a:r>
                <a:r>
                  <a:rPr lang="zh-CN" altLang="en-US" dirty="0"/>
                  <a:t>，则意味着使用属性</a:t>
                </a:r>
                <a:r>
                  <a:rPr lang="en-US" altLang="zh-CN" dirty="0"/>
                  <a:t>  </a:t>
                </a:r>
                <a:r>
                  <a:rPr lang="zh-CN" altLang="en-US" dirty="0"/>
                  <a:t>来进行划分所获得的“</a:t>
                </a:r>
                <a:r>
                  <a:rPr lang="zh-CN" altLang="en-US" dirty="0">
                    <a:solidFill>
                      <a:srgbClr val="C00000"/>
                    </a:solidFill>
                  </a:rPr>
                  <a:t>纯度提升</a:t>
                </a:r>
                <a:r>
                  <a:rPr lang="zh-CN" altLang="en-US" dirty="0"/>
                  <a:t>”越大</a:t>
                </a:r>
                <a:endParaRPr lang="en-US" altLang="zh-CN" dirty="0"/>
              </a:p>
              <a:p>
                <a:pPr marL="342900" indent="-342900">
                  <a:lnSpc>
                    <a:spcPts val="100"/>
                  </a:lnSpc>
                  <a:spcBef>
                    <a:spcPts val="0"/>
                  </a:spcBef>
                </a:pPr>
                <a:endParaRPr lang="en-US" altLang="zh-CN" dirty="0"/>
              </a:p>
              <a:p>
                <a:pPr marL="228600" lvl="1">
                  <a:lnSpc>
                    <a:spcPct val="130000"/>
                  </a:lnSpc>
                  <a:spcBef>
                    <a:spcPts val="1000"/>
                  </a:spcBef>
                  <a:buSzPct val="100000"/>
                  <a:buFont typeface="Wingdings" panose="05000000000000000000" pitchFamily="2" charset="2"/>
                  <a:buChar char="p"/>
                </a:pPr>
                <a:r>
                  <a:rPr lang="en-US" altLang="zh-CN" dirty="0"/>
                  <a:t> </a:t>
                </a:r>
                <a:r>
                  <a:rPr lang="en-US" altLang="zh-CN" sz="2200" dirty="0"/>
                  <a:t>ID3</a:t>
                </a:r>
                <a:r>
                  <a:rPr lang="zh-CN" altLang="en-US" sz="2200" dirty="0"/>
                  <a:t>决策树学习算法</a:t>
                </a:r>
                <a:r>
                  <a:rPr lang="en-US" altLang="zh-CN" sz="1600" dirty="0"/>
                  <a:t>[Quinlan, 1986]</a:t>
                </a:r>
                <a:r>
                  <a:rPr lang="zh-CN" altLang="en-US" sz="2200" dirty="0"/>
                  <a:t>就是在算法中第</a:t>
                </a:r>
                <a:r>
                  <a:rPr lang="en-US" altLang="zh-CN" sz="2200" dirty="0"/>
                  <a:t>8</a:t>
                </a:r>
                <a:r>
                  <a:rPr lang="zh-CN" altLang="en-US" sz="2200" dirty="0"/>
                  <a:t>步以信息增益为准则来选择划分属性</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60350" y="1008903"/>
                <a:ext cx="8616950" cy="5566463"/>
              </a:xfrm>
              <a:blipFill>
                <a:blip r:embed="rId3"/>
                <a:stretch>
                  <a:fillRect l="-778" t="-1095" r="-71"/>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68EEB567-9E8A-8D67-4C3E-F7A299D2900E}"/>
              </a:ext>
            </a:extLst>
          </p:cNvPr>
          <p:cNvGrpSpPr/>
          <p:nvPr/>
        </p:nvGrpSpPr>
        <p:grpSpPr>
          <a:xfrm>
            <a:off x="1520825" y="2458116"/>
            <a:ext cx="5303924" cy="924335"/>
            <a:chOff x="1520825" y="2408238"/>
            <a:chExt cx="5303924" cy="924335"/>
          </a:xfrm>
        </p:grpSpPr>
        <p:graphicFrame>
          <p:nvGraphicFramePr>
            <p:cNvPr id="4" name="对象 3"/>
            <p:cNvGraphicFramePr>
              <a:graphicFrameLocks noChangeAspect="1"/>
            </p:cNvGraphicFramePr>
            <p:nvPr>
              <p:extLst>
                <p:ext uri="{D42A27DB-BD31-4B8C-83A1-F6EECF244321}">
                  <p14:modId xmlns:p14="http://schemas.microsoft.com/office/powerpoint/2010/main" val="161968090"/>
                </p:ext>
              </p:extLst>
            </p:nvPr>
          </p:nvGraphicFramePr>
          <p:xfrm>
            <a:off x="1520825" y="2408238"/>
            <a:ext cx="5303924" cy="924335"/>
          </p:xfrm>
          <a:graphic>
            <a:graphicData uri="http://schemas.openxmlformats.org/presentationml/2006/ole">
              <mc:AlternateContent xmlns:mc="http://schemas.openxmlformats.org/markup-compatibility/2006">
                <mc:Choice xmlns:v="urn:schemas-microsoft-com:vml" Requires="v">
                  <p:oleObj name="Formula" r:id="rId4" imgW="2650680" imgH="462600" progId="Equation.Ribbit">
                    <p:embed/>
                  </p:oleObj>
                </mc:Choice>
                <mc:Fallback>
                  <p:oleObj name="Formula" r:id="rId4" imgW="2650680" imgH="462600" progId="Equation.Ribbit">
                    <p:embed/>
                    <p:pic>
                      <p:nvPicPr>
                        <p:cNvPr id="4" name="对象 3"/>
                        <p:cNvPicPr/>
                        <p:nvPr/>
                      </p:nvPicPr>
                      <p:blipFill>
                        <a:blip r:embed="rId5"/>
                        <a:stretch>
                          <a:fillRect/>
                        </a:stretch>
                      </p:blipFill>
                      <p:spPr>
                        <a:xfrm>
                          <a:off x="1520825" y="2408238"/>
                          <a:ext cx="5303924" cy="924335"/>
                        </a:xfrm>
                        <a:prstGeom prst="rect">
                          <a:avLst/>
                        </a:prstGeom>
                      </p:spPr>
                    </p:pic>
                  </p:oleObj>
                </mc:Fallback>
              </mc:AlternateContent>
            </a:graphicData>
          </a:graphic>
        </p:graphicFrame>
        <p:sp>
          <p:nvSpPr>
            <p:cNvPr id="7" name="矩形 6"/>
            <p:cNvSpPr/>
            <p:nvPr/>
          </p:nvSpPr>
          <p:spPr>
            <a:xfrm>
              <a:off x="5156533" y="2449104"/>
              <a:ext cx="562623" cy="88346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Rectangle 3"/>
          <p:cNvSpPr>
            <a:spLocks noChangeArrowheads="1"/>
          </p:cNvSpPr>
          <p:nvPr/>
        </p:nvSpPr>
        <p:spPr bwMode="auto">
          <a:xfrm>
            <a:off x="4464533" y="3514657"/>
            <a:ext cx="4036045" cy="778397"/>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nSpc>
                <a:spcPts val="2800"/>
              </a:lnSpc>
              <a:buNone/>
            </a:pPr>
            <a:r>
              <a:rPr lang="zh-CN" altLang="en-US" sz="2000" dirty="0">
                <a:latin typeface="幼圆" panose="02010509060101010101" pitchFamily="49" charset="-122"/>
                <a:ea typeface="幼圆" panose="02010509060101010101" pitchFamily="49" charset="-122"/>
              </a:rPr>
              <a:t>为分支结点权重，样本数越多的分支结点的影响越大</a:t>
            </a:r>
            <a:endParaRPr lang="zh-CN" altLang="en-US" sz="2000" i="0" dirty="0">
              <a:latin typeface="幼圆" panose="02010509060101010101" pitchFamily="49" charset="-122"/>
              <a:ea typeface="幼圆" panose="02010509060101010101" pitchFamily="49"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21576947"/>
              </p:ext>
            </p:extLst>
          </p:nvPr>
        </p:nvGraphicFramePr>
        <p:xfrm>
          <a:off x="1828800" y="1102445"/>
          <a:ext cx="188913" cy="304800"/>
        </p:xfrm>
        <a:graphic>
          <a:graphicData uri="http://schemas.openxmlformats.org/presentationml/2006/ole">
            <mc:AlternateContent xmlns:mc="http://schemas.openxmlformats.org/markup-compatibility/2006">
              <mc:Choice xmlns:v="urn:schemas-microsoft-com:vml" Requires="v">
                <p:oleObj name="Formula" r:id="rId6" imgW="80280" imgH="129600" progId="Equation.Ribbit">
                  <p:embed/>
                </p:oleObj>
              </mc:Choice>
              <mc:Fallback>
                <p:oleObj name="Formula" r:id="rId6" imgW="80280" imgH="129600" progId="Equation.Ribbit">
                  <p:embed/>
                  <p:pic>
                    <p:nvPicPr>
                      <p:cNvPr id="5" name="对象 4"/>
                      <p:cNvPicPr/>
                      <p:nvPr/>
                    </p:nvPicPr>
                    <p:blipFill>
                      <a:blip r:embed="rId7"/>
                      <a:stretch>
                        <a:fillRect/>
                      </a:stretch>
                    </p:blipFill>
                    <p:spPr>
                      <a:xfrm>
                        <a:off x="1828800" y="1102445"/>
                        <a:ext cx="188913" cy="3048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811328563"/>
              </p:ext>
            </p:extLst>
          </p:nvPr>
        </p:nvGraphicFramePr>
        <p:xfrm>
          <a:off x="2328863" y="1131020"/>
          <a:ext cx="173037" cy="242887"/>
        </p:xfrm>
        <a:graphic>
          <a:graphicData uri="http://schemas.openxmlformats.org/presentationml/2006/ole">
            <mc:AlternateContent xmlns:mc="http://schemas.openxmlformats.org/markup-compatibility/2006">
              <mc:Choice xmlns:v="urn:schemas-microsoft-com:vml" Requires="v">
                <p:oleObj name="Formula" r:id="rId8" imgW="119520" imgH="166680" progId="Equation.Ribbit">
                  <p:embed/>
                </p:oleObj>
              </mc:Choice>
              <mc:Fallback>
                <p:oleObj name="Formula" r:id="rId8" imgW="119520" imgH="166680" progId="Equation.Ribbit">
                  <p:embed/>
                  <p:pic>
                    <p:nvPicPr>
                      <p:cNvPr id="6" name="对象 5"/>
                      <p:cNvPicPr/>
                      <p:nvPr/>
                    </p:nvPicPr>
                    <p:blipFill>
                      <a:blip r:embed="rId9"/>
                      <a:stretch>
                        <a:fillRect/>
                      </a:stretch>
                    </p:blipFill>
                    <p:spPr>
                      <a:xfrm>
                        <a:off x="2328863" y="1131020"/>
                        <a:ext cx="173037" cy="24288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573128145"/>
              </p:ext>
            </p:extLst>
          </p:nvPr>
        </p:nvGraphicFramePr>
        <p:xfrm>
          <a:off x="4183063" y="1061631"/>
          <a:ext cx="1606550" cy="331787"/>
        </p:xfrm>
        <a:graphic>
          <a:graphicData uri="http://schemas.openxmlformats.org/presentationml/2006/ole">
            <mc:AlternateContent xmlns:mc="http://schemas.openxmlformats.org/markup-compatibility/2006">
              <mc:Choice xmlns:v="urn:schemas-microsoft-com:vml" Requires="v">
                <p:oleObj name="Formula" r:id="rId10" imgW="913320" imgH="188280" progId="Equation.Ribbit">
                  <p:embed/>
                </p:oleObj>
              </mc:Choice>
              <mc:Fallback>
                <p:oleObj name="Formula" r:id="rId10" imgW="913320" imgH="188280" progId="Equation.Ribbit">
                  <p:embed/>
                  <p:pic>
                    <p:nvPicPr>
                      <p:cNvPr id="8" name="对象 7"/>
                      <p:cNvPicPr/>
                      <p:nvPr/>
                    </p:nvPicPr>
                    <p:blipFill>
                      <a:blip r:embed="rId11"/>
                      <a:stretch>
                        <a:fillRect/>
                      </a:stretch>
                    </p:blipFill>
                    <p:spPr>
                      <a:xfrm>
                        <a:off x="4183063" y="1061631"/>
                        <a:ext cx="1606550" cy="33178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730984159"/>
              </p:ext>
            </p:extLst>
          </p:nvPr>
        </p:nvGraphicFramePr>
        <p:xfrm>
          <a:off x="6398855" y="1105620"/>
          <a:ext cx="188912" cy="306387"/>
        </p:xfrm>
        <a:graphic>
          <a:graphicData uri="http://schemas.openxmlformats.org/presentationml/2006/ole">
            <mc:AlternateContent xmlns:mc="http://schemas.openxmlformats.org/markup-compatibility/2006">
              <mc:Choice xmlns:v="urn:schemas-microsoft-com:vml" Requires="v">
                <p:oleObj name="Formula" r:id="rId6" imgW="80280" imgH="129600" progId="Equation.Ribbit">
                  <p:embed/>
                </p:oleObj>
              </mc:Choice>
              <mc:Fallback>
                <p:oleObj name="Formula" r:id="rId6" imgW="80280" imgH="129600" progId="Equation.Ribbit">
                  <p:embed/>
                  <p:pic>
                    <p:nvPicPr>
                      <p:cNvPr id="10" name="对象 9"/>
                      <p:cNvPicPr/>
                      <p:nvPr/>
                    </p:nvPicPr>
                    <p:blipFill>
                      <a:blip r:embed="rId7"/>
                      <a:stretch>
                        <a:fillRect/>
                      </a:stretch>
                    </p:blipFill>
                    <p:spPr>
                      <a:xfrm>
                        <a:off x="6398855" y="1105620"/>
                        <a:ext cx="188912" cy="30638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451841220"/>
              </p:ext>
            </p:extLst>
          </p:nvPr>
        </p:nvGraphicFramePr>
        <p:xfrm>
          <a:off x="1414463" y="1504287"/>
          <a:ext cx="173037" cy="242887"/>
        </p:xfrm>
        <a:graphic>
          <a:graphicData uri="http://schemas.openxmlformats.org/presentationml/2006/ole">
            <mc:AlternateContent xmlns:mc="http://schemas.openxmlformats.org/markup-compatibility/2006">
              <mc:Choice xmlns:v="urn:schemas-microsoft-com:vml" Requires="v">
                <p:oleObj name="Formula" r:id="rId8" imgW="119520" imgH="166680" progId="Equation.Ribbit">
                  <p:embed/>
                </p:oleObj>
              </mc:Choice>
              <mc:Fallback>
                <p:oleObj name="Formula" r:id="rId8" imgW="119520" imgH="166680" progId="Equation.Ribbit">
                  <p:embed/>
                  <p:pic>
                    <p:nvPicPr>
                      <p:cNvPr id="11" name="对象 10"/>
                      <p:cNvPicPr/>
                      <p:nvPr/>
                    </p:nvPicPr>
                    <p:blipFill>
                      <a:blip r:embed="rId9"/>
                      <a:stretch>
                        <a:fillRect/>
                      </a:stretch>
                    </p:blipFill>
                    <p:spPr>
                      <a:xfrm>
                        <a:off x="1414463" y="1504287"/>
                        <a:ext cx="173037" cy="24288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87076697"/>
              </p:ext>
            </p:extLst>
          </p:nvPr>
        </p:nvGraphicFramePr>
        <p:xfrm>
          <a:off x="4133850" y="1493174"/>
          <a:ext cx="190500" cy="312738"/>
        </p:xfrm>
        <a:graphic>
          <a:graphicData uri="http://schemas.openxmlformats.org/presentationml/2006/ole">
            <mc:AlternateContent xmlns:mc="http://schemas.openxmlformats.org/markup-compatibility/2006">
              <mc:Choice xmlns:v="urn:schemas-microsoft-com:vml" Requires="v">
                <p:oleObj name="Formula" r:id="rId12" imgW="78840" imgH="129600" progId="Equation.Ribbit">
                  <p:embed/>
                </p:oleObj>
              </mc:Choice>
              <mc:Fallback>
                <p:oleObj name="Formula" r:id="rId12" imgW="78840" imgH="129600" progId="Equation.Ribbit">
                  <p:embed/>
                  <p:pic>
                    <p:nvPicPr>
                      <p:cNvPr id="12" name="对象 11"/>
                      <p:cNvPicPr/>
                      <p:nvPr/>
                    </p:nvPicPr>
                    <p:blipFill>
                      <a:blip r:embed="rId13"/>
                      <a:stretch>
                        <a:fillRect/>
                      </a:stretch>
                    </p:blipFill>
                    <p:spPr>
                      <a:xfrm>
                        <a:off x="4133850" y="1493174"/>
                        <a:ext cx="190500" cy="312738"/>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83395470"/>
              </p:ext>
            </p:extLst>
          </p:nvPr>
        </p:nvGraphicFramePr>
        <p:xfrm>
          <a:off x="6521450" y="1483649"/>
          <a:ext cx="201613" cy="271463"/>
        </p:xfrm>
        <a:graphic>
          <a:graphicData uri="http://schemas.openxmlformats.org/presentationml/2006/ole">
            <mc:AlternateContent xmlns:mc="http://schemas.openxmlformats.org/markup-compatibility/2006">
              <mc:Choice xmlns:v="urn:schemas-microsoft-com:vml" Requires="v">
                <p:oleObj name="Formula" r:id="rId14" imgW="124560" imgH="166680" progId="Equation.Ribbit">
                  <p:embed/>
                </p:oleObj>
              </mc:Choice>
              <mc:Fallback>
                <p:oleObj name="Formula" r:id="rId14" imgW="124560" imgH="166680" progId="Equation.Ribbit">
                  <p:embed/>
                  <p:pic>
                    <p:nvPicPr>
                      <p:cNvPr id="13" name="对象 12"/>
                      <p:cNvPicPr/>
                      <p:nvPr/>
                    </p:nvPicPr>
                    <p:blipFill>
                      <a:blip r:embed="rId15"/>
                      <a:stretch>
                        <a:fillRect/>
                      </a:stretch>
                    </p:blipFill>
                    <p:spPr>
                      <a:xfrm>
                        <a:off x="6521450" y="1483649"/>
                        <a:ext cx="201613" cy="271463"/>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000794559"/>
              </p:ext>
            </p:extLst>
          </p:nvPr>
        </p:nvGraphicFramePr>
        <p:xfrm>
          <a:off x="8464550" y="1501112"/>
          <a:ext cx="188913" cy="303212"/>
        </p:xfrm>
        <a:graphic>
          <a:graphicData uri="http://schemas.openxmlformats.org/presentationml/2006/ole">
            <mc:AlternateContent xmlns:mc="http://schemas.openxmlformats.org/markup-compatibility/2006">
              <mc:Choice xmlns:v="urn:schemas-microsoft-com:vml" Requires="v">
                <p:oleObj name="Formula" r:id="rId6" imgW="80280" imgH="129600" progId="Equation.Ribbit">
                  <p:embed/>
                </p:oleObj>
              </mc:Choice>
              <mc:Fallback>
                <p:oleObj name="Formula" r:id="rId6" imgW="80280" imgH="129600" progId="Equation.Ribbit">
                  <p:embed/>
                  <p:pic>
                    <p:nvPicPr>
                      <p:cNvPr id="14" name="对象 13"/>
                      <p:cNvPicPr/>
                      <p:nvPr/>
                    </p:nvPicPr>
                    <p:blipFill>
                      <a:blip r:embed="rId7"/>
                      <a:stretch>
                        <a:fillRect/>
                      </a:stretch>
                    </p:blipFill>
                    <p:spPr>
                      <a:xfrm>
                        <a:off x="8464550" y="1501112"/>
                        <a:ext cx="188913" cy="303212"/>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558491858"/>
              </p:ext>
            </p:extLst>
          </p:nvPr>
        </p:nvGraphicFramePr>
        <p:xfrm>
          <a:off x="1689100" y="1870111"/>
          <a:ext cx="255365" cy="311489"/>
        </p:xfrm>
        <a:graphic>
          <a:graphicData uri="http://schemas.openxmlformats.org/presentationml/2006/ole">
            <mc:AlternateContent xmlns:mc="http://schemas.openxmlformats.org/markup-compatibility/2006">
              <mc:Choice xmlns:v="urn:schemas-microsoft-com:vml" Requires="v">
                <p:oleObj name="Formula" r:id="rId16" imgW="134640" imgH="162720" progId="Equation.Ribbit">
                  <p:embed/>
                </p:oleObj>
              </mc:Choice>
              <mc:Fallback>
                <p:oleObj name="Formula" r:id="rId16" imgW="134640" imgH="162720" progId="Equation.Ribbit">
                  <p:embed/>
                  <p:pic>
                    <p:nvPicPr>
                      <p:cNvPr id="15" name="对象 14"/>
                      <p:cNvPicPr/>
                      <p:nvPr/>
                    </p:nvPicPr>
                    <p:blipFill>
                      <a:blip r:embed="rId17"/>
                      <a:stretch>
                        <a:fillRect/>
                      </a:stretch>
                    </p:blipFill>
                    <p:spPr>
                      <a:xfrm>
                        <a:off x="1689100" y="1870111"/>
                        <a:ext cx="255365" cy="311489"/>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443190459"/>
              </p:ext>
            </p:extLst>
          </p:nvPr>
        </p:nvGraphicFramePr>
        <p:xfrm>
          <a:off x="3692525" y="1886240"/>
          <a:ext cx="285750" cy="261938"/>
        </p:xfrm>
        <a:graphic>
          <a:graphicData uri="http://schemas.openxmlformats.org/presentationml/2006/ole">
            <mc:AlternateContent xmlns:mc="http://schemas.openxmlformats.org/markup-compatibility/2006">
              <mc:Choice xmlns:v="urn:schemas-microsoft-com:vml" Requires="v">
                <p:oleObj name="Formula" r:id="rId18" imgW="182880" imgH="166680" progId="Equation.Ribbit">
                  <p:embed/>
                </p:oleObj>
              </mc:Choice>
              <mc:Fallback>
                <p:oleObj name="Formula" r:id="rId18" imgW="182880" imgH="166680" progId="Equation.Ribbit">
                  <p:embed/>
                  <p:pic>
                    <p:nvPicPr>
                      <p:cNvPr id="16" name="对象 15"/>
                      <p:cNvPicPr/>
                      <p:nvPr/>
                    </p:nvPicPr>
                    <p:blipFill>
                      <a:blip r:embed="rId19"/>
                      <a:stretch>
                        <a:fillRect/>
                      </a:stretch>
                    </p:blipFill>
                    <p:spPr>
                      <a:xfrm>
                        <a:off x="3692525" y="1886240"/>
                        <a:ext cx="285750" cy="261938"/>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20259369"/>
              </p:ext>
            </p:extLst>
          </p:nvPr>
        </p:nvGraphicFramePr>
        <p:xfrm>
          <a:off x="6518275" y="1883065"/>
          <a:ext cx="190500" cy="303213"/>
        </p:xfrm>
        <a:graphic>
          <a:graphicData uri="http://schemas.openxmlformats.org/presentationml/2006/ole">
            <mc:AlternateContent xmlns:mc="http://schemas.openxmlformats.org/markup-compatibility/2006">
              <mc:Choice xmlns:v="urn:schemas-microsoft-com:vml" Requires="v">
                <p:oleObj name="Formula" r:id="rId6" imgW="80280" imgH="129600" progId="Equation.Ribbit">
                  <p:embed/>
                </p:oleObj>
              </mc:Choice>
              <mc:Fallback>
                <p:oleObj name="Formula" r:id="rId6" imgW="80280" imgH="129600" progId="Equation.Ribbit">
                  <p:embed/>
                  <p:pic>
                    <p:nvPicPr>
                      <p:cNvPr id="17" name="对象 16"/>
                      <p:cNvPicPr/>
                      <p:nvPr/>
                    </p:nvPicPr>
                    <p:blipFill>
                      <a:blip r:embed="rId7"/>
                      <a:stretch>
                        <a:fillRect/>
                      </a:stretch>
                    </p:blipFill>
                    <p:spPr>
                      <a:xfrm>
                        <a:off x="6518275" y="1883065"/>
                        <a:ext cx="190500" cy="303213"/>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856473142"/>
              </p:ext>
            </p:extLst>
          </p:nvPr>
        </p:nvGraphicFramePr>
        <p:xfrm>
          <a:off x="7821613" y="1884653"/>
          <a:ext cx="200025" cy="269875"/>
        </p:xfrm>
        <a:graphic>
          <a:graphicData uri="http://schemas.openxmlformats.org/presentationml/2006/ole">
            <mc:AlternateContent xmlns:mc="http://schemas.openxmlformats.org/markup-compatibility/2006">
              <mc:Choice xmlns:v="urn:schemas-microsoft-com:vml" Requires="v">
                <p:oleObj name="Formula" r:id="rId14" imgW="124560" imgH="166680" progId="Equation.Ribbit">
                  <p:embed/>
                </p:oleObj>
              </mc:Choice>
              <mc:Fallback>
                <p:oleObj name="Formula" r:id="rId14" imgW="124560" imgH="166680" progId="Equation.Ribbit">
                  <p:embed/>
                  <p:pic>
                    <p:nvPicPr>
                      <p:cNvPr id="18" name="对象 17"/>
                      <p:cNvPicPr/>
                      <p:nvPr/>
                    </p:nvPicPr>
                    <p:blipFill>
                      <a:blip r:embed="rId15"/>
                      <a:stretch>
                        <a:fillRect/>
                      </a:stretch>
                    </p:blipFill>
                    <p:spPr>
                      <a:xfrm>
                        <a:off x="7821613" y="1884653"/>
                        <a:ext cx="200025" cy="269875"/>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656673217"/>
              </p:ext>
            </p:extLst>
          </p:nvPr>
        </p:nvGraphicFramePr>
        <p:xfrm>
          <a:off x="6388100" y="4624646"/>
          <a:ext cx="188913" cy="304800"/>
        </p:xfrm>
        <a:graphic>
          <a:graphicData uri="http://schemas.openxmlformats.org/presentationml/2006/ole">
            <mc:AlternateContent xmlns:mc="http://schemas.openxmlformats.org/markup-compatibility/2006">
              <mc:Choice xmlns:v="urn:schemas-microsoft-com:vml" Requires="v">
                <p:oleObj name="Formula" r:id="rId6" imgW="80280" imgH="129600" progId="Equation.Ribbit">
                  <p:embed/>
                </p:oleObj>
              </mc:Choice>
              <mc:Fallback>
                <p:oleObj name="Formula" r:id="rId6" imgW="80280" imgH="129600" progId="Equation.Ribbit">
                  <p:embed/>
                  <p:pic>
                    <p:nvPicPr>
                      <p:cNvPr id="19" name="对象 18"/>
                      <p:cNvPicPr/>
                      <p:nvPr/>
                    </p:nvPicPr>
                    <p:blipFill>
                      <a:blip r:embed="rId7"/>
                      <a:stretch>
                        <a:fillRect/>
                      </a:stretch>
                    </p:blipFill>
                    <p:spPr>
                      <a:xfrm>
                        <a:off x="6388100" y="4624646"/>
                        <a:ext cx="188913" cy="304800"/>
                      </a:xfrm>
                      <a:prstGeom prst="rect">
                        <a:avLst/>
                      </a:prstGeom>
                    </p:spPr>
                  </p:pic>
                </p:oleObj>
              </mc:Fallback>
            </mc:AlternateContent>
          </a:graphicData>
        </a:graphic>
      </p:graphicFrame>
    </p:spTree>
    <p:extLst>
      <p:ext uri="{BB962C8B-B14F-4D97-AF65-F5344CB8AC3E}">
        <p14:creationId xmlns:p14="http://schemas.microsoft.com/office/powerpoint/2010/main" val="240464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p:sp>
        <p:nvSpPr>
          <p:cNvPr id="3" name="文本占位符 2"/>
          <p:cNvSpPr>
            <a:spLocks noGrp="1"/>
          </p:cNvSpPr>
          <p:nvPr>
            <p:ph type="body" sz="quarter" idx="13"/>
          </p:nvPr>
        </p:nvSpPr>
        <p:spPr>
          <a:xfrm>
            <a:off x="260350" y="1032635"/>
            <a:ext cx="8629650" cy="457200"/>
          </a:xfrm>
        </p:spPr>
        <p:txBody>
          <a:bodyPr>
            <a:normAutofit lnSpcReduction="10000"/>
          </a:bodyPr>
          <a:lstStyle/>
          <a:p>
            <a:r>
              <a:rPr lang="zh-CN" altLang="en-US" dirty="0"/>
              <a:t>信息增益实例：</a:t>
            </a:r>
            <a:r>
              <a:rPr lang="zh-CN" altLang="en-US" sz="2400" dirty="0"/>
              <a:t>学习一棵能预测是否好瓜的决策树</a:t>
            </a:r>
          </a:p>
        </p:txBody>
      </p:sp>
      <p:sp>
        <p:nvSpPr>
          <p:cNvPr id="19" name="文本框 28"/>
          <p:cNvSpPr txBox="1"/>
          <p:nvPr/>
        </p:nvSpPr>
        <p:spPr>
          <a:xfrm>
            <a:off x="4479438" y="3745280"/>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0" name="文本框 29"/>
          <p:cNvSpPr txBox="1"/>
          <p:nvPr/>
        </p:nvSpPr>
        <p:spPr>
          <a:xfrm>
            <a:off x="4594853" y="3208848"/>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2" name="文本框 31"/>
          <p:cNvSpPr txBox="1"/>
          <p:nvPr/>
        </p:nvSpPr>
        <p:spPr>
          <a:xfrm>
            <a:off x="3745982" y="4761731"/>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3" name="文本框 32"/>
          <p:cNvSpPr txBox="1"/>
          <p:nvPr/>
        </p:nvSpPr>
        <p:spPr>
          <a:xfrm>
            <a:off x="3861397" y="4225299"/>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grpSp>
        <p:nvGrpSpPr>
          <p:cNvPr id="5" name="组合 4">
            <a:extLst>
              <a:ext uri="{FF2B5EF4-FFF2-40B4-BE49-F238E27FC236}">
                <a16:creationId xmlns:a16="http://schemas.microsoft.com/office/drawing/2014/main" id="{EAECF2E5-5671-E48D-6571-05CF2CE17602}"/>
              </a:ext>
            </a:extLst>
          </p:cNvPr>
          <p:cNvGrpSpPr/>
          <p:nvPr/>
        </p:nvGrpSpPr>
        <p:grpSpPr>
          <a:xfrm>
            <a:off x="5585499" y="2964425"/>
            <a:ext cx="2622680" cy="2485039"/>
            <a:chOff x="5650518" y="3246855"/>
            <a:chExt cx="2622680" cy="2485039"/>
          </a:xfrm>
        </p:grpSpPr>
        <p:sp>
          <p:nvSpPr>
            <p:cNvPr id="26" name="文本框 25"/>
            <p:cNvSpPr txBox="1"/>
            <p:nvPr/>
          </p:nvSpPr>
          <p:spPr>
            <a:xfrm>
              <a:off x="5650518" y="3246855"/>
              <a:ext cx="2622680" cy="2485039"/>
            </a:xfrm>
            <a:prstGeom prst="rect">
              <a:avLst/>
            </a:prstGeom>
            <a:noFill/>
          </p:spPr>
          <p:txBody>
            <a:bodyPr wrap="square" rtlCol="0">
              <a:spAutoFit/>
            </a:bodyPr>
            <a:lstStyle/>
            <a:p>
              <a:pPr>
                <a:lnSpc>
                  <a:spcPct val="120000"/>
                </a:lnSpc>
              </a:pPr>
              <a:r>
                <a:rPr lang="zh-CN" altLang="en-US" sz="2200" dirty="0">
                  <a:latin typeface="Verdana" panose="020B0604030504040204" pitchFamily="34" charset="0"/>
                  <a:ea typeface="幼圆" panose="02010509060101010101" pitchFamily="49" charset="-122"/>
                </a:rPr>
                <a:t>该数据集包含</a:t>
              </a:r>
              <a:r>
                <a:rPr lang="en-US" altLang="zh-CN" sz="2200" dirty="0">
                  <a:latin typeface="Verdana" panose="020B0604030504040204" pitchFamily="34" charset="0"/>
                  <a:ea typeface="幼圆" panose="02010509060101010101" pitchFamily="49" charset="-122"/>
                </a:rPr>
                <a:t>   </a:t>
              </a:r>
              <a:r>
                <a:rPr lang="zh-CN" altLang="en-US" sz="2200" dirty="0">
                  <a:latin typeface="Verdana" panose="020B0604030504040204" pitchFamily="34" charset="0"/>
                  <a:ea typeface="幼圆" panose="02010509060101010101" pitchFamily="49" charset="-122"/>
                </a:rPr>
                <a:t>个训练样本</a:t>
              </a:r>
              <a:r>
                <a:rPr lang="zh-CN" altLang="en-US" dirty="0"/>
                <a:t>，         ，</a:t>
              </a:r>
              <a:r>
                <a:rPr lang="zh-CN" altLang="en-US" sz="2200" dirty="0">
                  <a:latin typeface="Verdana" panose="020B0604030504040204" pitchFamily="34" charset="0"/>
                  <a:ea typeface="幼圆" panose="02010509060101010101" pitchFamily="49" charset="-122"/>
                </a:rPr>
                <a:t>其中正例占          ，</a:t>
              </a:r>
              <a:endParaRPr lang="en-US" altLang="zh-CN" sz="2200" dirty="0">
                <a:latin typeface="Verdana" panose="020B0604030504040204" pitchFamily="34" charset="0"/>
                <a:ea typeface="幼圆" panose="02010509060101010101" pitchFamily="49" charset="-122"/>
              </a:endParaRPr>
            </a:p>
            <a:p>
              <a:pPr>
                <a:lnSpc>
                  <a:spcPct val="120000"/>
                </a:lnSpc>
              </a:pPr>
              <a:r>
                <a:rPr lang="zh-CN" altLang="en-US" sz="2200" dirty="0">
                  <a:latin typeface="Verdana" panose="020B0604030504040204" pitchFamily="34" charset="0"/>
                  <a:ea typeface="幼圆" panose="02010509060101010101" pitchFamily="49" charset="-122"/>
                </a:rPr>
                <a:t>反例占         ，计算得到根结点的信息熵为</a:t>
              </a:r>
            </a:p>
          </p:txBody>
        </p:sp>
        <p:graphicFrame>
          <p:nvGraphicFramePr>
            <p:cNvPr id="27" name="对象 26"/>
            <p:cNvGraphicFramePr>
              <a:graphicFrameLocks noChangeAspect="1"/>
            </p:cNvGraphicFramePr>
            <p:nvPr>
              <p:extLst>
                <p:ext uri="{D42A27DB-BD31-4B8C-83A1-F6EECF244321}">
                  <p14:modId xmlns:p14="http://schemas.microsoft.com/office/powerpoint/2010/main" val="2556127132"/>
                </p:ext>
              </p:extLst>
            </p:nvPr>
          </p:nvGraphicFramePr>
          <p:xfrm>
            <a:off x="7023343" y="3752660"/>
            <a:ext cx="755906" cy="292378"/>
          </p:xfrm>
          <a:graphic>
            <a:graphicData uri="http://schemas.openxmlformats.org/presentationml/2006/ole">
              <mc:AlternateContent xmlns:mc="http://schemas.openxmlformats.org/markup-compatibility/2006">
                <mc:Choice xmlns:v="urn:schemas-microsoft-com:vml" Requires="v">
                  <p:oleObj name="Formula" r:id="rId2" imgW="460080" imgH="177840" progId="Equation.Ribbit">
                    <p:embed/>
                  </p:oleObj>
                </mc:Choice>
                <mc:Fallback>
                  <p:oleObj name="Formula" r:id="rId2" imgW="460080" imgH="177840" progId="Equation.Ribbit">
                    <p:embed/>
                    <p:pic>
                      <p:nvPicPr>
                        <p:cNvPr id="27" name="对象 26"/>
                        <p:cNvPicPr/>
                        <p:nvPr/>
                      </p:nvPicPr>
                      <p:blipFill>
                        <a:blip r:embed="rId3"/>
                        <a:stretch>
                          <a:fillRect/>
                        </a:stretch>
                      </p:blipFill>
                      <p:spPr>
                        <a:xfrm>
                          <a:off x="7023343" y="3752660"/>
                          <a:ext cx="755906" cy="292378"/>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130522593"/>
                </p:ext>
              </p:extLst>
            </p:nvPr>
          </p:nvGraphicFramePr>
          <p:xfrm>
            <a:off x="7188200" y="4087846"/>
            <a:ext cx="841375" cy="357188"/>
          </p:xfrm>
          <a:graphic>
            <a:graphicData uri="http://schemas.openxmlformats.org/presentationml/2006/ole">
              <mc:AlternateContent xmlns:mc="http://schemas.openxmlformats.org/markup-compatibility/2006">
                <mc:Choice xmlns:v="urn:schemas-microsoft-com:vml" Requires="v">
                  <p:oleObj name="Formula" r:id="rId4" imgW="478800" imgH="203400" progId="Equation.Ribbit">
                    <p:embed/>
                  </p:oleObj>
                </mc:Choice>
                <mc:Fallback>
                  <p:oleObj name="Formula" r:id="rId4" imgW="478800" imgH="203400" progId="Equation.Ribbit">
                    <p:embed/>
                    <p:pic>
                      <p:nvPicPr>
                        <p:cNvPr id="28" name="对象 27"/>
                        <p:cNvPicPr/>
                        <p:nvPr/>
                      </p:nvPicPr>
                      <p:blipFill>
                        <a:blip r:embed="rId5"/>
                        <a:stretch>
                          <a:fillRect/>
                        </a:stretch>
                      </p:blipFill>
                      <p:spPr>
                        <a:xfrm>
                          <a:off x="7188200" y="4087846"/>
                          <a:ext cx="841375" cy="357188"/>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544734234"/>
                </p:ext>
              </p:extLst>
            </p:nvPr>
          </p:nvGraphicFramePr>
          <p:xfrm>
            <a:off x="6602413" y="4525358"/>
            <a:ext cx="801687" cy="339725"/>
          </p:xfrm>
          <a:graphic>
            <a:graphicData uri="http://schemas.openxmlformats.org/presentationml/2006/ole">
              <mc:AlternateContent xmlns:mc="http://schemas.openxmlformats.org/markup-compatibility/2006">
                <mc:Choice xmlns:v="urn:schemas-microsoft-com:vml" Requires="v">
                  <p:oleObj name="Formula" r:id="rId6" imgW="478800" imgH="203400" progId="Equation.Ribbit">
                    <p:embed/>
                  </p:oleObj>
                </mc:Choice>
                <mc:Fallback>
                  <p:oleObj name="Formula" r:id="rId6" imgW="478800" imgH="203400" progId="Equation.Ribbit">
                    <p:embed/>
                    <p:pic>
                      <p:nvPicPr>
                        <p:cNvPr id="29" name="对象 28"/>
                        <p:cNvPicPr/>
                        <p:nvPr/>
                      </p:nvPicPr>
                      <p:blipFill>
                        <a:blip r:embed="rId7"/>
                        <a:stretch>
                          <a:fillRect/>
                        </a:stretch>
                      </p:blipFill>
                      <p:spPr>
                        <a:xfrm>
                          <a:off x="6602413" y="4525358"/>
                          <a:ext cx="801687" cy="339725"/>
                        </a:xfrm>
                        <a:prstGeom prst="rect">
                          <a:avLst/>
                        </a:prstGeom>
                      </p:spPr>
                    </p:pic>
                  </p:oleObj>
                </mc:Fallback>
              </mc:AlternateContent>
            </a:graphicData>
          </a:graphic>
        </p:graphicFrame>
      </p:grpSp>
      <p:graphicFrame>
        <p:nvGraphicFramePr>
          <p:cNvPr id="31" name="内容占位符 3"/>
          <p:cNvGraphicFramePr>
            <a:graphicFrameLocks noChangeAspect="1"/>
          </p:cNvGraphicFramePr>
          <p:nvPr>
            <p:extLst>
              <p:ext uri="{D42A27DB-BD31-4B8C-83A1-F6EECF244321}">
                <p14:modId xmlns:p14="http://schemas.microsoft.com/office/powerpoint/2010/main" val="2234873594"/>
              </p:ext>
            </p:extLst>
          </p:nvPr>
        </p:nvGraphicFramePr>
        <p:xfrm>
          <a:off x="1136650" y="5403457"/>
          <a:ext cx="6669001" cy="756043"/>
        </p:xfrm>
        <a:graphic>
          <a:graphicData uri="http://schemas.openxmlformats.org/presentationml/2006/ole">
            <mc:AlternateContent xmlns:mc="http://schemas.openxmlformats.org/markup-compatibility/2006">
              <mc:Choice xmlns:v="urn:schemas-microsoft-com:vml" Requires="v">
                <p:oleObj name="Formula" r:id="rId8" imgW="4071960" imgH="460080" progId="Equation.Ribbit">
                  <p:embed/>
                </p:oleObj>
              </mc:Choice>
              <mc:Fallback>
                <p:oleObj name="Formula" r:id="rId8" imgW="4071960" imgH="460080" progId="Equation.Ribbit">
                  <p:embed/>
                  <p:pic>
                    <p:nvPicPr>
                      <p:cNvPr id="31" name="内容占位符 3"/>
                      <p:cNvPicPr/>
                      <p:nvPr/>
                    </p:nvPicPr>
                    <p:blipFill>
                      <a:blip r:embed="rId9"/>
                      <a:stretch>
                        <a:fillRect/>
                      </a:stretch>
                    </p:blipFill>
                    <p:spPr>
                      <a:xfrm>
                        <a:off x="1136650" y="5403457"/>
                        <a:ext cx="6669001" cy="75604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560046218"/>
              </p:ext>
            </p:extLst>
          </p:nvPr>
        </p:nvGraphicFramePr>
        <p:xfrm>
          <a:off x="7383264" y="3086793"/>
          <a:ext cx="266700" cy="304800"/>
        </p:xfrm>
        <a:graphic>
          <a:graphicData uri="http://schemas.openxmlformats.org/presentationml/2006/ole">
            <mc:AlternateContent xmlns:mc="http://schemas.openxmlformats.org/markup-compatibility/2006">
              <mc:Choice xmlns:v="urn:schemas-microsoft-com:vml" Requires="v">
                <p:oleObj name="Formula" r:id="rId10" imgW="145080" imgH="165240" progId="Equation.Ribbit">
                  <p:embed/>
                </p:oleObj>
              </mc:Choice>
              <mc:Fallback>
                <p:oleObj name="Formula" r:id="rId10" imgW="145080" imgH="165240" progId="Equation.Ribbit">
                  <p:embed/>
                  <p:pic>
                    <p:nvPicPr>
                      <p:cNvPr id="4" name="对象 3"/>
                      <p:cNvPicPr/>
                      <p:nvPr/>
                    </p:nvPicPr>
                    <p:blipFill>
                      <a:blip r:embed="rId11"/>
                      <a:stretch>
                        <a:fillRect/>
                      </a:stretch>
                    </p:blipFill>
                    <p:spPr>
                      <a:xfrm>
                        <a:off x="7383264" y="3086793"/>
                        <a:ext cx="266700" cy="304800"/>
                      </a:xfrm>
                      <a:prstGeom prst="rect">
                        <a:avLst/>
                      </a:prstGeom>
                    </p:spPr>
                  </p:pic>
                </p:oleObj>
              </mc:Fallback>
            </mc:AlternateContent>
          </a:graphicData>
        </a:graphic>
      </p:graphicFrame>
      <p:pic>
        <p:nvPicPr>
          <p:cNvPr id="6" name="图片 5"/>
          <p:cNvPicPr>
            <a:picLocks noChangeAspect="1"/>
          </p:cNvPicPr>
          <p:nvPr/>
        </p:nvPicPr>
        <p:blipFill>
          <a:blip r:embed="rId12"/>
          <a:stretch>
            <a:fillRect/>
          </a:stretch>
        </p:blipFill>
        <p:spPr>
          <a:xfrm>
            <a:off x="163065" y="1589590"/>
            <a:ext cx="5422434" cy="3807120"/>
          </a:xfrm>
          <a:prstGeom prst="rect">
            <a:avLst/>
          </a:prstGeom>
        </p:spPr>
      </p:pic>
    </p:spTree>
    <p:extLst>
      <p:ext uri="{BB962C8B-B14F-4D97-AF65-F5344CB8AC3E}">
        <p14:creationId xmlns:p14="http://schemas.microsoft.com/office/powerpoint/2010/main" val="2545073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p:sp>
        <p:nvSpPr>
          <p:cNvPr id="3" name="内容占位符 2"/>
          <p:cNvSpPr>
            <a:spLocks noGrp="1"/>
          </p:cNvSpPr>
          <p:nvPr>
            <p:ph idx="1"/>
          </p:nvPr>
        </p:nvSpPr>
        <p:spPr>
          <a:xfrm>
            <a:off x="51671" y="964883"/>
            <a:ext cx="8616950" cy="4930775"/>
          </a:xfrm>
        </p:spPr>
        <p:txBody>
          <a:bodyPr/>
          <a:lstStyle/>
          <a:p>
            <a:pPr>
              <a:lnSpc>
                <a:spcPct val="120000"/>
              </a:lnSpc>
            </a:pPr>
            <a:r>
              <a:rPr lang="zh-CN" altLang="en-US" dirty="0"/>
              <a:t>以属性“色泽”为例，其对应的</a:t>
            </a:r>
            <a:r>
              <a:rPr lang="en-US" altLang="zh-CN" dirty="0"/>
              <a:t>  </a:t>
            </a:r>
            <a:r>
              <a:rPr lang="zh-CN" altLang="en-US" dirty="0"/>
              <a:t>个数据子集分别为    </a:t>
            </a:r>
            <a:r>
              <a:rPr lang="en-US" altLang="zh-CN" dirty="0"/>
              <a:t>(</a:t>
            </a:r>
            <a:r>
              <a:rPr lang="zh-CN" altLang="en-US" dirty="0"/>
              <a:t>色泽</a:t>
            </a:r>
            <a:r>
              <a:rPr lang="en-US" altLang="zh-CN" dirty="0"/>
              <a:t>=</a:t>
            </a:r>
            <a:r>
              <a:rPr lang="zh-CN" altLang="en-US" dirty="0"/>
              <a:t>青绿</a:t>
            </a:r>
            <a:r>
              <a:rPr lang="en-US" altLang="zh-CN" dirty="0"/>
              <a:t>)</a:t>
            </a:r>
            <a:r>
              <a:rPr lang="zh-CN" altLang="en-US" dirty="0"/>
              <a:t>，  </a:t>
            </a:r>
            <a:r>
              <a:rPr lang="en-US" altLang="zh-CN" dirty="0"/>
              <a:t> (</a:t>
            </a:r>
            <a:r>
              <a:rPr lang="zh-CN" altLang="en-US" dirty="0"/>
              <a:t>色泽</a:t>
            </a:r>
            <a:r>
              <a:rPr lang="en-US" altLang="zh-CN" dirty="0"/>
              <a:t>=</a:t>
            </a:r>
            <a:r>
              <a:rPr lang="zh-CN" altLang="en-US" dirty="0"/>
              <a:t>乌黑</a:t>
            </a:r>
            <a:r>
              <a:rPr lang="en-US" altLang="zh-CN" dirty="0"/>
              <a:t>)</a:t>
            </a:r>
            <a:r>
              <a:rPr lang="zh-CN" altLang="en-US"/>
              <a:t>，  </a:t>
            </a:r>
            <a:r>
              <a:rPr lang="en-US" altLang="zh-CN"/>
              <a:t>(</a:t>
            </a:r>
            <a:r>
              <a:rPr lang="zh-CN" altLang="en-US" dirty="0"/>
              <a:t>色泽</a:t>
            </a:r>
            <a:r>
              <a:rPr lang="en-US" altLang="zh-CN" dirty="0"/>
              <a:t>=</a:t>
            </a:r>
            <a:r>
              <a:rPr lang="zh-CN" altLang="en-US"/>
              <a:t>浅白</a:t>
            </a:r>
            <a:r>
              <a:rPr lang="en-US" altLang="zh-CN"/>
              <a:t>)</a:t>
            </a:r>
          </a:p>
          <a:p>
            <a:pPr>
              <a:lnSpc>
                <a:spcPts val="200"/>
              </a:lnSpc>
            </a:pPr>
            <a:endParaRPr lang="en-US" altLang="zh-CN" dirty="0"/>
          </a:p>
          <a:p>
            <a:r>
              <a:rPr lang="zh-CN" altLang="en-US" dirty="0"/>
              <a:t>子集    包含编号为                        的</a:t>
            </a:r>
            <a:r>
              <a:rPr lang="en-US" altLang="zh-CN" dirty="0"/>
              <a:t>  </a:t>
            </a:r>
            <a:r>
              <a:rPr lang="zh-CN" altLang="en-US" dirty="0"/>
              <a:t>个样例，其中正例占</a:t>
            </a:r>
            <a:endParaRPr lang="en-US" altLang="zh-CN" dirty="0"/>
          </a:p>
          <a:p>
            <a:pPr marL="0" indent="0">
              <a:buNone/>
            </a:pPr>
            <a:r>
              <a:rPr lang="en-US" altLang="zh-CN" dirty="0"/>
              <a:t>             </a:t>
            </a:r>
            <a:r>
              <a:rPr lang="zh-CN" altLang="en-US" dirty="0"/>
              <a:t>，反例占          ，  、   同理，</a:t>
            </a:r>
            <a:r>
              <a:rPr lang="en-US" altLang="zh-CN" dirty="0"/>
              <a:t>  </a:t>
            </a:r>
            <a:r>
              <a:rPr lang="zh-CN" altLang="en-US" dirty="0"/>
              <a:t>个结点的信息熵为：</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lnSpc>
                <a:spcPct val="60000"/>
              </a:lnSpc>
              <a:buNone/>
            </a:pPr>
            <a:endParaRPr lang="en-US" altLang="zh-CN" dirty="0"/>
          </a:p>
          <a:p>
            <a:pPr marL="342900" indent="-342900"/>
            <a:r>
              <a:rPr lang="zh-CN" altLang="en-US" dirty="0"/>
              <a:t>属性“色泽”的信息增益为</a:t>
            </a:r>
            <a:endParaRPr lang="en-US" altLang="zh-CN" dirty="0"/>
          </a:p>
        </p:txBody>
      </p:sp>
      <p:graphicFrame>
        <p:nvGraphicFramePr>
          <p:cNvPr id="4" name="对象 3"/>
          <p:cNvGraphicFramePr>
            <a:graphicFrameLocks noChangeAspect="1"/>
          </p:cNvGraphicFramePr>
          <p:nvPr>
            <p:extLst>
              <p:ext uri="{D42A27DB-BD31-4B8C-83A1-F6EECF244321}">
                <p14:modId xmlns:p14="http://schemas.microsoft.com/office/powerpoint/2010/main" val="1622795021"/>
              </p:ext>
            </p:extLst>
          </p:nvPr>
        </p:nvGraphicFramePr>
        <p:xfrm>
          <a:off x="6918325" y="1094712"/>
          <a:ext cx="307975" cy="317500"/>
        </p:xfrm>
        <a:graphic>
          <a:graphicData uri="http://schemas.openxmlformats.org/presentationml/2006/ole">
            <mc:AlternateContent xmlns:mc="http://schemas.openxmlformats.org/markup-compatibility/2006">
              <mc:Choice xmlns:v="urn:schemas-microsoft-com:vml" Requires="v">
                <p:oleObj name="Formula" r:id="rId2" imgW="177840" imgH="184320" progId="Equation.Ribbit">
                  <p:embed/>
                </p:oleObj>
              </mc:Choice>
              <mc:Fallback>
                <p:oleObj name="Formula" r:id="rId2" imgW="177840" imgH="184320" progId="Equation.Ribbit">
                  <p:embed/>
                  <p:pic>
                    <p:nvPicPr>
                      <p:cNvPr id="4" name="对象 3"/>
                      <p:cNvPicPr/>
                      <p:nvPr/>
                    </p:nvPicPr>
                    <p:blipFill>
                      <a:blip r:embed="rId3"/>
                      <a:stretch>
                        <a:fillRect/>
                      </a:stretch>
                    </p:blipFill>
                    <p:spPr>
                      <a:xfrm>
                        <a:off x="6918325" y="1094712"/>
                        <a:ext cx="307975" cy="3175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01784159"/>
              </p:ext>
            </p:extLst>
          </p:nvPr>
        </p:nvGraphicFramePr>
        <p:xfrm>
          <a:off x="1016000" y="1457327"/>
          <a:ext cx="312738" cy="319088"/>
        </p:xfrm>
        <a:graphic>
          <a:graphicData uri="http://schemas.openxmlformats.org/presentationml/2006/ole">
            <mc:AlternateContent xmlns:mc="http://schemas.openxmlformats.org/markup-compatibility/2006">
              <mc:Choice xmlns:v="urn:schemas-microsoft-com:vml" Requires="v">
                <p:oleObj name="Formula" r:id="rId4" imgW="180360" imgH="184320" progId="Equation.Ribbit">
                  <p:embed/>
                </p:oleObj>
              </mc:Choice>
              <mc:Fallback>
                <p:oleObj name="Formula" r:id="rId4" imgW="180360" imgH="184320" progId="Equation.Ribbit">
                  <p:embed/>
                  <p:pic>
                    <p:nvPicPr>
                      <p:cNvPr id="5" name="对象 4"/>
                      <p:cNvPicPr/>
                      <p:nvPr/>
                    </p:nvPicPr>
                    <p:blipFill>
                      <a:blip r:embed="rId5"/>
                      <a:stretch>
                        <a:fillRect/>
                      </a:stretch>
                    </p:blipFill>
                    <p:spPr>
                      <a:xfrm>
                        <a:off x="1016000" y="1457327"/>
                        <a:ext cx="312738" cy="31908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39485212"/>
              </p:ext>
            </p:extLst>
          </p:nvPr>
        </p:nvGraphicFramePr>
        <p:xfrm>
          <a:off x="3109913" y="1471147"/>
          <a:ext cx="314325" cy="317500"/>
        </p:xfrm>
        <a:graphic>
          <a:graphicData uri="http://schemas.openxmlformats.org/presentationml/2006/ole">
            <mc:AlternateContent xmlns:mc="http://schemas.openxmlformats.org/markup-compatibility/2006">
              <mc:Choice xmlns:v="urn:schemas-microsoft-com:vml" Requires="v">
                <p:oleObj name="Formula" r:id="rId6" imgW="181800" imgH="184320" progId="Equation.Ribbit">
                  <p:embed/>
                </p:oleObj>
              </mc:Choice>
              <mc:Fallback>
                <p:oleObj name="Formula" r:id="rId6" imgW="181800" imgH="184320" progId="Equation.Ribbit">
                  <p:embed/>
                  <p:pic>
                    <p:nvPicPr>
                      <p:cNvPr id="6" name="对象 5"/>
                      <p:cNvPicPr/>
                      <p:nvPr/>
                    </p:nvPicPr>
                    <p:blipFill>
                      <a:blip r:embed="rId7"/>
                      <a:stretch>
                        <a:fillRect/>
                      </a:stretch>
                    </p:blipFill>
                    <p:spPr>
                      <a:xfrm>
                        <a:off x="3109913" y="1471147"/>
                        <a:ext cx="314325" cy="3175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56641466"/>
              </p:ext>
            </p:extLst>
          </p:nvPr>
        </p:nvGraphicFramePr>
        <p:xfrm>
          <a:off x="1093788" y="2108344"/>
          <a:ext cx="306387" cy="319087"/>
        </p:xfrm>
        <a:graphic>
          <a:graphicData uri="http://schemas.openxmlformats.org/presentationml/2006/ole">
            <mc:AlternateContent xmlns:mc="http://schemas.openxmlformats.org/markup-compatibility/2006">
              <mc:Choice xmlns:v="urn:schemas-microsoft-com:vml" Requires="v">
                <p:oleObj name="Formula" r:id="rId2" imgW="177840" imgH="184320" progId="Equation.Ribbit">
                  <p:embed/>
                </p:oleObj>
              </mc:Choice>
              <mc:Fallback>
                <p:oleObj name="Formula" r:id="rId2" imgW="177840" imgH="184320" progId="Equation.Ribbit">
                  <p:embed/>
                  <p:pic>
                    <p:nvPicPr>
                      <p:cNvPr id="7" name="对象 6"/>
                      <p:cNvPicPr/>
                      <p:nvPr/>
                    </p:nvPicPr>
                    <p:blipFill>
                      <a:blip r:embed="rId3"/>
                      <a:stretch>
                        <a:fillRect/>
                      </a:stretch>
                    </p:blipFill>
                    <p:spPr>
                      <a:xfrm>
                        <a:off x="1093788" y="2108344"/>
                        <a:ext cx="306387" cy="31908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465378967"/>
              </p:ext>
            </p:extLst>
          </p:nvPr>
        </p:nvGraphicFramePr>
        <p:xfrm>
          <a:off x="447675" y="2465530"/>
          <a:ext cx="849313" cy="403225"/>
        </p:xfrm>
        <a:graphic>
          <a:graphicData uri="http://schemas.openxmlformats.org/presentationml/2006/ole">
            <mc:AlternateContent xmlns:mc="http://schemas.openxmlformats.org/markup-compatibility/2006">
              <mc:Choice xmlns:v="urn:schemas-microsoft-com:vml" Requires="v">
                <p:oleObj name="Formula" r:id="rId8" imgW="425520" imgH="203400" progId="Equation.Ribbit">
                  <p:embed/>
                </p:oleObj>
              </mc:Choice>
              <mc:Fallback>
                <p:oleObj name="Formula" r:id="rId8" imgW="425520" imgH="203400" progId="Equation.Ribbit">
                  <p:embed/>
                  <p:pic>
                    <p:nvPicPr>
                      <p:cNvPr id="8" name="对象 7"/>
                      <p:cNvPicPr/>
                      <p:nvPr/>
                    </p:nvPicPr>
                    <p:blipFill>
                      <a:blip r:embed="rId9"/>
                      <a:stretch>
                        <a:fillRect/>
                      </a:stretch>
                    </p:blipFill>
                    <p:spPr>
                      <a:xfrm>
                        <a:off x="447675" y="2465530"/>
                        <a:ext cx="849313" cy="40322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34406906"/>
              </p:ext>
            </p:extLst>
          </p:nvPr>
        </p:nvGraphicFramePr>
        <p:xfrm>
          <a:off x="2600325" y="2467118"/>
          <a:ext cx="838200" cy="398462"/>
        </p:xfrm>
        <a:graphic>
          <a:graphicData uri="http://schemas.openxmlformats.org/presentationml/2006/ole">
            <mc:AlternateContent xmlns:mc="http://schemas.openxmlformats.org/markup-compatibility/2006">
              <mc:Choice xmlns:v="urn:schemas-microsoft-com:vml" Requires="v">
                <p:oleObj name="Formula" r:id="rId10" imgW="425520" imgH="203400" progId="Equation.Ribbit">
                  <p:embed/>
                </p:oleObj>
              </mc:Choice>
              <mc:Fallback>
                <p:oleObj name="Formula" r:id="rId10" imgW="425520" imgH="203400" progId="Equation.Ribbit">
                  <p:embed/>
                  <p:pic>
                    <p:nvPicPr>
                      <p:cNvPr id="9" name="对象 8"/>
                      <p:cNvPicPr/>
                      <p:nvPr/>
                    </p:nvPicPr>
                    <p:blipFill>
                      <a:blip r:embed="rId11"/>
                      <a:stretch>
                        <a:fillRect/>
                      </a:stretch>
                    </p:blipFill>
                    <p:spPr>
                      <a:xfrm>
                        <a:off x="2600325" y="2467118"/>
                        <a:ext cx="838200" cy="398462"/>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10959135"/>
              </p:ext>
            </p:extLst>
          </p:nvPr>
        </p:nvGraphicFramePr>
        <p:xfrm>
          <a:off x="3733800" y="2544444"/>
          <a:ext cx="311150" cy="319088"/>
        </p:xfrm>
        <a:graphic>
          <a:graphicData uri="http://schemas.openxmlformats.org/presentationml/2006/ole">
            <mc:AlternateContent xmlns:mc="http://schemas.openxmlformats.org/markup-compatibility/2006">
              <mc:Choice xmlns:v="urn:schemas-microsoft-com:vml" Requires="v">
                <p:oleObj name="Formula" r:id="rId4" imgW="180360" imgH="184320" progId="Equation.Ribbit">
                  <p:embed/>
                </p:oleObj>
              </mc:Choice>
              <mc:Fallback>
                <p:oleObj name="Formula" r:id="rId4" imgW="180360" imgH="184320" progId="Equation.Ribbit">
                  <p:embed/>
                  <p:pic>
                    <p:nvPicPr>
                      <p:cNvPr id="11" name="对象 10"/>
                      <p:cNvPicPr/>
                      <p:nvPr/>
                    </p:nvPicPr>
                    <p:blipFill>
                      <a:blip r:embed="rId5"/>
                      <a:stretch>
                        <a:fillRect/>
                      </a:stretch>
                    </p:blipFill>
                    <p:spPr>
                      <a:xfrm>
                        <a:off x="3733800" y="2544444"/>
                        <a:ext cx="311150" cy="319088"/>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673229553"/>
              </p:ext>
            </p:extLst>
          </p:nvPr>
        </p:nvGraphicFramePr>
        <p:xfrm>
          <a:off x="4203700" y="2544444"/>
          <a:ext cx="314325" cy="319088"/>
        </p:xfrm>
        <a:graphic>
          <a:graphicData uri="http://schemas.openxmlformats.org/presentationml/2006/ole">
            <mc:AlternateContent xmlns:mc="http://schemas.openxmlformats.org/markup-compatibility/2006">
              <mc:Choice xmlns:v="urn:schemas-microsoft-com:vml" Requires="v">
                <p:oleObj name="Formula" r:id="rId6" imgW="181800" imgH="184320" progId="Equation.Ribbit">
                  <p:embed/>
                </p:oleObj>
              </mc:Choice>
              <mc:Fallback>
                <p:oleObj name="Formula" r:id="rId6" imgW="181800" imgH="184320" progId="Equation.Ribbit">
                  <p:embed/>
                  <p:pic>
                    <p:nvPicPr>
                      <p:cNvPr id="14" name="对象 13"/>
                      <p:cNvPicPr/>
                      <p:nvPr/>
                    </p:nvPicPr>
                    <p:blipFill>
                      <a:blip r:embed="rId7"/>
                      <a:stretch>
                        <a:fillRect/>
                      </a:stretch>
                    </p:blipFill>
                    <p:spPr>
                      <a:xfrm>
                        <a:off x="4203700" y="2544444"/>
                        <a:ext cx="314325" cy="319088"/>
                      </a:xfrm>
                      <a:prstGeom prst="rect">
                        <a:avLst/>
                      </a:prstGeom>
                    </p:spPr>
                  </p:pic>
                </p:oleObj>
              </mc:Fallback>
            </mc:AlternateContent>
          </a:graphicData>
        </a:graphic>
      </p:graphicFrame>
      <p:graphicFrame>
        <p:nvGraphicFramePr>
          <p:cNvPr id="17" name="内容占位符 3"/>
          <p:cNvGraphicFramePr>
            <a:graphicFrameLocks noChangeAspect="1"/>
          </p:cNvGraphicFramePr>
          <p:nvPr>
            <p:extLst>
              <p:ext uri="{D42A27DB-BD31-4B8C-83A1-F6EECF244321}">
                <p14:modId xmlns:p14="http://schemas.microsoft.com/office/powerpoint/2010/main" val="2381607455"/>
              </p:ext>
            </p:extLst>
          </p:nvPr>
        </p:nvGraphicFramePr>
        <p:xfrm>
          <a:off x="2146300" y="2968478"/>
          <a:ext cx="4887913" cy="387350"/>
        </p:xfrm>
        <a:graphic>
          <a:graphicData uri="http://schemas.openxmlformats.org/presentationml/2006/ole">
            <mc:AlternateContent xmlns:mc="http://schemas.openxmlformats.org/markup-compatibility/2006">
              <mc:Choice xmlns:v="urn:schemas-microsoft-com:vml" Requires="v">
                <p:oleObj name="Formula" r:id="rId12" imgW="2583360" imgH="203400" progId="Equation.Ribbit">
                  <p:embed/>
                </p:oleObj>
              </mc:Choice>
              <mc:Fallback>
                <p:oleObj name="Formula" r:id="rId12" imgW="2583360" imgH="203400" progId="Equation.Ribbit">
                  <p:embed/>
                  <p:pic>
                    <p:nvPicPr>
                      <p:cNvPr id="17" name="内容占位符 3"/>
                      <p:cNvPicPr/>
                      <p:nvPr/>
                    </p:nvPicPr>
                    <p:blipFill>
                      <a:blip r:embed="rId13"/>
                      <a:stretch>
                        <a:fillRect/>
                      </a:stretch>
                    </p:blipFill>
                    <p:spPr>
                      <a:xfrm>
                        <a:off x="2146300" y="2968478"/>
                        <a:ext cx="4887913" cy="387350"/>
                      </a:xfrm>
                      <a:prstGeom prst="rect">
                        <a:avLst/>
                      </a:prstGeom>
                    </p:spPr>
                  </p:pic>
                </p:oleObj>
              </mc:Fallback>
            </mc:AlternateContent>
          </a:graphicData>
        </a:graphic>
      </p:graphicFrame>
      <p:graphicFrame>
        <p:nvGraphicFramePr>
          <p:cNvPr id="21" name="内容占位符 3"/>
          <p:cNvGraphicFramePr>
            <a:graphicFrameLocks noChangeAspect="1"/>
          </p:cNvGraphicFramePr>
          <p:nvPr>
            <p:extLst>
              <p:ext uri="{D42A27DB-BD31-4B8C-83A1-F6EECF244321}">
                <p14:modId xmlns:p14="http://schemas.microsoft.com/office/powerpoint/2010/main" val="2085379534"/>
              </p:ext>
            </p:extLst>
          </p:nvPr>
        </p:nvGraphicFramePr>
        <p:xfrm>
          <a:off x="2146300" y="3463778"/>
          <a:ext cx="4887913" cy="388937"/>
        </p:xfrm>
        <a:graphic>
          <a:graphicData uri="http://schemas.openxmlformats.org/presentationml/2006/ole">
            <mc:AlternateContent xmlns:mc="http://schemas.openxmlformats.org/markup-compatibility/2006">
              <mc:Choice xmlns:v="urn:schemas-microsoft-com:vml" Requires="v">
                <p:oleObj name="Formula" r:id="rId14" imgW="2583360" imgH="204480" progId="Equation.Ribbit">
                  <p:embed/>
                </p:oleObj>
              </mc:Choice>
              <mc:Fallback>
                <p:oleObj name="Formula" r:id="rId14" imgW="2583360" imgH="204480" progId="Equation.Ribbit">
                  <p:embed/>
                  <p:pic>
                    <p:nvPicPr>
                      <p:cNvPr id="21" name="内容占位符 3"/>
                      <p:cNvPicPr/>
                      <p:nvPr/>
                    </p:nvPicPr>
                    <p:blipFill>
                      <a:blip r:embed="rId15"/>
                      <a:stretch>
                        <a:fillRect/>
                      </a:stretch>
                    </p:blipFill>
                    <p:spPr>
                      <a:xfrm>
                        <a:off x="2146300" y="3463778"/>
                        <a:ext cx="4887913" cy="388937"/>
                      </a:xfrm>
                      <a:prstGeom prst="rect">
                        <a:avLst/>
                      </a:prstGeom>
                    </p:spPr>
                  </p:pic>
                </p:oleObj>
              </mc:Fallback>
            </mc:AlternateContent>
          </a:graphicData>
        </a:graphic>
      </p:graphicFrame>
      <p:graphicFrame>
        <p:nvGraphicFramePr>
          <p:cNvPr id="22" name="内容占位符 3"/>
          <p:cNvGraphicFramePr>
            <a:graphicFrameLocks noChangeAspect="1"/>
          </p:cNvGraphicFramePr>
          <p:nvPr>
            <p:extLst>
              <p:ext uri="{D42A27DB-BD31-4B8C-83A1-F6EECF244321}">
                <p14:modId xmlns:p14="http://schemas.microsoft.com/office/powerpoint/2010/main" val="3377172453"/>
              </p:ext>
            </p:extLst>
          </p:nvPr>
        </p:nvGraphicFramePr>
        <p:xfrm>
          <a:off x="2146300" y="3957490"/>
          <a:ext cx="4887913" cy="388938"/>
        </p:xfrm>
        <a:graphic>
          <a:graphicData uri="http://schemas.openxmlformats.org/presentationml/2006/ole">
            <mc:AlternateContent xmlns:mc="http://schemas.openxmlformats.org/markup-compatibility/2006">
              <mc:Choice xmlns:v="urn:schemas-microsoft-com:vml" Requires="v">
                <p:oleObj name="Formula" r:id="rId16" imgW="2581920" imgH="204480" progId="Equation.Ribbit">
                  <p:embed/>
                </p:oleObj>
              </mc:Choice>
              <mc:Fallback>
                <p:oleObj name="Formula" r:id="rId16" imgW="2581920" imgH="204480" progId="Equation.Ribbit">
                  <p:embed/>
                  <p:pic>
                    <p:nvPicPr>
                      <p:cNvPr id="22" name="内容占位符 3"/>
                      <p:cNvPicPr/>
                      <p:nvPr/>
                    </p:nvPicPr>
                    <p:blipFill>
                      <a:blip r:embed="rId17"/>
                      <a:stretch>
                        <a:fillRect/>
                      </a:stretch>
                    </p:blipFill>
                    <p:spPr>
                      <a:xfrm>
                        <a:off x="2146300" y="3957490"/>
                        <a:ext cx="4887913" cy="388938"/>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993637917"/>
              </p:ext>
            </p:extLst>
          </p:nvPr>
        </p:nvGraphicFramePr>
        <p:xfrm>
          <a:off x="1076787" y="4818726"/>
          <a:ext cx="4506913" cy="722313"/>
        </p:xfrm>
        <a:graphic>
          <a:graphicData uri="http://schemas.openxmlformats.org/presentationml/2006/ole">
            <mc:AlternateContent xmlns:mc="http://schemas.openxmlformats.org/markup-compatibility/2006">
              <mc:Choice xmlns:v="urn:schemas-microsoft-com:vml" Requires="v">
                <p:oleObj name="Formula" r:id="rId18" imgW="2876760" imgH="461160" progId="Equation.Ribbit">
                  <p:embed/>
                </p:oleObj>
              </mc:Choice>
              <mc:Fallback>
                <p:oleObj name="Formula" r:id="rId18" imgW="2876760" imgH="461160" progId="Equation.Ribbit">
                  <p:embed/>
                  <p:pic>
                    <p:nvPicPr>
                      <p:cNvPr id="26" name="对象 25"/>
                      <p:cNvPicPr/>
                      <p:nvPr/>
                    </p:nvPicPr>
                    <p:blipFill>
                      <a:blip r:embed="rId19"/>
                      <a:stretch>
                        <a:fillRect/>
                      </a:stretch>
                    </p:blipFill>
                    <p:spPr>
                      <a:xfrm>
                        <a:off x="1076787" y="4818726"/>
                        <a:ext cx="4506913" cy="722313"/>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784965969"/>
              </p:ext>
            </p:extLst>
          </p:nvPr>
        </p:nvGraphicFramePr>
        <p:xfrm>
          <a:off x="2591262" y="5564851"/>
          <a:ext cx="5343525" cy="346075"/>
        </p:xfrm>
        <a:graphic>
          <a:graphicData uri="http://schemas.openxmlformats.org/presentationml/2006/ole">
            <mc:AlternateContent xmlns:mc="http://schemas.openxmlformats.org/markup-compatibility/2006">
              <mc:Choice xmlns:v="urn:schemas-microsoft-com:vml" Requires="v">
                <p:oleObj name="Formula" r:id="rId20" imgW="3139560" imgH="203400" progId="Equation.Ribbit">
                  <p:embed/>
                </p:oleObj>
              </mc:Choice>
              <mc:Fallback>
                <p:oleObj name="Formula" r:id="rId20" imgW="3139560" imgH="203400" progId="Equation.Ribbit">
                  <p:embed/>
                  <p:pic>
                    <p:nvPicPr>
                      <p:cNvPr id="27" name="对象 26"/>
                      <p:cNvPicPr/>
                      <p:nvPr/>
                    </p:nvPicPr>
                    <p:blipFill>
                      <a:blip r:embed="rId21"/>
                      <a:stretch>
                        <a:fillRect/>
                      </a:stretch>
                    </p:blipFill>
                    <p:spPr>
                      <a:xfrm>
                        <a:off x="2591262" y="5564851"/>
                        <a:ext cx="5343525" cy="34607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87232586"/>
              </p:ext>
            </p:extLst>
          </p:nvPr>
        </p:nvGraphicFramePr>
        <p:xfrm>
          <a:off x="2592850" y="5990301"/>
          <a:ext cx="828675" cy="273050"/>
        </p:xfrm>
        <a:graphic>
          <a:graphicData uri="http://schemas.openxmlformats.org/presentationml/2006/ole">
            <mc:AlternateContent xmlns:mc="http://schemas.openxmlformats.org/markup-compatibility/2006">
              <mc:Choice xmlns:v="urn:schemas-microsoft-com:vml" Requires="v">
                <p:oleObj name="Formula" r:id="rId22" imgW="495360" imgH="162720" progId="Equation.Ribbit">
                  <p:embed/>
                </p:oleObj>
              </mc:Choice>
              <mc:Fallback>
                <p:oleObj name="Formula" r:id="rId22" imgW="495360" imgH="162720" progId="Equation.Ribbit">
                  <p:embed/>
                  <p:pic>
                    <p:nvPicPr>
                      <p:cNvPr id="28" name="对象 27"/>
                      <p:cNvPicPr/>
                      <p:nvPr/>
                    </p:nvPicPr>
                    <p:blipFill>
                      <a:blip r:embed="rId23"/>
                      <a:stretch>
                        <a:fillRect/>
                      </a:stretch>
                    </p:blipFill>
                    <p:spPr>
                      <a:xfrm>
                        <a:off x="2592850" y="5990301"/>
                        <a:ext cx="828675" cy="27305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698272530"/>
              </p:ext>
            </p:extLst>
          </p:nvPr>
        </p:nvGraphicFramePr>
        <p:xfrm>
          <a:off x="2846388" y="2096770"/>
          <a:ext cx="2363787" cy="366713"/>
        </p:xfrm>
        <a:graphic>
          <a:graphicData uri="http://schemas.openxmlformats.org/presentationml/2006/ole">
            <mc:AlternateContent xmlns:mc="http://schemas.openxmlformats.org/markup-compatibility/2006">
              <mc:Choice xmlns:v="urn:schemas-microsoft-com:vml" Requires="v">
                <p:oleObj name="Formula" r:id="rId24" imgW="1144440" imgH="177840" progId="Equation.Ribbit">
                  <p:embed/>
                </p:oleObj>
              </mc:Choice>
              <mc:Fallback>
                <p:oleObj name="Formula" r:id="rId24" imgW="1144440" imgH="177840" progId="Equation.Ribbit">
                  <p:embed/>
                  <p:pic>
                    <p:nvPicPr>
                      <p:cNvPr id="10" name="对象 9"/>
                      <p:cNvPicPr/>
                      <p:nvPr/>
                    </p:nvPicPr>
                    <p:blipFill>
                      <a:blip r:embed="rId25"/>
                      <a:stretch>
                        <a:fillRect/>
                      </a:stretch>
                    </p:blipFill>
                    <p:spPr>
                      <a:xfrm>
                        <a:off x="2846388" y="2096770"/>
                        <a:ext cx="2363787" cy="36671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85154492"/>
              </p:ext>
            </p:extLst>
          </p:nvPr>
        </p:nvGraphicFramePr>
        <p:xfrm>
          <a:off x="5525730" y="2108344"/>
          <a:ext cx="158750" cy="347662"/>
        </p:xfrm>
        <a:graphic>
          <a:graphicData uri="http://schemas.openxmlformats.org/presentationml/2006/ole">
            <mc:AlternateContent xmlns:mc="http://schemas.openxmlformats.org/markup-compatibility/2006">
              <mc:Choice xmlns:v="urn:schemas-microsoft-com:vml" Requires="v">
                <p:oleObj name="Formula" r:id="rId26" imgW="75240" imgH="162720" progId="Equation.Ribbit">
                  <p:embed/>
                </p:oleObj>
              </mc:Choice>
              <mc:Fallback>
                <p:oleObj name="Formula" r:id="rId26" imgW="75240" imgH="162720" progId="Equation.Ribbit">
                  <p:embed/>
                  <p:pic>
                    <p:nvPicPr>
                      <p:cNvPr id="12" name="对象 11"/>
                      <p:cNvPicPr/>
                      <p:nvPr/>
                    </p:nvPicPr>
                    <p:blipFill>
                      <a:blip r:embed="rId27"/>
                      <a:stretch>
                        <a:fillRect/>
                      </a:stretch>
                    </p:blipFill>
                    <p:spPr>
                      <a:xfrm>
                        <a:off x="5525730" y="2108344"/>
                        <a:ext cx="158750" cy="347662"/>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433495352"/>
              </p:ext>
            </p:extLst>
          </p:nvPr>
        </p:nvGraphicFramePr>
        <p:xfrm>
          <a:off x="5418138" y="2536789"/>
          <a:ext cx="158750" cy="347662"/>
        </p:xfrm>
        <a:graphic>
          <a:graphicData uri="http://schemas.openxmlformats.org/presentationml/2006/ole">
            <mc:AlternateContent xmlns:mc="http://schemas.openxmlformats.org/markup-compatibility/2006">
              <mc:Choice xmlns:v="urn:schemas-microsoft-com:vml" Requires="v">
                <p:oleObj name="Formula" r:id="rId28" imgW="75240" imgH="162720" progId="Equation.Ribbit">
                  <p:embed/>
                </p:oleObj>
              </mc:Choice>
              <mc:Fallback>
                <p:oleObj name="Formula" r:id="rId28" imgW="75240" imgH="162720" progId="Equation.Ribbit">
                  <p:embed/>
                  <p:pic>
                    <p:nvPicPr>
                      <p:cNvPr id="23" name="对象 22"/>
                      <p:cNvPicPr/>
                      <p:nvPr/>
                    </p:nvPicPr>
                    <p:blipFill>
                      <a:blip r:embed="rId29"/>
                      <a:stretch>
                        <a:fillRect/>
                      </a:stretch>
                    </p:blipFill>
                    <p:spPr>
                      <a:xfrm>
                        <a:off x="5418138" y="2536789"/>
                        <a:ext cx="158750" cy="347662"/>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671833213"/>
              </p:ext>
            </p:extLst>
          </p:nvPr>
        </p:nvGraphicFramePr>
        <p:xfrm>
          <a:off x="4438650" y="1078298"/>
          <a:ext cx="149269" cy="330200"/>
        </p:xfrm>
        <a:graphic>
          <a:graphicData uri="http://schemas.openxmlformats.org/presentationml/2006/ole">
            <mc:AlternateContent xmlns:mc="http://schemas.openxmlformats.org/markup-compatibility/2006">
              <mc:Choice xmlns:v="urn:schemas-microsoft-com:vml" Requires="v">
                <p:oleObj name="Formula" r:id="rId30" imgW="75240" imgH="162720" progId="Equation.Ribbit">
                  <p:embed/>
                </p:oleObj>
              </mc:Choice>
              <mc:Fallback>
                <p:oleObj name="Formula" r:id="rId30" imgW="75240" imgH="162720" progId="Equation.Ribbit">
                  <p:embed/>
                  <p:pic>
                    <p:nvPicPr>
                      <p:cNvPr id="24" name="对象 23"/>
                      <p:cNvPicPr/>
                      <p:nvPr/>
                    </p:nvPicPr>
                    <p:blipFill>
                      <a:blip r:embed="rId29"/>
                      <a:stretch>
                        <a:fillRect/>
                      </a:stretch>
                    </p:blipFill>
                    <p:spPr>
                      <a:xfrm>
                        <a:off x="4438650" y="1078298"/>
                        <a:ext cx="149269" cy="330200"/>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58451423"/>
              </p:ext>
            </p:extLst>
          </p:nvPr>
        </p:nvGraphicFramePr>
        <p:xfrm>
          <a:off x="7864475" y="2776935"/>
          <a:ext cx="730250" cy="520303"/>
        </p:xfrm>
        <a:graphic>
          <a:graphicData uri="http://schemas.openxmlformats.org/presentationml/2006/ole">
            <mc:AlternateContent xmlns:mc="http://schemas.openxmlformats.org/markup-compatibility/2006">
              <mc:Choice xmlns:v="urn:schemas-microsoft-com:vml" Requires="v">
                <p:oleObj name="Formula" r:id="rId31" imgW="14040" imgH="0" progId="Equation.Ribbit">
                  <p:embed/>
                </p:oleObj>
              </mc:Choice>
              <mc:Fallback>
                <p:oleObj name="Formula" r:id="rId31" imgW="14040" imgH="0" progId="Equation.Ribbit">
                  <p:embed/>
                  <p:pic>
                    <p:nvPicPr>
                      <p:cNvPr id="25" name="对象 24"/>
                      <p:cNvPicPr/>
                      <p:nvPr/>
                    </p:nvPicPr>
                    <p:blipFill>
                      <a:blip r:embed="rId32"/>
                      <a:stretch>
                        <a:fillRect/>
                      </a:stretch>
                    </p:blipFill>
                    <p:spPr>
                      <a:xfrm>
                        <a:off x="7864475" y="2776935"/>
                        <a:ext cx="730250" cy="520303"/>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082715261"/>
              </p:ext>
            </p:extLst>
          </p:nvPr>
        </p:nvGraphicFramePr>
        <p:xfrm>
          <a:off x="4491038" y="3371850"/>
          <a:ext cx="608996" cy="114300"/>
        </p:xfrm>
        <a:graphic>
          <a:graphicData uri="http://schemas.openxmlformats.org/presentationml/2006/ole">
            <mc:AlternateContent xmlns:mc="http://schemas.openxmlformats.org/markup-compatibility/2006">
              <mc:Choice xmlns:v="urn:schemas-microsoft-com:vml" Requires="v">
                <p:oleObj name="Formula" r:id="rId33" imgW="14040" imgH="0" progId="Equation.Ribbit">
                  <p:embed/>
                </p:oleObj>
              </mc:Choice>
              <mc:Fallback>
                <p:oleObj name="Formula" r:id="rId33" imgW="14040" imgH="0" progId="Equation.Ribbit">
                  <p:embed/>
                  <p:pic>
                    <p:nvPicPr>
                      <p:cNvPr id="18" name="对象 17"/>
                      <p:cNvPicPr/>
                      <p:nvPr/>
                    </p:nvPicPr>
                    <p:blipFill>
                      <a:blip r:embed="rId32"/>
                      <a:stretch>
                        <a:fillRect/>
                      </a:stretch>
                    </p:blipFill>
                    <p:spPr>
                      <a:xfrm>
                        <a:off x="4491038" y="3371850"/>
                        <a:ext cx="608996" cy="114300"/>
                      </a:xfrm>
                      <a:prstGeom prst="rect">
                        <a:avLst/>
                      </a:prstGeom>
                    </p:spPr>
                  </p:pic>
                </p:oleObj>
              </mc:Fallback>
            </mc:AlternateContent>
          </a:graphicData>
        </a:graphic>
      </p:graphicFrame>
    </p:spTree>
    <p:extLst>
      <p:ext uri="{BB962C8B-B14F-4D97-AF65-F5344CB8AC3E}">
        <p14:creationId xmlns:p14="http://schemas.microsoft.com/office/powerpoint/2010/main" val="90722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p:sp>
        <p:nvSpPr>
          <p:cNvPr id="3" name="内容占位符 2"/>
          <p:cNvSpPr>
            <a:spLocks noGrp="1"/>
          </p:cNvSpPr>
          <p:nvPr>
            <p:ph idx="1"/>
          </p:nvPr>
        </p:nvSpPr>
        <p:spPr/>
        <p:txBody>
          <a:bodyPr/>
          <a:lstStyle/>
          <a:p>
            <a:r>
              <a:rPr lang="zh-CN" altLang="en-US" dirty="0"/>
              <a:t>类似的，其他属性的信息增益为</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显然，属性“纹理”的信息增益最大，其被选为划分属性</a:t>
            </a:r>
          </a:p>
        </p:txBody>
      </p:sp>
      <p:graphicFrame>
        <p:nvGraphicFramePr>
          <p:cNvPr id="5" name="对象 4"/>
          <p:cNvGraphicFramePr>
            <a:graphicFrameLocks noChangeAspect="1"/>
          </p:cNvGraphicFramePr>
          <p:nvPr>
            <p:extLst>
              <p:ext uri="{D42A27DB-BD31-4B8C-83A1-F6EECF244321}">
                <p14:modId xmlns:p14="http://schemas.microsoft.com/office/powerpoint/2010/main" val="2375708300"/>
              </p:ext>
            </p:extLst>
          </p:nvPr>
        </p:nvGraphicFramePr>
        <p:xfrm>
          <a:off x="858838" y="1928813"/>
          <a:ext cx="2922587" cy="377825"/>
        </p:xfrm>
        <a:graphic>
          <a:graphicData uri="http://schemas.openxmlformats.org/presentationml/2006/ole">
            <mc:AlternateContent xmlns:mc="http://schemas.openxmlformats.org/markup-compatibility/2006">
              <mc:Choice xmlns:v="urn:schemas-microsoft-com:vml" Requires="v">
                <p:oleObj name="Formula" r:id="rId3" imgW="1465920" imgH="188280" progId="Equation.Ribbit">
                  <p:embed/>
                </p:oleObj>
              </mc:Choice>
              <mc:Fallback>
                <p:oleObj name="Formula" r:id="rId3" imgW="1465920" imgH="188280" progId="Equation.Ribbit">
                  <p:embed/>
                  <p:pic>
                    <p:nvPicPr>
                      <p:cNvPr id="5" name="对象 4"/>
                      <p:cNvPicPr/>
                      <p:nvPr/>
                    </p:nvPicPr>
                    <p:blipFill>
                      <a:blip r:embed="rId4"/>
                      <a:stretch>
                        <a:fillRect/>
                      </a:stretch>
                    </p:blipFill>
                    <p:spPr>
                      <a:xfrm>
                        <a:off x="858838" y="1928813"/>
                        <a:ext cx="2922587" cy="377825"/>
                      </a:xfrm>
                      <a:prstGeom prst="rect">
                        <a:avLst/>
                      </a:prstGeom>
                    </p:spPr>
                  </p:pic>
                </p:oleObj>
              </mc:Fallback>
            </mc:AlternateContent>
          </a:graphicData>
        </a:graphic>
      </p:graphicFrame>
      <p:cxnSp>
        <p:nvCxnSpPr>
          <p:cNvPr id="16" name="直接连接符 15"/>
          <p:cNvCxnSpPr/>
          <p:nvPr/>
        </p:nvCxnSpPr>
        <p:spPr>
          <a:xfrm>
            <a:off x="5197228" y="4761071"/>
            <a:ext cx="2203197" cy="631503"/>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flipH="1">
            <a:off x="2252888" y="4755298"/>
            <a:ext cx="2077319" cy="579765"/>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a:stCxn id="24" idx="2"/>
            <a:endCxn id="25" idx="0"/>
          </p:cNvCxnSpPr>
          <p:nvPr/>
        </p:nvCxnSpPr>
        <p:spPr>
          <a:xfrm>
            <a:off x="4590325" y="4741649"/>
            <a:ext cx="683816" cy="644360"/>
          </a:xfrm>
          <a:prstGeom prst="line">
            <a:avLst/>
          </a:prstGeom>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2348509" y="4917030"/>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清晰</a:t>
            </a:r>
          </a:p>
        </p:txBody>
      </p:sp>
      <p:sp>
        <p:nvSpPr>
          <p:cNvPr id="20" name="文本框 19"/>
          <p:cNvSpPr txBox="1"/>
          <p:nvPr/>
        </p:nvSpPr>
        <p:spPr>
          <a:xfrm>
            <a:off x="4457904" y="4952082"/>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稍糊</a:t>
            </a:r>
          </a:p>
        </p:txBody>
      </p:sp>
      <p:sp>
        <p:nvSpPr>
          <p:cNvPr id="21" name="文本框 20"/>
          <p:cNvSpPr txBox="1"/>
          <p:nvPr/>
        </p:nvSpPr>
        <p:spPr>
          <a:xfrm>
            <a:off x="6845447" y="4917030"/>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模糊</a:t>
            </a:r>
          </a:p>
        </p:txBody>
      </p:sp>
      <p:sp>
        <p:nvSpPr>
          <p:cNvPr id="22" name="圆角矩形 21"/>
          <p:cNvSpPr/>
          <p:nvPr/>
        </p:nvSpPr>
        <p:spPr>
          <a:xfrm>
            <a:off x="1171711" y="5370617"/>
            <a:ext cx="2634232"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dirty="0">
                <a:latin typeface="Times" panose="02020603060405020304" pitchFamily="18" charset="0"/>
              </a:rPr>
              <a:t>{1,2,3,4,5,6,8,10,15}</a:t>
            </a:r>
            <a:endParaRPr lang="zh-CN" altLang="en-US" sz="2200" dirty="0">
              <a:latin typeface="Times" panose="02020603060405020304" pitchFamily="18" charset="0"/>
            </a:endParaRPr>
          </a:p>
        </p:txBody>
      </p:sp>
      <p:sp>
        <p:nvSpPr>
          <p:cNvPr id="24" name="圆角矩形 23"/>
          <p:cNvSpPr/>
          <p:nvPr/>
        </p:nvSpPr>
        <p:spPr>
          <a:xfrm>
            <a:off x="3870325" y="4309649"/>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纹理</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25" name="圆角矩形 24"/>
          <p:cNvSpPr/>
          <p:nvPr/>
        </p:nvSpPr>
        <p:spPr>
          <a:xfrm>
            <a:off x="4311956" y="5386009"/>
            <a:ext cx="192436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dirty="0">
                <a:latin typeface="Times" panose="02020603060405020304" pitchFamily="18" charset="0"/>
              </a:rPr>
              <a:t>{7,9,13,14,17}</a:t>
            </a:r>
            <a:endParaRPr lang="zh-CN" altLang="en-US" sz="2200" dirty="0">
              <a:latin typeface="Times" panose="02020603060405020304" pitchFamily="18" charset="0"/>
            </a:endParaRPr>
          </a:p>
        </p:txBody>
      </p:sp>
      <p:sp>
        <p:nvSpPr>
          <p:cNvPr id="49" name="圆角矩形 48"/>
          <p:cNvSpPr/>
          <p:nvPr/>
        </p:nvSpPr>
        <p:spPr>
          <a:xfrm>
            <a:off x="6640889" y="5358103"/>
            <a:ext cx="192436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dirty="0">
                <a:latin typeface="Times" panose="02020603060405020304" pitchFamily="18" charset="0"/>
              </a:rPr>
              <a:t>{11,12,16}</a:t>
            </a:r>
            <a:endParaRPr lang="zh-CN" altLang="en-US" sz="2200" dirty="0">
              <a:latin typeface="Times" panose="02020603060405020304" pitchFamily="18" charset="0"/>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1683008955"/>
              </p:ext>
            </p:extLst>
          </p:nvPr>
        </p:nvGraphicFramePr>
        <p:xfrm>
          <a:off x="4583113" y="1931988"/>
          <a:ext cx="2884487" cy="374650"/>
        </p:xfrm>
        <a:graphic>
          <a:graphicData uri="http://schemas.openxmlformats.org/presentationml/2006/ole">
            <mc:AlternateContent xmlns:mc="http://schemas.openxmlformats.org/markup-compatibility/2006">
              <mc:Choice xmlns:v="urn:schemas-microsoft-com:vml" Requires="v">
                <p:oleObj name="Formula" r:id="rId5" imgW="1459440" imgH="188280" progId="Equation.Ribbit">
                  <p:embed/>
                </p:oleObj>
              </mc:Choice>
              <mc:Fallback>
                <p:oleObj name="Formula" r:id="rId5" imgW="1459440" imgH="188280" progId="Equation.Ribbit">
                  <p:embed/>
                  <p:pic>
                    <p:nvPicPr>
                      <p:cNvPr id="26" name="对象 25"/>
                      <p:cNvPicPr/>
                      <p:nvPr/>
                    </p:nvPicPr>
                    <p:blipFill>
                      <a:blip r:embed="rId6"/>
                      <a:stretch>
                        <a:fillRect/>
                      </a:stretch>
                    </p:blipFill>
                    <p:spPr>
                      <a:xfrm>
                        <a:off x="4583113" y="1931988"/>
                        <a:ext cx="2884487" cy="374650"/>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2629067446"/>
              </p:ext>
            </p:extLst>
          </p:nvPr>
        </p:nvGraphicFramePr>
        <p:xfrm>
          <a:off x="855663" y="2427288"/>
          <a:ext cx="2940050" cy="374650"/>
        </p:xfrm>
        <a:graphic>
          <a:graphicData uri="http://schemas.openxmlformats.org/presentationml/2006/ole">
            <mc:AlternateContent xmlns:mc="http://schemas.openxmlformats.org/markup-compatibility/2006">
              <mc:Choice xmlns:v="urn:schemas-microsoft-com:vml" Requires="v">
                <p:oleObj name="Formula" r:id="rId7" imgW="1459440" imgH="185760" progId="Equation.Ribbit">
                  <p:embed/>
                </p:oleObj>
              </mc:Choice>
              <mc:Fallback>
                <p:oleObj name="Formula" r:id="rId7" imgW="1459440" imgH="185760" progId="Equation.Ribbit">
                  <p:embed/>
                  <p:pic>
                    <p:nvPicPr>
                      <p:cNvPr id="27" name="对象 26"/>
                      <p:cNvPicPr/>
                      <p:nvPr/>
                    </p:nvPicPr>
                    <p:blipFill>
                      <a:blip r:embed="rId8"/>
                      <a:stretch>
                        <a:fillRect/>
                      </a:stretch>
                    </p:blipFill>
                    <p:spPr>
                      <a:xfrm>
                        <a:off x="855663" y="2427288"/>
                        <a:ext cx="2940050" cy="374650"/>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4206711576"/>
              </p:ext>
            </p:extLst>
          </p:nvPr>
        </p:nvGraphicFramePr>
        <p:xfrm>
          <a:off x="4583113" y="2422525"/>
          <a:ext cx="2954337" cy="377825"/>
        </p:xfrm>
        <a:graphic>
          <a:graphicData uri="http://schemas.openxmlformats.org/presentationml/2006/ole">
            <mc:AlternateContent xmlns:mc="http://schemas.openxmlformats.org/markup-compatibility/2006">
              <mc:Choice xmlns:v="urn:schemas-microsoft-com:vml" Requires="v">
                <p:oleObj name="Formula" r:id="rId9" imgW="1465920" imgH="186840" progId="Equation.Ribbit">
                  <p:embed/>
                </p:oleObj>
              </mc:Choice>
              <mc:Fallback>
                <p:oleObj name="Formula" r:id="rId9" imgW="1465920" imgH="186840" progId="Equation.Ribbit">
                  <p:embed/>
                  <p:pic>
                    <p:nvPicPr>
                      <p:cNvPr id="28" name="对象 27"/>
                      <p:cNvPicPr/>
                      <p:nvPr/>
                    </p:nvPicPr>
                    <p:blipFill>
                      <a:blip r:embed="rId10"/>
                      <a:stretch>
                        <a:fillRect/>
                      </a:stretch>
                    </p:blipFill>
                    <p:spPr>
                      <a:xfrm>
                        <a:off x="4583113" y="2422525"/>
                        <a:ext cx="2954337" cy="37782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90925636"/>
              </p:ext>
            </p:extLst>
          </p:nvPr>
        </p:nvGraphicFramePr>
        <p:xfrm>
          <a:off x="855663" y="2884488"/>
          <a:ext cx="2925762" cy="377825"/>
        </p:xfrm>
        <a:graphic>
          <a:graphicData uri="http://schemas.openxmlformats.org/presentationml/2006/ole">
            <mc:AlternateContent xmlns:mc="http://schemas.openxmlformats.org/markup-compatibility/2006">
              <mc:Choice xmlns:v="urn:schemas-microsoft-com:vml" Requires="v">
                <p:oleObj name="Formula" r:id="rId11" imgW="1465920" imgH="188280" progId="Equation.Ribbit">
                  <p:embed/>
                </p:oleObj>
              </mc:Choice>
              <mc:Fallback>
                <p:oleObj name="Formula" r:id="rId11" imgW="1465920" imgH="188280" progId="Equation.Ribbit">
                  <p:embed/>
                  <p:pic>
                    <p:nvPicPr>
                      <p:cNvPr id="4" name="对象 3"/>
                      <p:cNvPicPr/>
                      <p:nvPr/>
                    </p:nvPicPr>
                    <p:blipFill>
                      <a:blip r:embed="rId12"/>
                      <a:stretch>
                        <a:fillRect/>
                      </a:stretch>
                    </p:blipFill>
                    <p:spPr>
                      <a:xfrm>
                        <a:off x="855663" y="2884488"/>
                        <a:ext cx="2925762" cy="377825"/>
                      </a:xfrm>
                      <a:prstGeom prst="rect">
                        <a:avLst/>
                      </a:prstGeom>
                    </p:spPr>
                  </p:pic>
                </p:oleObj>
              </mc:Fallback>
            </mc:AlternateContent>
          </a:graphicData>
        </a:graphic>
      </p:graphicFrame>
    </p:spTree>
    <p:extLst>
      <p:ext uri="{BB962C8B-B14F-4D97-AF65-F5344CB8AC3E}">
        <p14:creationId xmlns:p14="http://schemas.microsoft.com/office/powerpoint/2010/main" val="390070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animBg="1"/>
      <p:bldP spid="24" grpId="0" animBg="1"/>
      <p:bldP spid="25" grpId="0" animBg="1"/>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p:sp>
        <p:nvSpPr>
          <p:cNvPr id="3" name="内容占位符 2"/>
          <p:cNvSpPr>
            <a:spLocks noGrp="1"/>
          </p:cNvSpPr>
          <p:nvPr>
            <p:ph idx="1"/>
          </p:nvPr>
        </p:nvSpPr>
        <p:spPr>
          <a:xfrm>
            <a:off x="260350" y="1000594"/>
            <a:ext cx="8616950" cy="4930775"/>
          </a:xfrm>
        </p:spPr>
        <p:txBody>
          <a:bodyPr/>
          <a:lstStyle/>
          <a:p>
            <a:pPr>
              <a:lnSpc>
                <a:spcPct val="130000"/>
              </a:lnSpc>
            </a:pPr>
            <a:r>
              <a:rPr lang="zh-CN" altLang="en-US" dirty="0"/>
              <a:t>决策树学习算法将对每个分支结点做</a:t>
            </a:r>
            <a:r>
              <a:rPr lang="zh-CN" altLang="en-US"/>
              <a:t>进一步划分。以第一个分支结点（纹理</a:t>
            </a:r>
            <a:r>
              <a:rPr lang="en-US" altLang="zh-CN"/>
              <a:t>=</a:t>
            </a:r>
            <a:r>
              <a:rPr lang="zh-CN" altLang="en-US"/>
              <a:t>清晰）为例，基于                              ，计算其他各个属性的信息增益：</a:t>
            </a:r>
            <a:endParaRPr lang="zh-CN" altLang="en-US" dirty="0"/>
          </a:p>
        </p:txBody>
      </p:sp>
      <p:sp>
        <p:nvSpPr>
          <p:cNvPr id="45" name="圆角矩形 21">
            <a:extLst>
              <a:ext uri="{FF2B5EF4-FFF2-40B4-BE49-F238E27FC236}">
                <a16:creationId xmlns:a16="http://schemas.microsoft.com/office/drawing/2014/main" id="{A16638A7-8748-839D-9D11-515F90956D7D}"/>
              </a:ext>
            </a:extLst>
          </p:cNvPr>
          <p:cNvSpPr/>
          <p:nvPr/>
        </p:nvSpPr>
        <p:spPr>
          <a:xfrm>
            <a:off x="4455239" y="1530138"/>
            <a:ext cx="2984652" cy="365164"/>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a:latin typeface="Times" panose="02020603060405020304" pitchFamily="18" charset="0"/>
              </a:rPr>
              <a:t>D</a:t>
            </a:r>
            <a:r>
              <a:rPr lang="en-US" altLang="zh-CN" sz="2400" baseline="30000">
                <a:latin typeface="Times" panose="02020603060405020304" pitchFamily="18" charset="0"/>
              </a:rPr>
              <a:t>1</a:t>
            </a:r>
            <a:r>
              <a:rPr lang="en-US" altLang="zh-CN" sz="2200">
                <a:latin typeface="Times" panose="02020603060405020304" pitchFamily="18" charset="0"/>
              </a:rPr>
              <a:t>={1,2,3,4,5,6,8,10,15</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51" name="文本框 50">
            <a:extLst>
              <a:ext uri="{FF2B5EF4-FFF2-40B4-BE49-F238E27FC236}">
                <a16:creationId xmlns:a16="http://schemas.microsoft.com/office/drawing/2014/main" id="{9AE74548-F650-84B6-5332-B791FF0C00D5}"/>
              </a:ext>
            </a:extLst>
          </p:cNvPr>
          <p:cNvSpPr txBox="1"/>
          <p:nvPr/>
        </p:nvSpPr>
        <p:spPr>
          <a:xfrm>
            <a:off x="1122219" y="2568631"/>
            <a:ext cx="2743200" cy="369332"/>
          </a:xfrm>
          <a:prstGeom prst="rect">
            <a:avLst/>
          </a:prstGeom>
          <a:noFill/>
        </p:spPr>
        <p:txBody>
          <a:bodyPr wrap="square" rtlCol="0">
            <a:spAutoFit/>
          </a:bodyPr>
          <a:lstStyle/>
          <a:p>
            <a:r>
              <a:rPr lang="en-US" altLang="zh-CN"/>
              <a:t>Gain(</a:t>
            </a:r>
            <a:r>
              <a:rPr lang="en-US" altLang="zh-CN" sz="1800">
                <a:latin typeface="Times" panose="02020603060405020304" pitchFamily="18" charset="0"/>
              </a:rPr>
              <a:t>D</a:t>
            </a:r>
            <a:r>
              <a:rPr lang="en-US" altLang="zh-CN" sz="1800" baseline="30000">
                <a:latin typeface="Times" panose="02020603060405020304" pitchFamily="18" charset="0"/>
              </a:rPr>
              <a:t>1</a:t>
            </a:r>
            <a:r>
              <a:rPr lang="en-US" altLang="zh-CN" sz="1800">
                <a:latin typeface="Times" panose="02020603060405020304" pitchFamily="18" charset="0"/>
              </a:rPr>
              <a:t>, </a:t>
            </a:r>
            <a:r>
              <a:rPr lang="zh-CN" altLang="en-US" sz="1800">
                <a:latin typeface="Times" panose="02020603060405020304" pitchFamily="18" charset="0"/>
              </a:rPr>
              <a:t>色泽</a:t>
            </a:r>
            <a:r>
              <a:rPr lang="en-US" altLang="zh-CN"/>
              <a:t>)=0.043</a:t>
            </a:r>
            <a:endParaRPr lang="zh-CN" altLang="en-US"/>
          </a:p>
        </p:txBody>
      </p:sp>
      <p:sp>
        <p:nvSpPr>
          <p:cNvPr id="52" name="文本框 51">
            <a:extLst>
              <a:ext uri="{FF2B5EF4-FFF2-40B4-BE49-F238E27FC236}">
                <a16:creationId xmlns:a16="http://schemas.microsoft.com/office/drawing/2014/main" id="{84B541DE-9BC9-66C4-383C-9C5CADA65801}"/>
              </a:ext>
            </a:extLst>
          </p:cNvPr>
          <p:cNvSpPr txBox="1"/>
          <p:nvPr/>
        </p:nvSpPr>
        <p:spPr>
          <a:xfrm>
            <a:off x="3865419" y="2563089"/>
            <a:ext cx="2743200" cy="369332"/>
          </a:xfrm>
          <a:prstGeom prst="rect">
            <a:avLst/>
          </a:prstGeom>
          <a:noFill/>
        </p:spPr>
        <p:txBody>
          <a:bodyPr wrap="square" rtlCol="0">
            <a:spAutoFit/>
          </a:bodyPr>
          <a:lstStyle/>
          <a:p>
            <a:r>
              <a:rPr lang="en-US" altLang="zh-CN"/>
              <a:t>Gain(</a:t>
            </a:r>
            <a:r>
              <a:rPr lang="en-US" altLang="zh-CN" sz="1800">
                <a:latin typeface="Times" panose="02020603060405020304" pitchFamily="18" charset="0"/>
              </a:rPr>
              <a:t>D</a:t>
            </a:r>
            <a:r>
              <a:rPr lang="en-US" altLang="zh-CN" sz="1800" baseline="30000">
                <a:latin typeface="Times" panose="02020603060405020304" pitchFamily="18" charset="0"/>
              </a:rPr>
              <a:t>1</a:t>
            </a:r>
            <a:r>
              <a:rPr lang="en-US" altLang="zh-CN" sz="1800">
                <a:latin typeface="Times" panose="02020603060405020304" pitchFamily="18" charset="0"/>
              </a:rPr>
              <a:t>, </a:t>
            </a:r>
            <a:r>
              <a:rPr lang="zh-CN" altLang="en-US" sz="1800">
                <a:latin typeface="Times" panose="02020603060405020304" pitchFamily="18" charset="0"/>
              </a:rPr>
              <a:t>根蒂</a:t>
            </a:r>
            <a:r>
              <a:rPr lang="en-US" altLang="zh-CN"/>
              <a:t>)=0.458</a:t>
            </a:r>
            <a:endParaRPr lang="zh-CN" altLang="en-US"/>
          </a:p>
        </p:txBody>
      </p:sp>
      <p:sp>
        <p:nvSpPr>
          <p:cNvPr id="53" name="文本框 52">
            <a:extLst>
              <a:ext uri="{FF2B5EF4-FFF2-40B4-BE49-F238E27FC236}">
                <a16:creationId xmlns:a16="http://schemas.microsoft.com/office/drawing/2014/main" id="{652653A2-5F1F-D840-0A19-2E1B5F2B7EE4}"/>
              </a:ext>
            </a:extLst>
          </p:cNvPr>
          <p:cNvSpPr txBox="1"/>
          <p:nvPr/>
        </p:nvSpPr>
        <p:spPr>
          <a:xfrm>
            <a:off x="1122219" y="3055910"/>
            <a:ext cx="2743200" cy="369332"/>
          </a:xfrm>
          <a:prstGeom prst="rect">
            <a:avLst/>
          </a:prstGeom>
          <a:noFill/>
        </p:spPr>
        <p:txBody>
          <a:bodyPr wrap="square" rtlCol="0">
            <a:spAutoFit/>
          </a:bodyPr>
          <a:lstStyle/>
          <a:p>
            <a:r>
              <a:rPr lang="en-US" altLang="zh-CN"/>
              <a:t>Gain(</a:t>
            </a:r>
            <a:r>
              <a:rPr lang="en-US" altLang="zh-CN" sz="1800">
                <a:latin typeface="Times" panose="02020603060405020304" pitchFamily="18" charset="0"/>
              </a:rPr>
              <a:t>D</a:t>
            </a:r>
            <a:r>
              <a:rPr lang="en-US" altLang="zh-CN" sz="1800" baseline="30000">
                <a:latin typeface="Times" panose="02020603060405020304" pitchFamily="18" charset="0"/>
              </a:rPr>
              <a:t>1</a:t>
            </a:r>
            <a:r>
              <a:rPr lang="en-US" altLang="zh-CN" sz="1800">
                <a:latin typeface="Times" panose="02020603060405020304" pitchFamily="18" charset="0"/>
              </a:rPr>
              <a:t>, </a:t>
            </a:r>
            <a:r>
              <a:rPr lang="zh-CN" altLang="en-US">
                <a:latin typeface="Times" panose="02020603060405020304" pitchFamily="18" charset="0"/>
              </a:rPr>
              <a:t>敲声</a:t>
            </a:r>
            <a:r>
              <a:rPr lang="en-US" altLang="zh-CN"/>
              <a:t>)=0.311</a:t>
            </a:r>
            <a:endParaRPr lang="zh-CN" altLang="en-US"/>
          </a:p>
        </p:txBody>
      </p:sp>
      <p:sp>
        <p:nvSpPr>
          <p:cNvPr id="54" name="文本框 53">
            <a:extLst>
              <a:ext uri="{FF2B5EF4-FFF2-40B4-BE49-F238E27FC236}">
                <a16:creationId xmlns:a16="http://schemas.microsoft.com/office/drawing/2014/main" id="{A16CF046-FCD0-A50D-8E04-770689693715}"/>
              </a:ext>
            </a:extLst>
          </p:cNvPr>
          <p:cNvSpPr txBox="1"/>
          <p:nvPr/>
        </p:nvSpPr>
        <p:spPr>
          <a:xfrm>
            <a:off x="3865419" y="3050368"/>
            <a:ext cx="2743200" cy="369332"/>
          </a:xfrm>
          <a:prstGeom prst="rect">
            <a:avLst/>
          </a:prstGeom>
          <a:noFill/>
        </p:spPr>
        <p:txBody>
          <a:bodyPr wrap="square" rtlCol="0">
            <a:spAutoFit/>
          </a:bodyPr>
          <a:lstStyle/>
          <a:p>
            <a:r>
              <a:rPr lang="en-US" altLang="zh-CN"/>
              <a:t>Gain(</a:t>
            </a:r>
            <a:r>
              <a:rPr lang="en-US" altLang="zh-CN" sz="1800">
                <a:latin typeface="Times" panose="02020603060405020304" pitchFamily="18" charset="0"/>
              </a:rPr>
              <a:t>D</a:t>
            </a:r>
            <a:r>
              <a:rPr lang="en-US" altLang="zh-CN" sz="1800" baseline="30000">
                <a:latin typeface="Times" panose="02020603060405020304" pitchFamily="18" charset="0"/>
              </a:rPr>
              <a:t>1</a:t>
            </a:r>
            <a:r>
              <a:rPr lang="en-US" altLang="zh-CN" sz="1800">
                <a:latin typeface="Times" panose="02020603060405020304" pitchFamily="18" charset="0"/>
              </a:rPr>
              <a:t>, </a:t>
            </a:r>
            <a:r>
              <a:rPr lang="zh-CN" altLang="en-US" sz="1800">
                <a:latin typeface="Times" panose="02020603060405020304" pitchFamily="18" charset="0"/>
              </a:rPr>
              <a:t>脐部</a:t>
            </a:r>
            <a:r>
              <a:rPr lang="en-US" altLang="zh-CN"/>
              <a:t>)=0.458</a:t>
            </a:r>
            <a:endParaRPr lang="zh-CN" altLang="en-US"/>
          </a:p>
        </p:txBody>
      </p:sp>
      <p:sp>
        <p:nvSpPr>
          <p:cNvPr id="55" name="文本框 54">
            <a:extLst>
              <a:ext uri="{FF2B5EF4-FFF2-40B4-BE49-F238E27FC236}">
                <a16:creationId xmlns:a16="http://schemas.microsoft.com/office/drawing/2014/main" id="{281AB1DC-3EBF-0DC0-B3DE-BB3DDF183F6C}"/>
              </a:ext>
            </a:extLst>
          </p:cNvPr>
          <p:cNvSpPr txBox="1"/>
          <p:nvPr/>
        </p:nvSpPr>
        <p:spPr>
          <a:xfrm>
            <a:off x="1122219" y="3532105"/>
            <a:ext cx="2743200" cy="369332"/>
          </a:xfrm>
          <a:prstGeom prst="rect">
            <a:avLst/>
          </a:prstGeom>
          <a:noFill/>
        </p:spPr>
        <p:txBody>
          <a:bodyPr wrap="square" rtlCol="0">
            <a:spAutoFit/>
          </a:bodyPr>
          <a:lstStyle/>
          <a:p>
            <a:r>
              <a:rPr lang="en-US" altLang="zh-CN"/>
              <a:t>Gain(</a:t>
            </a:r>
            <a:r>
              <a:rPr lang="en-US" altLang="zh-CN" sz="1800">
                <a:latin typeface="Times" panose="02020603060405020304" pitchFamily="18" charset="0"/>
              </a:rPr>
              <a:t>D</a:t>
            </a:r>
            <a:r>
              <a:rPr lang="en-US" altLang="zh-CN" sz="1800" baseline="30000">
                <a:latin typeface="Times" panose="02020603060405020304" pitchFamily="18" charset="0"/>
              </a:rPr>
              <a:t>1</a:t>
            </a:r>
            <a:r>
              <a:rPr lang="en-US" altLang="zh-CN" sz="1800">
                <a:latin typeface="Times" panose="02020603060405020304" pitchFamily="18" charset="0"/>
              </a:rPr>
              <a:t>, </a:t>
            </a:r>
            <a:r>
              <a:rPr lang="zh-CN" altLang="en-US">
                <a:latin typeface="Times" panose="02020603060405020304" pitchFamily="18" charset="0"/>
              </a:rPr>
              <a:t>触感</a:t>
            </a:r>
            <a:r>
              <a:rPr lang="en-US" altLang="zh-CN"/>
              <a:t>)=0.458</a:t>
            </a:r>
            <a:endParaRPr lang="zh-CN" altLang="en-US"/>
          </a:p>
        </p:txBody>
      </p:sp>
      <p:sp>
        <p:nvSpPr>
          <p:cNvPr id="56" name="内容占位符 2">
            <a:extLst>
              <a:ext uri="{FF2B5EF4-FFF2-40B4-BE49-F238E27FC236}">
                <a16:creationId xmlns:a16="http://schemas.microsoft.com/office/drawing/2014/main" id="{8ED7378A-8146-1CF7-B1AF-7A1C249E3D02}"/>
              </a:ext>
            </a:extLst>
          </p:cNvPr>
          <p:cNvSpPr txBox="1">
            <a:spLocks/>
          </p:cNvSpPr>
          <p:nvPr/>
        </p:nvSpPr>
        <p:spPr>
          <a:xfrm>
            <a:off x="266700" y="4128950"/>
            <a:ext cx="8616950" cy="4930775"/>
          </a:xfrm>
          <a:prstGeom prst="rect">
            <a:avLst/>
          </a:prstGeom>
        </p:spPr>
        <p:txBody>
          <a:bodyPr vert="horz" lIns="91440" tIns="46800" rIns="91440" bIns="45720" rtlCol="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a:t>根蒂、</a:t>
            </a:r>
            <a:r>
              <a:rPr lang="zh-CN" altLang="en-US" sz="2400">
                <a:latin typeface="Times" panose="02020603060405020304" pitchFamily="18" charset="0"/>
              </a:rPr>
              <a:t>脐部、触感都取得了最大的信息增益，可任选其中之一作为划分属性。类似的，对每个分支结点重复上述过程，最终得到的决策树如下：</a:t>
            </a:r>
            <a:endParaRPr lang="zh-CN" altLang="en-US"/>
          </a:p>
        </p:txBody>
      </p:sp>
    </p:spTree>
    <p:extLst>
      <p:ext uri="{BB962C8B-B14F-4D97-AF65-F5344CB8AC3E}">
        <p14:creationId xmlns:p14="http://schemas.microsoft.com/office/powerpoint/2010/main" val="35523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信息增益</a:t>
            </a:r>
          </a:p>
        </p:txBody>
      </p:sp>
      <p:pic>
        <p:nvPicPr>
          <p:cNvPr id="6" name="图片 5">
            <a:extLst>
              <a:ext uri="{FF2B5EF4-FFF2-40B4-BE49-F238E27FC236}">
                <a16:creationId xmlns:a16="http://schemas.microsoft.com/office/drawing/2014/main" id="{04BF4912-5550-CACA-B092-3CBB231D8D60}"/>
              </a:ext>
            </a:extLst>
          </p:cNvPr>
          <p:cNvPicPr>
            <a:picLocks noChangeAspect="1"/>
          </p:cNvPicPr>
          <p:nvPr/>
        </p:nvPicPr>
        <p:blipFill>
          <a:blip r:embed="rId3"/>
          <a:stretch>
            <a:fillRect/>
          </a:stretch>
        </p:blipFill>
        <p:spPr>
          <a:xfrm>
            <a:off x="840164" y="1087235"/>
            <a:ext cx="6909183" cy="4168163"/>
          </a:xfrm>
          <a:prstGeom prst="rect">
            <a:avLst/>
          </a:prstGeom>
        </p:spPr>
      </p:pic>
      <p:sp>
        <p:nvSpPr>
          <p:cNvPr id="7" name="Rectangle 3"/>
          <p:cNvSpPr>
            <a:spLocks noChangeArrowheads="1"/>
          </p:cNvSpPr>
          <p:nvPr/>
        </p:nvSpPr>
        <p:spPr bwMode="auto">
          <a:xfrm>
            <a:off x="1542319" y="5521895"/>
            <a:ext cx="5683325" cy="554459"/>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2200" i="0" dirty="0">
                <a:latin typeface="幼圆" panose="02010509060101010101" pitchFamily="49" charset="-122"/>
                <a:ea typeface="幼圆" panose="02010509060101010101" pitchFamily="49" charset="-122"/>
              </a:rPr>
              <a:t>信息增益对</a:t>
            </a:r>
            <a:r>
              <a:rPr lang="zh-CN" altLang="en-US" sz="2200" dirty="0">
                <a:latin typeface="幼圆" panose="02010509060101010101" pitchFamily="49" charset="-122"/>
                <a:ea typeface="幼圆" panose="02010509060101010101" pitchFamily="49" charset="-122"/>
              </a:rPr>
              <a:t>可取值数目较多的属性有所偏好</a:t>
            </a:r>
          </a:p>
          <a:p>
            <a:pPr marL="0" indent="0" algn="ctr">
              <a:lnSpc>
                <a:spcPts val="3200"/>
              </a:lnSpc>
              <a:buNone/>
            </a:pPr>
            <a:endParaRPr lang="zh-CN" altLang="en-US" sz="2200" i="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69761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增益率</a:t>
            </a:r>
          </a:p>
        </p:txBody>
      </p:sp>
      <p:sp>
        <p:nvSpPr>
          <p:cNvPr id="3" name="内容占位符 2"/>
          <p:cNvSpPr>
            <a:spLocks noGrp="1"/>
          </p:cNvSpPr>
          <p:nvPr>
            <p:ph idx="1"/>
          </p:nvPr>
        </p:nvSpPr>
        <p:spPr>
          <a:xfrm>
            <a:off x="260350" y="1000594"/>
            <a:ext cx="8616950" cy="5250577"/>
          </a:xfrm>
        </p:spPr>
        <p:txBody>
          <a:bodyPr>
            <a:normAutofit lnSpcReduction="10000"/>
          </a:bodyPr>
          <a:lstStyle/>
          <a:p>
            <a:r>
              <a:rPr lang="zh-CN" altLang="en-US" dirty="0"/>
              <a:t>增益率定义：</a:t>
            </a:r>
            <a:endParaRPr lang="en-US" altLang="zh-CN" dirty="0"/>
          </a:p>
          <a:p>
            <a:endParaRPr lang="en-US" altLang="zh-CN" dirty="0"/>
          </a:p>
          <a:p>
            <a:pPr marL="0" indent="0">
              <a:buNone/>
            </a:pPr>
            <a:r>
              <a:rPr lang="zh-CN" altLang="en-US" dirty="0"/>
              <a:t>    其中</a:t>
            </a:r>
            <a:endParaRPr lang="en-US" altLang="zh-CN" dirty="0"/>
          </a:p>
          <a:p>
            <a:pPr marL="0" indent="0">
              <a:buNone/>
            </a:pPr>
            <a:endParaRPr lang="en-US" altLang="zh-CN" dirty="0"/>
          </a:p>
          <a:p>
            <a:pPr marL="0" indent="0">
              <a:buNone/>
            </a:pPr>
            <a:endParaRPr lang="en-US" altLang="zh-CN" dirty="0"/>
          </a:p>
          <a:p>
            <a:pPr marL="0" indent="0">
              <a:lnSpc>
                <a:spcPct val="120000"/>
              </a:lnSpc>
              <a:buNone/>
            </a:pPr>
            <a:r>
              <a:rPr lang="zh-CN" altLang="en-US" dirty="0"/>
              <a:t>    称为属性  的“固有值”</a:t>
            </a:r>
            <a:r>
              <a:rPr lang="en-US" altLang="zh-CN" sz="2400" dirty="0"/>
              <a:t> </a:t>
            </a:r>
            <a:r>
              <a:rPr lang="en-US" altLang="zh-CN" sz="1600" dirty="0">
                <a:latin typeface="+mn-lt"/>
              </a:rPr>
              <a:t>[Quinlan, 1993] </a:t>
            </a:r>
            <a:r>
              <a:rPr lang="zh-CN" altLang="en-US" dirty="0"/>
              <a:t>，属性</a:t>
            </a:r>
            <a:r>
              <a:rPr lang="en-US" altLang="zh-CN" dirty="0"/>
              <a:t>  </a:t>
            </a:r>
            <a:r>
              <a:rPr lang="zh-CN" altLang="en-US" dirty="0"/>
              <a:t>的可能取值数目越多（即</a:t>
            </a:r>
            <a:r>
              <a:rPr lang="en-US" altLang="zh-CN" dirty="0"/>
              <a:t>  </a:t>
            </a:r>
            <a:r>
              <a:rPr lang="zh-CN" altLang="en-US" dirty="0"/>
              <a:t>越大），则   </a:t>
            </a:r>
            <a:r>
              <a:rPr lang="en-US" altLang="zh-CN" dirty="0"/>
              <a:t>    </a:t>
            </a:r>
            <a:r>
              <a:rPr lang="zh-CN" altLang="en-US" dirty="0"/>
              <a:t>的值通常就</a:t>
            </a:r>
            <a:r>
              <a:rPr lang="zh-CN" altLang="en-US"/>
              <a:t>越大</a:t>
            </a:r>
            <a:endParaRPr lang="en-US" altLang="zh-CN"/>
          </a:p>
          <a:p>
            <a:pPr marL="0" indent="0">
              <a:lnSpc>
                <a:spcPts val="100"/>
              </a:lnSpc>
              <a:buNone/>
            </a:pPr>
            <a:endParaRPr lang="en-US" altLang="zh-CN" dirty="0"/>
          </a:p>
          <a:p>
            <a:r>
              <a:rPr lang="zh-CN" altLang="en-US" dirty="0"/>
              <a:t>存在的问题</a:t>
            </a:r>
            <a:endParaRPr lang="en-US" altLang="zh-CN" dirty="0"/>
          </a:p>
          <a:p>
            <a:pPr marL="0" indent="0">
              <a:buNone/>
            </a:pPr>
            <a:r>
              <a:rPr lang="en-US" altLang="zh-CN" dirty="0"/>
              <a:t>	</a:t>
            </a:r>
          </a:p>
          <a:p>
            <a:pPr marL="0" indent="0">
              <a:buNone/>
            </a:pPr>
            <a:endParaRPr lang="en-US" altLang="zh-CN" dirty="0"/>
          </a:p>
          <a:p>
            <a:pPr>
              <a:lnSpc>
                <a:spcPct val="130000"/>
              </a:lnSpc>
            </a:pPr>
            <a:r>
              <a:rPr lang="en-US" altLang="zh-CN" dirty="0"/>
              <a:t>C4.5</a:t>
            </a:r>
            <a:r>
              <a:rPr lang="en-US" altLang="zh-CN" sz="2400" dirty="0"/>
              <a:t> </a:t>
            </a:r>
            <a:r>
              <a:rPr lang="en-US" altLang="zh-CN" sz="1600" dirty="0"/>
              <a:t>[Quinlan, 1993]</a:t>
            </a:r>
            <a:r>
              <a:rPr lang="zh-CN" altLang="en-US" dirty="0"/>
              <a:t>使用了一个启发式：先从候选划分属性中找出信息增益高于平均水平的属性，再从中选取增益率最高的</a:t>
            </a:r>
            <a:endParaRPr lang="en-US" altLang="zh-CN" dirty="0"/>
          </a:p>
        </p:txBody>
      </p:sp>
      <p:graphicFrame>
        <p:nvGraphicFramePr>
          <p:cNvPr id="4" name="对象 3"/>
          <p:cNvGraphicFramePr>
            <a:graphicFrameLocks noChangeAspect="1"/>
          </p:cNvGraphicFramePr>
          <p:nvPr>
            <p:extLst>
              <p:ext uri="{D42A27DB-BD31-4B8C-83A1-F6EECF244321}">
                <p14:modId xmlns:p14="http://schemas.microsoft.com/office/powerpoint/2010/main" val="2409370589"/>
              </p:ext>
            </p:extLst>
          </p:nvPr>
        </p:nvGraphicFramePr>
        <p:xfrm>
          <a:off x="2677318" y="1453567"/>
          <a:ext cx="3789363" cy="535221"/>
        </p:xfrm>
        <a:graphic>
          <a:graphicData uri="http://schemas.openxmlformats.org/presentationml/2006/ole">
            <mc:AlternateContent xmlns:mc="http://schemas.openxmlformats.org/markup-compatibility/2006">
              <mc:Choice xmlns:v="urn:schemas-microsoft-com:vml" Requires="v">
                <p:oleObj name="Formula" r:id="rId3" imgW="1775520" imgH="250200" progId="Equation.Ribbit">
                  <p:embed/>
                </p:oleObj>
              </mc:Choice>
              <mc:Fallback>
                <p:oleObj name="Formula" r:id="rId3" imgW="1775520" imgH="250200" progId="Equation.Ribbit">
                  <p:embed/>
                  <p:pic>
                    <p:nvPicPr>
                      <p:cNvPr id="4" name="对象 3"/>
                      <p:cNvPicPr/>
                      <p:nvPr/>
                    </p:nvPicPr>
                    <p:blipFill>
                      <a:blip r:embed="rId4"/>
                      <a:stretch>
                        <a:fillRect/>
                      </a:stretch>
                    </p:blipFill>
                    <p:spPr>
                      <a:xfrm>
                        <a:off x="2677318" y="1453567"/>
                        <a:ext cx="3789363" cy="53522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883070538"/>
              </p:ext>
            </p:extLst>
          </p:nvPr>
        </p:nvGraphicFramePr>
        <p:xfrm>
          <a:off x="2936124" y="2291746"/>
          <a:ext cx="2968625" cy="750887"/>
        </p:xfrm>
        <a:graphic>
          <a:graphicData uri="http://schemas.openxmlformats.org/presentationml/2006/ole">
            <mc:AlternateContent xmlns:mc="http://schemas.openxmlformats.org/markup-compatibility/2006">
              <mc:Choice xmlns:v="urn:schemas-microsoft-com:vml" Requires="v">
                <p:oleObj name="Formula" r:id="rId5" imgW="1828800" imgH="462600" progId="Equation.Ribbit">
                  <p:embed/>
                </p:oleObj>
              </mc:Choice>
              <mc:Fallback>
                <p:oleObj name="Formula" r:id="rId5" imgW="1828800" imgH="462600" progId="Equation.Ribbit">
                  <p:embed/>
                  <p:pic>
                    <p:nvPicPr>
                      <p:cNvPr id="5" name="对象 4"/>
                      <p:cNvPicPr/>
                      <p:nvPr/>
                    </p:nvPicPr>
                    <p:blipFill>
                      <a:blip r:embed="rId6"/>
                      <a:stretch>
                        <a:fillRect/>
                      </a:stretch>
                    </p:blipFill>
                    <p:spPr>
                      <a:xfrm>
                        <a:off x="2936124" y="2291746"/>
                        <a:ext cx="2968625" cy="75088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79731557"/>
              </p:ext>
            </p:extLst>
          </p:nvPr>
        </p:nvGraphicFramePr>
        <p:xfrm>
          <a:off x="1870075" y="3142353"/>
          <a:ext cx="173038" cy="277812"/>
        </p:xfrm>
        <a:graphic>
          <a:graphicData uri="http://schemas.openxmlformats.org/presentationml/2006/ole">
            <mc:AlternateContent xmlns:mc="http://schemas.openxmlformats.org/markup-compatibility/2006">
              <mc:Choice xmlns:v="urn:schemas-microsoft-com:vml" Requires="v">
                <p:oleObj name="Formula" r:id="rId7" imgW="80280" imgH="129600" progId="Equation.Ribbit">
                  <p:embed/>
                </p:oleObj>
              </mc:Choice>
              <mc:Fallback>
                <p:oleObj name="Formula" r:id="rId7" imgW="80280" imgH="129600" progId="Equation.Ribbit">
                  <p:embed/>
                  <p:pic>
                    <p:nvPicPr>
                      <p:cNvPr id="6" name="对象 5"/>
                      <p:cNvPicPr/>
                      <p:nvPr/>
                    </p:nvPicPr>
                    <p:blipFill>
                      <a:blip r:embed="rId8"/>
                      <a:stretch>
                        <a:fillRect/>
                      </a:stretch>
                    </p:blipFill>
                    <p:spPr>
                      <a:xfrm>
                        <a:off x="1870075" y="3142353"/>
                        <a:ext cx="173038" cy="27781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20062733"/>
              </p:ext>
            </p:extLst>
          </p:nvPr>
        </p:nvGraphicFramePr>
        <p:xfrm>
          <a:off x="6384925" y="3118253"/>
          <a:ext cx="173038" cy="279400"/>
        </p:xfrm>
        <a:graphic>
          <a:graphicData uri="http://schemas.openxmlformats.org/presentationml/2006/ole">
            <mc:AlternateContent xmlns:mc="http://schemas.openxmlformats.org/markup-compatibility/2006">
              <mc:Choice xmlns:v="urn:schemas-microsoft-com:vml" Requires="v">
                <p:oleObj name="Formula" r:id="rId7" imgW="80280" imgH="129600" progId="Equation.Ribbit">
                  <p:embed/>
                </p:oleObj>
              </mc:Choice>
              <mc:Fallback>
                <p:oleObj name="Formula" r:id="rId7" imgW="80280" imgH="129600" progId="Equation.Ribbit">
                  <p:embed/>
                  <p:pic>
                    <p:nvPicPr>
                      <p:cNvPr id="7" name="对象 6"/>
                      <p:cNvPicPr/>
                      <p:nvPr/>
                    </p:nvPicPr>
                    <p:blipFill>
                      <a:blip r:embed="rId8"/>
                      <a:stretch>
                        <a:fillRect/>
                      </a:stretch>
                    </p:blipFill>
                    <p:spPr>
                      <a:xfrm>
                        <a:off x="6384925" y="3118253"/>
                        <a:ext cx="173038" cy="2794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49073241"/>
              </p:ext>
            </p:extLst>
          </p:nvPr>
        </p:nvGraphicFramePr>
        <p:xfrm>
          <a:off x="1493837" y="3493135"/>
          <a:ext cx="203157" cy="284420"/>
        </p:xfrm>
        <a:graphic>
          <a:graphicData uri="http://schemas.openxmlformats.org/presentationml/2006/ole">
            <mc:AlternateContent xmlns:mc="http://schemas.openxmlformats.org/markup-compatibility/2006">
              <mc:Choice xmlns:v="urn:schemas-microsoft-com:vml" Requires="v">
                <p:oleObj name="Formula" r:id="rId9" imgW="119520" imgH="166680" progId="Equation.Ribbit">
                  <p:embed/>
                </p:oleObj>
              </mc:Choice>
              <mc:Fallback>
                <p:oleObj name="Formula" r:id="rId9" imgW="119520" imgH="166680" progId="Equation.Ribbit">
                  <p:embed/>
                  <p:pic>
                    <p:nvPicPr>
                      <p:cNvPr id="8" name="对象 7"/>
                      <p:cNvPicPr/>
                      <p:nvPr/>
                    </p:nvPicPr>
                    <p:blipFill>
                      <a:blip r:embed="rId10"/>
                      <a:stretch>
                        <a:fillRect/>
                      </a:stretch>
                    </p:blipFill>
                    <p:spPr>
                      <a:xfrm>
                        <a:off x="1493837" y="3493135"/>
                        <a:ext cx="203157" cy="28442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10181858"/>
              </p:ext>
            </p:extLst>
          </p:nvPr>
        </p:nvGraphicFramePr>
        <p:xfrm>
          <a:off x="3135313" y="3474804"/>
          <a:ext cx="585787" cy="296862"/>
        </p:xfrm>
        <a:graphic>
          <a:graphicData uri="http://schemas.openxmlformats.org/presentationml/2006/ole">
            <mc:AlternateContent xmlns:mc="http://schemas.openxmlformats.org/markup-compatibility/2006">
              <mc:Choice xmlns:v="urn:schemas-microsoft-com:vml" Requires="v">
                <p:oleObj name="Formula" r:id="rId11" imgW="353160" imgH="177840" progId="Equation.Ribbit">
                  <p:embed/>
                </p:oleObj>
              </mc:Choice>
              <mc:Fallback>
                <p:oleObj name="Formula" r:id="rId11" imgW="353160" imgH="177840" progId="Equation.Ribbit">
                  <p:embed/>
                  <p:pic>
                    <p:nvPicPr>
                      <p:cNvPr id="9" name="对象 8"/>
                      <p:cNvPicPr/>
                      <p:nvPr/>
                    </p:nvPicPr>
                    <p:blipFill>
                      <a:blip r:embed="rId12"/>
                      <a:stretch>
                        <a:fillRect/>
                      </a:stretch>
                    </p:blipFill>
                    <p:spPr>
                      <a:xfrm>
                        <a:off x="3135313" y="3474804"/>
                        <a:ext cx="585787" cy="296862"/>
                      </a:xfrm>
                      <a:prstGeom prst="rect">
                        <a:avLst/>
                      </a:prstGeom>
                    </p:spPr>
                  </p:pic>
                </p:oleObj>
              </mc:Fallback>
            </mc:AlternateContent>
          </a:graphicData>
        </a:graphic>
      </p:graphicFrame>
      <p:sp>
        <p:nvSpPr>
          <p:cNvPr id="10" name="Rectangle 3"/>
          <p:cNvSpPr>
            <a:spLocks noChangeArrowheads="1"/>
          </p:cNvSpPr>
          <p:nvPr/>
        </p:nvSpPr>
        <p:spPr bwMode="auto">
          <a:xfrm>
            <a:off x="1301576" y="4530772"/>
            <a:ext cx="6413538" cy="481803"/>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buNone/>
            </a:pPr>
            <a:r>
              <a:rPr lang="zh-CN" altLang="en-US" sz="2400" dirty="0"/>
              <a:t>增益率准则对可取值数目较少的属性有所偏好</a:t>
            </a:r>
            <a:endParaRPr lang="en-US" altLang="zh-CN" sz="2400" dirty="0"/>
          </a:p>
          <a:p>
            <a:pPr marL="0" indent="0" algn="ctr">
              <a:lnSpc>
                <a:spcPts val="3200"/>
              </a:lnSpc>
              <a:buNone/>
            </a:pPr>
            <a:endParaRPr lang="zh-CN" altLang="en-US" sz="2200" i="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50737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划分选择</a:t>
            </a:r>
            <a:r>
              <a:rPr lang="en-US" altLang="zh-CN" dirty="0"/>
              <a:t>-</a:t>
            </a:r>
            <a:r>
              <a:rPr lang="zh-CN" altLang="en-US" dirty="0"/>
              <a:t>基尼指数</a:t>
            </a:r>
          </a:p>
        </p:txBody>
      </p:sp>
      <p:sp>
        <p:nvSpPr>
          <p:cNvPr id="3" name="内容占位符 2"/>
          <p:cNvSpPr>
            <a:spLocks noGrp="1"/>
          </p:cNvSpPr>
          <p:nvPr>
            <p:ph idx="1"/>
          </p:nvPr>
        </p:nvSpPr>
        <p:spPr>
          <a:xfrm>
            <a:off x="260350" y="1005840"/>
            <a:ext cx="8616950" cy="5353396"/>
          </a:xfrm>
        </p:spPr>
        <p:txBody>
          <a:bodyPr>
            <a:normAutofit/>
          </a:bodyPr>
          <a:lstStyle/>
          <a:p>
            <a:r>
              <a:rPr lang="zh-CN" altLang="en-US" dirty="0"/>
              <a:t>数据集  的纯度可用“基尼值”来度量</a:t>
            </a:r>
            <a:endParaRPr lang="en-US" altLang="zh-CN" dirty="0"/>
          </a:p>
          <a:p>
            <a:pPr marL="0" indent="0">
              <a:buNone/>
            </a:pPr>
            <a:r>
              <a:rPr lang="en-US" altLang="zh-CN" dirty="0"/>
              <a:t>	</a:t>
            </a:r>
          </a:p>
          <a:p>
            <a:endParaRPr lang="en-US" altLang="zh-CN"/>
          </a:p>
          <a:p>
            <a:pPr marL="0" indent="0">
              <a:lnSpc>
                <a:spcPct val="50000"/>
              </a:lnSpc>
              <a:buNone/>
            </a:pPr>
            <a:endParaRPr lang="en-US" altLang="zh-CN" dirty="0"/>
          </a:p>
          <a:p>
            <a:pPr marL="0" indent="0">
              <a:buNone/>
            </a:pPr>
            <a:r>
              <a:rPr lang="en-US" altLang="zh-CN" dirty="0"/>
              <a:t>             </a:t>
            </a:r>
            <a:r>
              <a:rPr lang="zh-CN" altLang="en-US" dirty="0"/>
              <a:t>越小，数据集</a:t>
            </a:r>
            <a:r>
              <a:rPr lang="en-US" altLang="zh-CN" dirty="0"/>
              <a:t>  </a:t>
            </a:r>
            <a:r>
              <a:rPr lang="zh-CN" altLang="en-US" dirty="0"/>
              <a:t>的纯度</a:t>
            </a:r>
            <a:r>
              <a:rPr lang="zh-CN" altLang="en-US"/>
              <a:t>越高</a:t>
            </a:r>
            <a:endParaRPr lang="en-US" altLang="zh-CN"/>
          </a:p>
          <a:p>
            <a:pPr marL="0" indent="0">
              <a:lnSpc>
                <a:spcPct val="20000"/>
              </a:lnSpc>
              <a:buNone/>
            </a:pPr>
            <a:endParaRPr lang="en-US" altLang="zh-CN" dirty="0"/>
          </a:p>
          <a:p>
            <a:r>
              <a:rPr lang="zh-CN" altLang="en-US" dirty="0"/>
              <a:t>属性</a:t>
            </a:r>
            <a:r>
              <a:rPr lang="en-US" altLang="zh-CN" dirty="0"/>
              <a:t>  </a:t>
            </a:r>
            <a:r>
              <a:rPr lang="zh-CN" altLang="en-US" dirty="0"/>
              <a:t>的基尼指数定义为：</a:t>
            </a:r>
            <a:endParaRPr lang="en-US" altLang="zh-CN" dirty="0"/>
          </a:p>
          <a:p>
            <a:pPr marL="0" indent="0">
              <a:buNone/>
            </a:pPr>
            <a:endParaRPr lang="en-US" altLang="zh-CN"/>
          </a:p>
          <a:p>
            <a:pPr marL="0" indent="0">
              <a:lnSpc>
                <a:spcPct val="20000"/>
              </a:lnSpc>
              <a:buNone/>
            </a:pPr>
            <a:endParaRPr lang="en-US" altLang="zh-CN" dirty="0"/>
          </a:p>
          <a:p>
            <a:r>
              <a:rPr lang="zh-CN" altLang="en-US" dirty="0"/>
              <a:t>应选择那个使划分后基尼指数最小的属性作为最优划分属性，即</a:t>
            </a:r>
            <a:endParaRPr lang="en-US" altLang="zh-CN" dirty="0"/>
          </a:p>
          <a:p>
            <a:endParaRPr lang="en-US" altLang="zh-CN" dirty="0"/>
          </a:p>
          <a:p>
            <a:endParaRPr lang="en-US" altLang="zh-CN" dirty="0"/>
          </a:p>
          <a:p>
            <a:r>
              <a:rPr lang="en-US" altLang="zh-CN" dirty="0"/>
              <a:t>CART</a:t>
            </a:r>
            <a:r>
              <a:rPr lang="en-US" altLang="zh-CN" sz="2000" dirty="0"/>
              <a:t> </a:t>
            </a:r>
            <a:r>
              <a:rPr lang="en-US" altLang="zh-CN" sz="1600" dirty="0"/>
              <a:t>[</a:t>
            </a:r>
            <a:r>
              <a:rPr lang="en-US" altLang="zh-CN" sz="1600" dirty="0" err="1"/>
              <a:t>Breiman</a:t>
            </a:r>
            <a:r>
              <a:rPr lang="en-US" altLang="zh-CN" sz="1600" dirty="0"/>
              <a:t> et al., 1984]</a:t>
            </a:r>
            <a:r>
              <a:rPr lang="zh-CN" altLang="en-US" dirty="0"/>
              <a:t>采用“基尼指数”来选择划分属性</a:t>
            </a:r>
          </a:p>
        </p:txBody>
      </p:sp>
      <p:graphicFrame>
        <p:nvGraphicFramePr>
          <p:cNvPr id="4" name="对象 3"/>
          <p:cNvGraphicFramePr>
            <a:graphicFrameLocks noChangeAspect="1"/>
          </p:cNvGraphicFramePr>
          <p:nvPr>
            <p:extLst>
              <p:ext uri="{D42A27DB-BD31-4B8C-83A1-F6EECF244321}">
                <p14:modId xmlns:p14="http://schemas.microsoft.com/office/powerpoint/2010/main" val="2800292938"/>
              </p:ext>
            </p:extLst>
          </p:nvPr>
        </p:nvGraphicFramePr>
        <p:xfrm>
          <a:off x="1073150" y="1535921"/>
          <a:ext cx="2481263" cy="808037"/>
        </p:xfrm>
        <a:graphic>
          <a:graphicData uri="http://schemas.openxmlformats.org/presentationml/2006/ole">
            <mc:AlternateContent xmlns:mc="http://schemas.openxmlformats.org/markup-compatibility/2006">
              <mc:Choice xmlns:v="urn:schemas-microsoft-com:vml" Requires="v">
                <p:oleObj name="Formula" r:id="rId2" imgW="1557360" imgH="506880" progId="Equation.Ribbit">
                  <p:embed/>
                </p:oleObj>
              </mc:Choice>
              <mc:Fallback>
                <p:oleObj name="Formula" r:id="rId2" imgW="1557360" imgH="506880" progId="Equation.Ribbit">
                  <p:embed/>
                  <p:pic>
                    <p:nvPicPr>
                      <p:cNvPr id="4" name="对象 3"/>
                      <p:cNvPicPr/>
                      <p:nvPr/>
                    </p:nvPicPr>
                    <p:blipFill>
                      <a:blip r:embed="rId3"/>
                      <a:stretch>
                        <a:fillRect/>
                      </a:stretch>
                    </p:blipFill>
                    <p:spPr>
                      <a:xfrm>
                        <a:off x="1073150" y="1535921"/>
                        <a:ext cx="2481263" cy="80803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0198106"/>
              </p:ext>
            </p:extLst>
          </p:nvPr>
        </p:nvGraphicFramePr>
        <p:xfrm>
          <a:off x="3749675" y="1535921"/>
          <a:ext cx="1341438" cy="809625"/>
        </p:xfrm>
        <a:graphic>
          <a:graphicData uri="http://schemas.openxmlformats.org/presentationml/2006/ole">
            <mc:AlternateContent xmlns:mc="http://schemas.openxmlformats.org/markup-compatibility/2006">
              <mc:Choice xmlns:v="urn:schemas-microsoft-com:vml" Requires="v">
                <p:oleObj name="Formula" r:id="rId4" imgW="795240" imgH="480240" progId="Equation.Ribbit">
                  <p:embed/>
                </p:oleObj>
              </mc:Choice>
              <mc:Fallback>
                <p:oleObj name="Formula" r:id="rId4" imgW="795240" imgH="480240" progId="Equation.Ribbit">
                  <p:embed/>
                  <p:pic>
                    <p:nvPicPr>
                      <p:cNvPr id="6" name="对象 5"/>
                      <p:cNvPicPr/>
                      <p:nvPr/>
                    </p:nvPicPr>
                    <p:blipFill>
                      <a:blip r:embed="rId5"/>
                      <a:stretch>
                        <a:fillRect/>
                      </a:stretch>
                    </p:blipFill>
                    <p:spPr>
                      <a:xfrm>
                        <a:off x="3749675" y="1535921"/>
                        <a:ext cx="1341438" cy="80962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32558143"/>
              </p:ext>
            </p:extLst>
          </p:nvPr>
        </p:nvGraphicFramePr>
        <p:xfrm>
          <a:off x="2273300" y="3628738"/>
          <a:ext cx="4949825" cy="501650"/>
        </p:xfrm>
        <a:graphic>
          <a:graphicData uri="http://schemas.openxmlformats.org/presentationml/2006/ole">
            <mc:AlternateContent xmlns:mc="http://schemas.openxmlformats.org/markup-compatibility/2006">
              <mc:Choice xmlns:v="urn:schemas-microsoft-com:vml" Requires="v">
                <p:oleObj name="Formula" r:id="rId6" imgW="2475360" imgH="250200" progId="Equation.Ribbit">
                  <p:embed/>
                </p:oleObj>
              </mc:Choice>
              <mc:Fallback>
                <p:oleObj name="Formula" r:id="rId6" imgW="2475360" imgH="250200" progId="Equation.Ribbit">
                  <p:embed/>
                  <p:pic>
                    <p:nvPicPr>
                      <p:cNvPr id="7" name="对象 6"/>
                      <p:cNvPicPr/>
                      <p:nvPr/>
                    </p:nvPicPr>
                    <p:blipFill>
                      <a:blip r:embed="rId7"/>
                      <a:stretch>
                        <a:fillRect/>
                      </a:stretch>
                    </p:blipFill>
                    <p:spPr>
                      <a:xfrm>
                        <a:off x="2273300" y="3628738"/>
                        <a:ext cx="4949825" cy="50165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045325572"/>
              </p:ext>
            </p:extLst>
          </p:nvPr>
        </p:nvGraphicFramePr>
        <p:xfrm>
          <a:off x="2825749" y="4860349"/>
          <a:ext cx="3844925" cy="536575"/>
        </p:xfrm>
        <a:graphic>
          <a:graphicData uri="http://schemas.openxmlformats.org/presentationml/2006/ole">
            <mc:AlternateContent xmlns:mc="http://schemas.openxmlformats.org/markup-compatibility/2006">
              <mc:Choice xmlns:v="urn:schemas-microsoft-com:vml" Requires="v">
                <p:oleObj name="Formula" r:id="rId8" imgW="1910160" imgH="265680" progId="Equation.Ribbit">
                  <p:embed/>
                </p:oleObj>
              </mc:Choice>
              <mc:Fallback>
                <p:oleObj name="Formula" r:id="rId8" imgW="1910160" imgH="265680" progId="Equation.Ribbit">
                  <p:embed/>
                  <p:pic>
                    <p:nvPicPr>
                      <p:cNvPr id="8" name="对象 7"/>
                      <p:cNvPicPr/>
                      <p:nvPr/>
                    </p:nvPicPr>
                    <p:blipFill>
                      <a:blip r:embed="rId9"/>
                      <a:stretch>
                        <a:fillRect/>
                      </a:stretch>
                    </p:blipFill>
                    <p:spPr>
                      <a:xfrm>
                        <a:off x="2825749" y="4860349"/>
                        <a:ext cx="3844925" cy="5365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682750103"/>
              </p:ext>
            </p:extLst>
          </p:nvPr>
        </p:nvGraphicFramePr>
        <p:xfrm>
          <a:off x="817920" y="2664661"/>
          <a:ext cx="828675" cy="284163"/>
        </p:xfrm>
        <a:graphic>
          <a:graphicData uri="http://schemas.openxmlformats.org/presentationml/2006/ole">
            <mc:AlternateContent xmlns:mc="http://schemas.openxmlformats.org/markup-compatibility/2006">
              <mc:Choice xmlns:v="urn:schemas-microsoft-com:vml" Requires="v">
                <p:oleObj name="Formula" r:id="rId10" imgW="515880" imgH="177840" progId="Equation.Ribbit">
                  <p:embed/>
                </p:oleObj>
              </mc:Choice>
              <mc:Fallback>
                <p:oleObj name="Formula" r:id="rId10" imgW="515880" imgH="177840" progId="Equation.Ribbit">
                  <p:embed/>
                  <p:pic>
                    <p:nvPicPr>
                      <p:cNvPr id="9" name="对象 8"/>
                      <p:cNvPicPr/>
                      <p:nvPr/>
                    </p:nvPicPr>
                    <p:blipFill>
                      <a:blip r:embed="rId11"/>
                      <a:stretch>
                        <a:fillRect/>
                      </a:stretch>
                    </p:blipFill>
                    <p:spPr>
                      <a:xfrm>
                        <a:off x="817920" y="2664661"/>
                        <a:ext cx="828675" cy="28416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431641073"/>
              </p:ext>
            </p:extLst>
          </p:nvPr>
        </p:nvGraphicFramePr>
        <p:xfrm>
          <a:off x="1546583" y="1089831"/>
          <a:ext cx="200025" cy="268288"/>
        </p:xfrm>
        <a:graphic>
          <a:graphicData uri="http://schemas.openxmlformats.org/presentationml/2006/ole">
            <mc:AlternateContent xmlns:mc="http://schemas.openxmlformats.org/markup-compatibility/2006">
              <mc:Choice xmlns:v="urn:schemas-microsoft-com:vml" Requires="v">
                <p:oleObj name="Formula" r:id="rId12" imgW="124560" imgH="166680" progId="Equation.Ribbit">
                  <p:embed/>
                </p:oleObj>
              </mc:Choice>
              <mc:Fallback>
                <p:oleObj name="Formula" r:id="rId12" imgW="124560" imgH="166680" progId="Equation.Ribbit">
                  <p:embed/>
                  <p:pic>
                    <p:nvPicPr>
                      <p:cNvPr id="10" name="对象 9"/>
                      <p:cNvPicPr/>
                      <p:nvPr/>
                    </p:nvPicPr>
                    <p:blipFill>
                      <a:blip r:embed="rId13"/>
                      <a:stretch>
                        <a:fillRect/>
                      </a:stretch>
                    </p:blipFill>
                    <p:spPr>
                      <a:xfrm>
                        <a:off x="1546583" y="1089831"/>
                        <a:ext cx="200025" cy="268288"/>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06687418"/>
              </p:ext>
            </p:extLst>
          </p:nvPr>
        </p:nvGraphicFramePr>
        <p:xfrm>
          <a:off x="3291246" y="2674503"/>
          <a:ext cx="200025" cy="268288"/>
        </p:xfrm>
        <a:graphic>
          <a:graphicData uri="http://schemas.openxmlformats.org/presentationml/2006/ole">
            <mc:AlternateContent xmlns:mc="http://schemas.openxmlformats.org/markup-compatibility/2006">
              <mc:Choice xmlns:v="urn:schemas-microsoft-com:vml" Requires="v">
                <p:oleObj name="Formula" r:id="rId12" imgW="124560" imgH="166680" progId="Equation.Ribbit">
                  <p:embed/>
                </p:oleObj>
              </mc:Choice>
              <mc:Fallback>
                <p:oleObj name="Formula" r:id="rId12" imgW="124560" imgH="166680" progId="Equation.Ribbit">
                  <p:embed/>
                  <p:pic>
                    <p:nvPicPr>
                      <p:cNvPr id="11" name="对象 10"/>
                      <p:cNvPicPr/>
                      <p:nvPr/>
                    </p:nvPicPr>
                    <p:blipFill>
                      <a:blip r:embed="rId13"/>
                      <a:stretch>
                        <a:fillRect/>
                      </a:stretch>
                    </p:blipFill>
                    <p:spPr>
                      <a:xfrm>
                        <a:off x="3291246" y="2674503"/>
                        <a:ext cx="200025" cy="268288"/>
                      </a:xfrm>
                      <a:prstGeom prst="rect">
                        <a:avLst/>
                      </a:prstGeom>
                    </p:spPr>
                  </p:pic>
                </p:oleObj>
              </mc:Fallback>
            </mc:AlternateContent>
          </a:graphicData>
        </a:graphic>
      </p:graphicFrame>
      <p:sp>
        <p:nvSpPr>
          <p:cNvPr id="12" name="Rectangle 3"/>
          <p:cNvSpPr>
            <a:spLocks noChangeArrowheads="1"/>
          </p:cNvSpPr>
          <p:nvPr/>
        </p:nvSpPr>
        <p:spPr bwMode="auto">
          <a:xfrm>
            <a:off x="5573201" y="1299622"/>
            <a:ext cx="2822011" cy="1231056"/>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nSpc>
                <a:spcPts val="3200"/>
              </a:lnSpc>
              <a:buNone/>
            </a:pPr>
            <a:r>
              <a:rPr lang="zh-CN" altLang="en-US" sz="2200" dirty="0">
                <a:latin typeface="幼圆" panose="02010509060101010101" pitchFamily="49" charset="-122"/>
                <a:ea typeface="幼圆" panose="02010509060101010101" pitchFamily="49" charset="-122"/>
              </a:rPr>
              <a:t>反映了从</a:t>
            </a:r>
            <a:r>
              <a:rPr lang="en-US" altLang="zh-CN" sz="2200" dirty="0">
                <a:latin typeface="幼圆" panose="02010509060101010101" pitchFamily="49" charset="-122"/>
                <a:ea typeface="幼圆" panose="02010509060101010101" pitchFamily="49" charset="-122"/>
              </a:rPr>
              <a:t>  </a:t>
            </a:r>
            <a:r>
              <a:rPr lang="zh-CN" altLang="en-US" sz="2200" dirty="0">
                <a:latin typeface="幼圆" panose="02010509060101010101" pitchFamily="49" charset="-122"/>
                <a:ea typeface="幼圆" panose="02010509060101010101" pitchFamily="49" charset="-122"/>
              </a:rPr>
              <a:t>中随机抽取两个样本，其类别标记不一致的概率</a:t>
            </a:r>
            <a:endParaRPr lang="zh-CN" altLang="en-US" sz="2200" i="0" dirty="0">
              <a:latin typeface="幼圆" panose="02010509060101010101" pitchFamily="49" charset="-122"/>
              <a:ea typeface="幼圆" panose="02010509060101010101" pitchFamily="49" charset="-122"/>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486795905"/>
              </p:ext>
            </p:extLst>
          </p:nvPr>
        </p:nvGraphicFramePr>
        <p:xfrm>
          <a:off x="6810073" y="1453647"/>
          <a:ext cx="198437" cy="271463"/>
        </p:xfrm>
        <a:graphic>
          <a:graphicData uri="http://schemas.openxmlformats.org/presentationml/2006/ole">
            <mc:AlternateContent xmlns:mc="http://schemas.openxmlformats.org/markup-compatibility/2006">
              <mc:Choice xmlns:v="urn:schemas-microsoft-com:vml" Requires="v">
                <p:oleObj name="Formula" r:id="rId12" imgW="124560" imgH="166680" progId="Equation.Ribbit">
                  <p:embed/>
                </p:oleObj>
              </mc:Choice>
              <mc:Fallback>
                <p:oleObj name="Formula" r:id="rId12" imgW="124560" imgH="166680" progId="Equation.Ribbit">
                  <p:embed/>
                  <p:pic>
                    <p:nvPicPr>
                      <p:cNvPr id="15" name="对象 14"/>
                      <p:cNvPicPr/>
                      <p:nvPr/>
                    </p:nvPicPr>
                    <p:blipFill>
                      <a:blip r:embed="rId13"/>
                      <a:stretch>
                        <a:fillRect/>
                      </a:stretch>
                    </p:blipFill>
                    <p:spPr>
                      <a:xfrm>
                        <a:off x="6810073" y="1453647"/>
                        <a:ext cx="198437" cy="271463"/>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139488428"/>
              </p:ext>
            </p:extLst>
          </p:nvPr>
        </p:nvGraphicFramePr>
        <p:xfrm>
          <a:off x="1252538" y="3296658"/>
          <a:ext cx="190500" cy="304800"/>
        </p:xfrm>
        <a:graphic>
          <a:graphicData uri="http://schemas.openxmlformats.org/presentationml/2006/ole">
            <mc:AlternateContent xmlns:mc="http://schemas.openxmlformats.org/markup-compatibility/2006">
              <mc:Choice xmlns:v="urn:schemas-microsoft-com:vml" Requires="v">
                <p:oleObj name="Formula" r:id="rId14" imgW="80280" imgH="129600" progId="Equation.Ribbit">
                  <p:embed/>
                </p:oleObj>
              </mc:Choice>
              <mc:Fallback>
                <p:oleObj name="Formula" r:id="rId14" imgW="80280" imgH="129600" progId="Equation.Ribbit">
                  <p:embed/>
                  <p:pic>
                    <p:nvPicPr>
                      <p:cNvPr id="16" name="对象 15"/>
                      <p:cNvPicPr/>
                      <p:nvPr/>
                    </p:nvPicPr>
                    <p:blipFill>
                      <a:blip r:embed="rId15"/>
                      <a:stretch>
                        <a:fillRect/>
                      </a:stretch>
                    </p:blipFill>
                    <p:spPr>
                      <a:xfrm>
                        <a:off x="1252538" y="3296658"/>
                        <a:ext cx="190500" cy="304800"/>
                      </a:xfrm>
                      <a:prstGeom prst="rect">
                        <a:avLst/>
                      </a:prstGeom>
                    </p:spPr>
                  </p:pic>
                </p:oleObj>
              </mc:Fallback>
            </mc:AlternateContent>
          </a:graphicData>
        </a:graphic>
      </p:graphicFrame>
    </p:spTree>
    <p:extLst>
      <p:ext uri="{BB962C8B-B14F-4D97-AF65-F5344CB8AC3E}">
        <p14:creationId xmlns:p14="http://schemas.microsoft.com/office/powerpoint/2010/main" val="135447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pPr marL="0" indent="0">
              <a:buNone/>
            </a:pPr>
            <a:endParaRPr lang="en-US" altLang="zh-CN" dirty="0"/>
          </a:p>
          <a:p>
            <a:r>
              <a:rPr lang="zh-CN" altLang="en-US" dirty="0"/>
              <a:t>剪枝处理</a:t>
            </a:r>
            <a:endParaRPr lang="en-US" altLang="zh-CN" dirty="0"/>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extLst>
      <p:ext uri="{BB962C8B-B14F-4D97-AF65-F5344CB8AC3E}">
        <p14:creationId xmlns:p14="http://schemas.microsoft.com/office/powerpoint/2010/main" val="3298501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p>
        </p:txBody>
      </p:sp>
      <p:sp>
        <p:nvSpPr>
          <p:cNvPr id="3" name="内容占位符 2"/>
          <p:cNvSpPr>
            <a:spLocks noGrp="1"/>
          </p:cNvSpPr>
          <p:nvPr>
            <p:ph idx="1"/>
          </p:nvPr>
        </p:nvSpPr>
        <p:spPr>
          <a:xfrm>
            <a:off x="260350" y="1073426"/>
            <a:ext cx="8456267" cy="5267739"/>
          </a:xfrm>
        </p:spPr>
        <p:txBody>
          <a:bodyPr/>
          <a:lstStyle/>
          <a:p>
            <a:r>
              <a:rPr lang="zh-CN" altLang="en-US" dirty="0"/>
              <a:t>为什么剪枝</a:t>
            </a:r>
            <a:endParaRPr lang="en-US" altLang="zh-CN" dirty="0"/>
          </a:p>
          <a:p>
            <a:pPr>
              <a:lnSpc>
                <a:spcPct val="10000"/>
              </a:lnSpc>
            </a:pPr>
            <a:endParaRPr lang="en-US" altLang="zh-CN" dirty="0"/>
          </a:p>
          <a:p>
            <a:pPr lvl="1"/>
            <a:r>
              <a:rPr lang="zh-CN" altLang="en-US" dirty="0"/>
              <a:t>“剪枝”是决策树学习算法</a:t>
            </a:r>
            <a:r>
              <a:rPr lang="zh-CN" altLang="en-US" dirty="0">
                <a:solidFill>
                  <a:srgbClr val="C00000"/>
                </a:solidFill>
              </a:rPr>
              <a:t>对付“过拟合”</a:t>
            </a:r>
            <a:r>
              <a:rPr lang="zh-CN" altLang="en-US" dirty="0"/>
              <a:t>的主要手段</a:t>
            </a:r>
            <a:endParaRPr lang="en-US" altLang="zh-CN" dirty="0"/>
          </a:p>
          <a:p>
            <a:pPr lvl="1">
              <a:lnSpc>
                <a:spcPts val="200"/>
              </a:lnSpc>
            </a:pPr>
            <a:endParaRPr lang="en-US" altLang="zh-CN" dirty="0"/>
          </a:p>
          <a:p>
            <a:pPr lvl="1">
              <a:lnSpc>
                <a:spcPct val="120000"/>
              </a:lnSpc>
            </a:pPr>
            <a:r>
              <a:rPr lang="zh-CN" altLang="en-US" dirty="0"/>
              <a:t>可通过“剪枝”来一定程度避免因决策分支过多，以致于把训练集自身的一些特点当做所有数据都具有的一般性质而导致的过拟合</a:t>
            </a:r>
            <a:endParaRPr lang="en-US" altLang="zh-CN" dirty="0"/>
          </a:p>
          <a:p>
            <a:pPr marL="0" indent="0">
              <a:lnSpc>
                <a:spcPct val="30000"/>
              </a:lnSpc>
              <a:buNone/>
            </a:pPr>
            <a:endParaRPr lang="en-US" altLang="zh-CN" dirty="0"/>
          </a:p>
          <a:p>
            <a:r>
              <a:rPr lang="en-US" altLang="zh-CN" dirty="0"/>
              <a:t> </a:t>
            </a:r>
            <a:r>
              <a:rPr lang="zh-CN" altLang="en-US" dirty="0"/>
              <a:t>剪枝的基本策略</a:t>
            </a:r>
            <a:endParaRPr lang="en-US" altLang="zh-CN" dirty="0"/>
          </a:p>
          <a:p>
            <a:pPr>
              <a:lnSpc>
                <a:spcPct val="10000"/>
              </a:lnSpc>
            </a:pPr>
            <a:endParaRPr lang="en-US" altLang="zh-CN" dirty="0"/>
          </a:p>
          <a:p>
            <a:pPr lvl="1">
              <a:lnSpc>
                <a:spcPct val="120000"/>
              </a:lnSpc>
            </a:pPr>
            <a:r>
              <a:rPr lang="zh-CN" altLang="en-US" dirty="0"/>
              <a:t>预剪枝：决策树生成过程中，</a:t>
            </a:r>
            <a:r>
              <a:rPr lang="zh-CN" altLang="en-US" dirty="0">
                <a:solidFill>
                  <a:srgbClr val="C00000"/>
                </a:solidFill>
              </a:rPr>
              <a:t>对每个结点在划分前先进行估计</a:t>
            </a:r>
            <a:r>
              <a:rPr lang="zh-CN" altLang="en-US" dirty="0"/>
              <a:t>，若当前结点的划分不能带来决策树泛化性能提升，则停止划分并将当前结点记为叶结点</a:t>
            </a:r>
            <a:endParaRPr lang="en-US" altLang="zh-CN" dirty="0"/>
          </a:p>
          <a:p>
            <a:pPr lvl="1">
              <a:lnSpc>
                <a:spcPts val="200"/>
              </a:lnSpc>
            </a:pPr>
            <a:endParaRPr lang="en-US" altLang="zh-CN" dirty="0"/>
          </a:p>
          <a:p>
            <a:pPr lvl="1">
              <a:lnSpc>
                <a:spcPct val="120000"/>
              </a:lnSpc>
            </a:pPr>
            <a:r>
              <a:rPr lang="zh-CN" altLang="en-US" dirty="0"/>
              <a:t>后剪枝：先从训练集生成一棵完整的决策树，然后自底向上地对非叶结点进行考察，若将该结点对应的子树替换为叶结点能带来决策树泛化性能提升，则将该子树替换为叶结点</a:t>
            </a:r>
          </a:p>
          <a:p>
            <a:pPr lvl="1"/>
            <a:endParaRPr lang="en-US" altLang="zh-CN" dirty="0"/>
          </a:p>
          <a:p>
            <a:pPr marL="325800" lvl="1" indent="0">
              <a:lnSpc>
                <a:spcPct val="50000"/>
              </a:lnSpc>
              <a:buNone/>
            </a:pPr>
            <a:endParaRPr lang="en-US" altLang="zh-CN" dirty="0"/>
          </a:p>
          <a:p>
            <a:pPr marL="325800" lvl="1" indent="0">
              <a:buNone/>
            </a:pPr>
            <a:endParaRPr lang="zh-CN" altLang="en-US" dirty="0"/>
          </a:p>
        </p:txBody>
      </p:sp>
    </p:spTree>
    <p:extLst>
      <p:ext uri="{BB962C8B-B14F-4D97-AF65-F5344CB8AC3E}">
        <p14:creationId xmlns:p14="http://schemas.microsoft.com/office/powerpoint/2010/main" val="231225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p>
        </p:txBody>
      </p:sp>
      <p:sp>
        <p:nvSpPr>
          <p:cNvPr id="3" name="内容占位符 2"/>
          <p:cNvSpPr>
            <a:spLocks noGrp="1"/>
          </p:cNvSpPr>
          <p:nvPr>
            <p:ph idx="1"/>
          </p:nvPr>
        </p:nvSpPr>
        <p:spPr>
          <a:xfrm>
            <a:off x="260350" y="714912"/>
            <a:ext cx="8616950" cy="5675949"/>
          </a:xfrm>
        </p:spPr>
        <p:txBody>
          <a:bodyPr>
            <a:normAutofit/>
          </a:bodyPr>
          <a:lstStyle/>
          <a:p>
            <a:pPr marL="325800" lvl="1" indent="0">
              <a:lnSpc>
                <a:spcPct val="50000"/>
              </a:lnSpc>
              <a:buNone/>
            </a:pPr>
            <a:endParaRPr lang="en-US" altLang="zh-CN" dirty="0"/>
          </a:p>
          <a:p>
            <a:r>
              <a:rPr lang="zh-CN" altLang="en-US" dirty="0"/>
              <a:t>如何判断决策树泛化性能是否提升的方法</a:t>
            </a:r>
            <a:endParaRPr lang="en-US" altLang="zh-CN" dirty="0"/>
          </a:p>
          <a:p>
            <a:pPr>
              <a:lnSpc>
                <a:spcPts val="100"/>
              </a:lnSpc>
            </a:pPr>
            <a:endParaRPr lang="en-US" altLang="zh-CN" dirty="0"/>
          </a:p>
          <a:p>
            <a:pPr marL="0" indent="0">
              <a:lnSpc>
                <a:spcPct val="120000"/>
              </a:lnSpc>
              <a:buNone/>
            </a:pPr>
            <a:r>
              <a:rPr lang="zh-CN" altLang="en-US" dirty="0"/>
              <a:t>    模型涉及两类参数：模型参数和超参数，其中模型参数是从训练集中学习到的参数；超参数是需要人工设定的参数。</a:t>
            </a:r>
            <a:endParaRPr lang="en-US" altLang="zh-CN" dirty="0"/>
          </a:p>
          <a:p>
            <a:pPr marL="0" indent="0">
              <a:lnSpc>
                <a:spcPct val="120000"/>
              </a:lnSpc>
              <a:buNone/>
            </a:pPr>
            <a:r>
              <a:rPr lang="en-US" altLang="zh-CN" dirty="0"/>
              <a:t>    </a:t>
            </a:r>
            <a:r>
              <a:rPr lang="zh-CN" altLang="en-US" dirty="0"/>
              <a:t>大部分模型都有些超参数需要人为设定，不同的超参数设置，导致学得模型的性能往往有显著差别</a:t>
            </a:r>
            <a:r>
              <a:rPr lang="en-US" altLang="zh-CN" dirty="0"/>
              <a:t>----</a:t>
            </a:r>
            <a:r>
              <a:rPr lang="zh-CN" altLang="en-US" dirty="0"/>
              <a:t>参数调节或调参。</a:t>
            </a:r>
            <a:endParaRPr lang="en-US" altLang="zh-CN" dirty="0"/>
          </a:p>
          <a:p>
            <a:pPr marL="0" indent="0">
              <a:lnSpc>
                <a:spcPct val="10000"/>
              </a:lnSpc>
              <a:buNone/>
            </a:pPr>
            <a:endParaRPr lang="en-US" altLang="zh-CN" dirty="0"/>
          </a:p>
          <a:p>
            <a:pPr>
              <a:lnSpc>
                <a:spcPct val="10000"/>
              </a:lnSpc>
            </a:pPr>
            <a:endParaRPr lang="en-US" altLang="zh-CN" dirty="0"/>
          </a:p>
          <a:p>
            <a:pPr lvl="1"/>
            <a:r>
              <a:rPr lang="zh-CN" altLang="en-US" dirty="0"/>
              <a:t>预留一部分数据用作“验证集”以进行性能评估</a:t>
            </a:r>
            <a:endParaRPr lang="en-US" altLang="zh-CN" dirty="0"/>
          </a:p>
        </p:txBody>
      </p:sp>
      <p:pic>
        <p:nvPicPr>
          <p:cNvPr id="4" name="图片 3">
            <a:extLst>
              <a:ext uri="{FF2B5EF4-FFF2-40B4-BE49-F238E27FC236}">
                <a16:creationId xmlns:a16="http://schemas.microsoft.com/office/drawing/2014/main" id="{5ED1BF99-6559-365A-019D-DED4F2596519}"/>
              </a:ext>
            </a:extLst>
          </p:cNvPr>
          <p:cNvPicPr>
            <a:picLocks noChangeAspect="1"/>
          </p:cNvPicPr>
          <p:nvPr/>
        </p:nvPicPr>
        <p:blipFill>
          <a:blip r:embed="rId3"/>
          <a:stretch>
            <a:fillRect/>
          </a:stretch>
        </p:blipFill>
        <p:spPr>
          <a:xfrm>
            <a:off x="367749" y="4320018"/>
            <a:ext cx="4641574" cy="1474225"/>
          </a:xfrm>
          <a:prstGeom prst="rect">
            <a:avLst/>
          </a:prstGeom>
        </p:spPr>
      </p:pic>
      <p:sp>
        <p:nvSpPr>
          <p:cNvPr id="5" name="文本框 4">
            <a:extLst>
              <a:ext uri="{FF2B5EF4-FFF2-40B4-BE49-F238E27FC236}">
                <a16:creationId xmlns:a16="http://schemas.microsoft.com/office/drawing/2014/main" id="{2B8A1CC6-4E5E-5CFF-3E37-1037D6E28F17}"/>
              </a:ext>
            </a:extLst>
          </p:cNvPr>
          <p:cNvSpPr txBox="1"/>
          <p:nvPr/>
        </p:nvSpPr>
        <p:spPr>
          <a:xfrm>
            <a:off x="5218873" y="4187681"/>
            <a:ext cx="3448877" cy="1955407"/>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dirty="0"/>
              <a:t>训练集：用于训练模型，确定模型参数；</a:t>
            </a:r>
            <a:endParaRPr lang="en-US" altLang="zh-CN" dirty="0"/>
          </a:p>
          <a:p>
            <a:pPr marL="285750" indent="-285750">
              <a:lnSpc>
                <a:spcPts val="1000"/>
              </a:lnSpc>
              <a:buFont typeface="Arial" panose="020B0604020202020204" pitchFamily="34" charset="0"/>
              <a:buChar char="•"/>
            </a:pPr>
            <a:endParaRPr lang="en-US" altLang="zh-CN" dirty="0"/>
          </a:p>
          <a:p>
            <a:pPr marL="285750" indent="-285750">
              <a:lnSpc>
                <a:spcPct val="120000"/>
              </a:lnSpc>
              <a:buFont typeface="Arial" panose="020B0604020202020204" pitchFamily="34" charset="0"/>
              <a:buChar char="•"/>
            </a:pPr>
            <a:r>
              <a:rPr lang="zh-CN" altLang="en-US" dirty="0"/>
              <a:t>验证集：用以确定模型超参数，选出最优模型；</a:t>
            </a:r>
            <a:endParaRPr lang="en-US" altLang="zh-CN" dirty="0"/>
          </a:p>
          <a:p>
            <a:pPr marL="285750" indent="-285750">
              <a:lnSpc>
                <a:spcPts val="1000"/>
              </a:lnSpc>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测试集：用于性能评估</a:t>
            </a:r>
          </a:p>
        </p:txBody>
      </p:sp>
    </p:spTree>
    <p:extLst>
      <p:ext uri="{BB962C8B-B14F-4D97-AF65-F5344CB8AC3E}">
        <p14:creationId xmlns:p14="http://schemas.microsoft.com/office/powerpoint/2010/main" val="329291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p>
        </p:txBody>
      </p:sp>
      <p:sp>
        <p:nvSpPr>
          <p:cNvPr id="3" name="文本占位符 2"/>
          <p:cNvSpPr>
            <a:spLocks noGrp="1"/>
          </p:cNvSpPr>
          <p:nvPr>
            <p:ph type="body" sz="quarter" idx="13"/>
          </p:nvPr>
        </p:nvSpPr>
        <p:spPr/>
        <p:txBody>
          <a:bodyPr>
            <a:normAutofit lnSpcReduction="10000"/>
          </a:bodyPr>
          <a:lstStyle/>
          <a:p>
            <a:r>
              <a:rPr lang="zh-CN" altLang="en-US" dirty="0"/>
              <a:t>数据集</a:t>
            </a:r>
          </a:p>
        </p:txBody>
      </p:sp>
      <p:pic>
        <p:nvPicPr>
          <p:cNvPr id="5" name="内容占位符 3"/>
          <p:cNvPicPr>
            <a:picLocks noGrp="1" noChangeAspect="1"/>
          </p:cNvPicPr>
          <p:nvPr>
            <p:ph sz="quarter" idx="14"/>
          </p:nvPr>
        </p:nvPicPr>
        <p:blipFill>
          <a:blip r:embed="rId3"/>
          <a:stretch>
            <a:fillRect/>
          </a:stretch>
        </p:blipFill>
        <p:spPr>
          <a:xfrm>
            <a:off x="1730888" y="1401417"/>
            <a:ext cx="6009898" cy="4755223"/>
          </a:xfrm>
          <a:prstGeom prst="rect">
            <a:avLst/>
          </a:prstGeom>
        </p:spPr>
      </p:pic>
      <p:sp>
        <p:nvSpPr>
          <p:cNvPr id="8" name="左大括号 7"/>
          <p:cNvSpPr/>
          <p:nvPr/>
        </p:nvSpPr>
        <p:spPr>
          <a:xfrm>
            <a:off x="1545691" y="1716872"/>
            <a:ext cx="194872" cy="237594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左大括号 8"/>
          <p:cNvSpPr/>
          <p:nvPr/>
        </p:nvSpPr>
        <p:spPr>
          <a:xfrm>
            <a:off x="1545691" y="4324662"/>
            <a:ext cx="194872" cy="174885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Rectangle 3"/>
          <p:cNvSpPr>
            <a:spLocks noChangeArrowheads="1"/>
          </p:cNvSpPr>
          <p:nvPr/>
        </p:nvSpPr>
        <p:spPr bwMode="auto">
          <a:xfrm>
            <a:off x="397251" y="2572971"/>
            <a:ext cx="1122114"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2200" i="0" dirty="0">
                <a:latin typeface="幼圆" panose="02010509060101010101" pitchFamily="49" charset="-122"/>
                <a:ea typeface="幼圆" panose="02010509060101010101" pitchFamily="49" charset="-122"/>
              </a:rPr>
              <a:t>训练集</a:t>
            </a:r>
          </a:p>
        </p:txBody>
      </p:sp>
      <p:sp>
        <p:nvSpPr>
          <p:cNvPr id="12" name="Rectangle 3"/>
          <p:cNvSpPr>
            <a:spLocks noChangeArrowheads="1"/>
          </p:cNvSpPr>
          <p:nvPr/>
        </p:nvSpPr>
        <p:spPr bwMode="auto">
          <a:xfrm>
            <a:off x="397251" y="4867217"/>
            <a:ext cx="1122114"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2200" dirty="0">
                <a:latin typeface="幼圆" panose="02010509060101010101" pitchFamily="49" charset="-122"/>
                <a:ea typeface="幼圆" panose="02010509060101010101" pitchFamily="49" charset="-122"/>
              </a:rPr>
              <a:t>验证集</a:t>
            </a:r>
            <a:endParaRPr lang="zh-CN" altLang="en-US" sz="2200" i="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6796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p>
        </p:txBody>
      </p:sp>
      <p:sp>
        <p:nvSpPr>
          <p:cNvPr id="3" name="文本占位符 2"/>
          <p:cNvSpPr>
            <a:spLocks noGrp="1"/>
          </p:cNvSpPr>
          <p:nvPr>
            <p:ph type="body" sz="quarter" idx="13"/>
          </p:nvPr>
        </p:nvSpPr>
        <p:spPr/>
        <p:txBody>
          <a:bodyPr>
            <a:normAutofit lnSpcReduction="10000"/>
          </a:bodyPr>
          <a:lstStyle/>
          <a:p>
            <a:r>
              <a:rPr lang="zh-CN" altLang="en-US" dirty="0"/>
              <a:t>未剪枝决策树</a:t>
            </a:r>
            <a:endParaRPr lang="en-US" altLang="zh-CN" dirty="0"/>
          </a:p>
          <a:p>
            <a:endParaRPr lang="zh-CN" altLang="en-US" dirty="0"/>
          </a:p>
        </p:txBody>
      </p:sp>
      <p:grpSp>
        <p:nvGrpSpPr>
          <p:cNvPr id="5" name="组合 4"/>
          <p:cNvGrpSpPr/>
          <p:nvPr/>
        </p:nvGrpSpPr>
        <p:grpSpPr>
          <a:xfrm>
            <a:off x="330652" y="1478054"/>
            <a:ext cx="8479450" cy="4732069"/>
            <a:chOff x="1926459" y="2007290"/>
            <a:chExt cx="8479450" cy="4732069"/>
          </a:xfrm>
        </p:grpSpPr>
        <p:grpSp>
          <p:nvGrpSpPr>
            <p:cNvPr id="6" name="组合 5"/>
            <p:cNvGrpSpPr/>
            <p:nvPr/>
          </p:nvGrpSpPr>
          <p:grpSpPr>
            <a:xfrm>
              <a:off x="4423852" y="6307359"/>
              <a:ext cx="3582444" cy="432000"/>
              <a:chOff x="2341355" y="4320514"/>
              <a:chExt cx="3582444" cy="432000"/>
            </a:xfrm>
          </p:grpSpPr>
          <p:sp>
            <p:nvSpPr>
              <p:cNvPr id="56" name="椭圆 55"/>
              <p:cNvSpPr/>
              <p:nvPr/>
            </p:nvSpPr>
            <p:spPr>
              <a:xfrm>
                <a:off x="2341355"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sp>
            <p:nvSpPr>
              <p:cNvPr id="57" name="椭圆 56"/>
              <p:cNvSpPr/>
              <p:nvPr/>
            </p:nvSpPr>
            <p:spPr>
              <a:xfrm>
                <a:off x="3592577"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sp>
            <p:nvSpPr>
              <p:cNvPr id="58" name="椭圆 57"/>
              <p:cNvSpPr/>
              <p:nvPr/>
            </p:nvSpPr>
            <p:spPr>
              <a:xfrm>
                <a:off x="4843799"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grpSp>
        <p:cxnSp>
          <p:nvCxnSpPr>
            <p:cNvPr id="7" name="直接连接符 6"/>
            <p:cNvCxnSpPr>
              <a:endCxn id="56" idx="0"/>
            </p:cNvCxnSpPr>
            <p:nvPr/>
          </p:nvCxnSpPr>
          <p:spPr>
            <a:xfrm flipH="1">
              <a:off x="4963852" y="5508978"/>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8" name="文本框 11"/>
            <p:cNvSpPr txBox="1"/>
            <p:nvPr/>
          </p:nvSpPr>
          <p:spPr>
            <a:xfrm>
              <a:off x="6164461"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清晰</a:t>
              </a:r>
            </a:p>
          </p:txBody>
        </p:sp>
        <p:cxnSp>
          <p:nvCxnSpPr>
            <p:cNvPr id="9" name="直接连接符 8"/>
            <p:cNvCxnSpPr>
              <a:endCxn id="58" idx="0"/>
            </p:cNvCxnSpPr>
            <p:nvPr/>
          </p:nvCxnSpPr>
          <p:spPr>
            <a:xfrm>
              <a:off x="6215074" y="5508978"/>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a:stCxn id="11" idx="2"/>
              <a:endCxn id="57" idx="0"/>
            </p:cNvCxnSpPr>
            <p:nvPr/>
          </p:nvCxnSpPr>
          <p:spPr>
            <a:xfrm>
              <a:off x="6215074" y="5699638"/>
              <a:ext cx="0" cy="607721"/>
            </a:xfrm>
            <a:prstGeom prst="line">
              <a:avLst/>
            </a:prstGeom>
          </p:spPr>
          <p:style>
            <a:lnRef idx="1">
              <a:schemeClr val="dk1"/>
            </a:lnRef>
            <a:fillRef idx="0">
              <a:schemeClr val="dk1"/>
            </a:fillRef>
            <a:effectRef idx="0">
              <a:schemeClr val="dk1"/>
            </a:effectRef>
            <a:fontRef idx="minor">
              <a:schemeClr val="tx1"/>
            </a:fontRef>
          </p:style>
        </p:cxnSp>
        <p:sp>
          <p:nvSpPr>
            <p:cNvPr id="11" name="圆角矩形 10"/>
            <p:cNvSpPr/>
            <p:nvPr/>
          </p:nvSpPr>
          <p:spPr>
            <a:xfrm>
              <a:off x="5675074" y="52676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纹理</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12" name="文本框 20"/>
            <p:cNvSpPr txBox="1"/>
            <p:nvPr/>
          </p:nvSpPr>
          <p:spPr>
            <a:xfrm>
              <a:off x="708996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模糊</a:t>
              </a:r>
            </a:p>
          </p:txBody>
        </p:sp>
        <p:sp>
          <p:nvSpPr>
            <p:cNvPr id="13" name="文本框 21"/>
            <p:cNvSpPr txBox="1"/>
            <p:nvPr/>
          </p:nvSpPr>
          <p:spPr>
            <a:xfrm>
              <a:off x="473714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稍糊</a:t>
              </a:r>
            </a:p>
          </p:txBody>
        </p:sp>
        <p:sp>
          <p:nvSpPr>
            <p:cNvPr id="14" name="椭圆 13"/>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sp>
          <p:nvSpPr>
            <p:cNvPr id="15" name="椭圆 14"/>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16" name="直接连接符 15"/>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7"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8" name="直接连接符 17"/>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20"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1"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2" name="圆角矩形 21"/>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23" name="椭圆 22"/>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sp>
          <p:nvSpPr>
            <p:cNvPr id="24" name="椭圆 23"/>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25" name="直接连接符 24"/>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6"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7" name="直接连接符 26"/>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9"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30"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1" name="圆角矩形 30"/>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32" name="椭圆 31"/>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sp>
          <p:nvSpPr>
            <p:cNvPr id="33" name="椭圆 32"/>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sp>
          <p:nvSpPr>
            <p:cNvPr id="34" name="椭圆 33"/>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35" name="直接连接符 34"/>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6"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7" name="直接连接符 36"/>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9"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40"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1" name="圆角矩形 40"/>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42" name="椭圆 41"/>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cxnSp>
          <p:nvCxnSpPr>
            <p:cNvPr id="43" name="直接连接符 42"/>
            <p:cNvCxnSpPr>
              <a:stCxn id="46" idx="2"/>
              <a:endCxn id="31"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2"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5" name="直接连接符 44"/>
            <p:cNvCxnSpPr>
              <a:endCxn id="41"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6" name="圆角矩形 45"/>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47"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8"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9"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50" name="椭圆 49"/>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1" name="椭圆 50"/>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2" name="椭圆 51"/>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3" name="椭圆 52"/>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4" name="椭圆 53"/>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sp>
          <p:nvSpPr>
            <p:cNvPr id="55" name="椭圆 54"/>
            <p:cNvSpPr/>
            <p:nvPr/>
          </p:nvSpPr>
          <p:spPr>
            <a:xfrm>
              <a:off x="5531825" y="505816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6</a:t>
              </a:r>
              <a:endParaRPr lang="zh-CN" altLang="en-US" dirty="0">
                <a:solidFill>
                  <a:schemeClr val="tx1"/>
                </a:solidFill>
                <a:latin typeface="Times "/>
              </a:endParaRPr>
            </a:p>
          </p:txBody>
        </p:sp>
      </p:grpSp>
    </p:spTree>
    <p:extLst>
      <p:ext uri="{BB962C8B-B14F-4D97-AF65-F5344CB8AC3E}">
        <p14:creationId xmlns:p14="http://schemas.microsoft.com/office/powerpoint/2010/main" val="2669302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预剪枝</a:t>
            </a:r>
          </a:p>
        </p:txBody>
      </p:sp>
      <p:sp>
        <p:nvSpPr>
          <p:cNvPr id="3" name="内容占位符 2"/>
          <p:cNvSpPr>
            <a:spLocks noGrp="1"/>
          </p:cNvSpPr>
          <p:nvPr>
            <p:ph idx="1"/>
          </p:nvPr>
        </p:nvSpPr>
        <p:spPr>
          <a:xfrm>
            <a:off x="260350" y="1158536"/>
            <a:ext cx="8436389" cy="4930775"/>
          </a:xfrm>
        </p:spPr>
        <p:txBody>
          <a:bodyPr/>
          <a:lstStyle/>
          <a:p>
            <a:pPr>
              <a:lnSpc>
                <a:spcPct val="130000"/>
              </a:lnSpc>
            </a:pPr>
            <a:r>
              <a:rPr lang="zh-CN" altLang="en-US" dirty="0"/>
              <a:t>决策树生成过程中，</a:t>
            </a:r>
            <a:r>
              <a:rPr lang="zh-CN" altLang="en-US" dirty="0">
                <a:solidFill>
                  <a:srgbClr val="C00000"/>
                </a:solidFill>
              </a:rPr>
              <a:t>对每个结点在划分前先进行估计</a:t>
            </a:r>
            <a:r>
              <a:rPr lang="zh-CN" altLang="en-US" dirty="0"/>
              <a:t>，若当前结点的划分不能带来决策树泛化性能提升，则停止划分并将当前结点记为叶结点，其类别标记为训练样例数最多的类别。</a:t>
            </a:r>
            <a:endParaRPr lang="en-US" altLang="zh-CN" dirty="0"/>
          </a:p>
          <a:p>
            <a:pPr marL="0" indent="0">
              <a:buNone/>
            </a:pPr>
            <a:endParaRPr lang="en-US" altLang="zh-CN" dirty="0"/>
          </a:p>
          <a:p>
            <a:pPr>
              <a:lnSpc>
                <a:spcPct val="130000"/>
              </a:lnSpc>
            </a:pPr>
            <a:r>
              <a:rPr lang="zh-CN" altLang="en-US" dirty="0"/>
              <a:t>针对上述数据集，基于信息增益准则，选取属性“脐部”划分训练集。分别计算划分前（即直接将该结点作为叶结点）及划分后的验证集精度，判断是否需要划分。若划分后能提高验证集精度，则划分，对划分后的属性，执行同样判断；否则，不划分</a:t>
            </a:r>
          </a:p>
          <a:p>
            <a:pPr marL="0" indent="0">
              <a:buNone/>
            </a:pPr>
            <a:endParaRPr lang="en-US" altLang="zh-CN" dirty="0"/>
          </a:p>
          <a:p>
            <a:endParaRPr lang="zh-CN" altLang="en-US" dirty="0"/>
          </a:p>
        </p:txBody>
      </p:sp>
    </p:spTree>
    <p:extLst>
      <p:ext uri="{BB962C8B-B14F-4D97-AF65-F5344CB8AC3E}">
        <p14:creationId xmlns:p14="http://schemas.microsoft.com/office/powerpoint/2010/main" val="263698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预剪枝</a:t>
            </a:r>
          </a:p>
        </p:txBody>
      </p:sp>
      <p:pic>
        <p:nvPicPr>
          <p:cNvPr id="34" name="内容占位符 33"/>
          <p:cNvPicPr>
            <a:picLocks noGrp="1" noChangeAspect="1"/>
          </p:cNvPicPr>
          <p:nvPr>
            <p:ph idx="1"/>
          </p:nvPr>
        </p:nvPicPr>
        <p:blipFill>
          <a:blip r:embed="rId2"/>
          <a:stretch>
            <a:fillRect/>
          </a:stretch>
        </p:blipFill>
        <p:spPr>
          <a:xfrm>
            <a:off x="708772" y="868836"/>
            <a:ext cx="4487272" cy="1542196"/>
          </a:xfrm>
          <a:prstGeom prst="rect">
            <a:avLst/>
          </a:prstGeom>
        </p:spPr>
      </p:pic>
      <p:sp>
        <p:nvSpPr>
          <p:cNvPr id="13" name="圆角矩形 12"/>
          <p:cNvSpPr/>
          <p:nvPr/>
        </p:nvSpPr>
        <p:spPr>
          <a:xfrm>
            <a:off x="3465503" y="29504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18" name="文本框 17"/>
          <p:cNvSpPr txBox="1"/>
          <p:nvPr/>
        </p:nvSpPr>
        <p:spPr>
          <a:xfrm>
            <a:off x="5687371" y="2950438"/>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“脐部</a:t>
            </a:r>
            <a:r>
              <a:rPr lang="en-US" altLang="zh-CN" dirty="0">
                <a:solidFill>
                  <a:srgbClr val="FF0000"/>
                </a:solidFill>
                <a:latin typeface="Times "/>
                <a:ea typeface="楷体" panose="02010609060101010101" pitchFamily="49" charset="-122"/>
              </a:rPr>
              <a:t>=?</a:t>
            </a:r>
            <a:r>
              <a:rPr lang="zh-CN" altLang="en-US" dirty="0">
                <a:solidFill>
                  <a:srgbClr val="FF0000"/>
                </a:solidFill>
                <a:latin typeface="Times "/>
                <a:ea typeface="楷体" panose="02010609060101010101" pitchFamily="49" charset="-122"/>
              </a:rPr>
              <a:t>”</a:t>
            </a: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20" name="文本框 20"/>
          <p:cNvSpPr txBox="1"/>
          <p:nvPr/>
        </p:nvSpPr>
        <p:spPr>
          <a:xfrm>
            <a:off x="6891223" y="2934370"/>
            <a:ext cx="1685077"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划分前</a:t>
            </a:r>
            <a:r>
              <a:rPr lang="en-US" altLang="zh-CN" dirty="0">
                <a:solidFill>
                  <a:srgbClr val="FF0000"/>
                </a:solidFill>
                <a:latin typeface="Times "/>
                <a:ea typeface="楷体" panose="02010609060101010101" pitchFamily="49" charset="-122"/>
              </a:rPr>
              <a:t>: 42.9%</a:t>
            </a: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381469" y="901270"/>
            <a:ext cx="3514611" cy="1477328"/>
          </a:xfrm>
          <a:prstGeom prst="rect">
            <a:avLst/>
          </a:prstGeom>
          <a:noFill/>
        </p:spPr>
        <p:txBody>
          <a:bodyPr wrap="square" rtlCol="0">
            <a:spAutoFit/>
          </a:bodyPr>
          <a:lstStyle/>
          <a:p>
            <a:r>
              <a:rPr lang="zh-CN" altLang="en-US" dirty="0"/>
              <a:t>结点</a:t>
            </a:r>
            <a:r>
              <a:rPr lang="en-US" altLang="zh-CN" dirty="0"/>
              <a:t>1</a:t>
            </a:r>
            <a:r>
              <a:rPr lang="zh-CN" altLang="en-US" dirty="0"/>
              <a:t>：若不划分，则将其标记为叶结点，类别标记为训练样例中最多的类别，即好瓜。验证集中，        被分类正确，得到验证集精度为</a:t>
            </a:r>
            <a:r>
              <a:rPr lang="en-US" altLang="zh-CN" dirty="0"/>
              <a:t>  </a:t>
            </a:r>
            <a:endParaRPr lang="zh-CN" altLang="en-US" dirty="0"/>
          </a:p>
        </p:txBody>
      </p:sp>
      <p:sp>
        <p:nvSpPr>
          <p:cNvPr id="11" name="左大括号 10"/>
          <p:cNvSpPr/>
          <p:nvPr/>
        </p:nvSpPr>
        <p:spPr>
          <a:xfrm>
            <a:off x="484998" y="918219"/>
            <a:ext cx="194872" cy="1508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1600" dirty="0">
                <a:latin typeface="幼圆" panose="02010509060101010101" pitchFamily="49" charset="-122"/>
                <a:ea typeface="幼圆" panose="02010509060101010101" pitchFamily="49" charset="-122"/>
              </a:rPr>
              <a:t>验证集</a:t>
            </a:r>
            <a:endParaRPr lang="zh-CN" altLang="en-US" sz="1600" i="0" dirty="0">
              <a:latin typeface="幼圆" panose="02010509060101010101" pitchFamily="49" charset="-122"/>
              <a:ea typeface="幼圆" panose="02010509060101010101"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17205335"/>
              </p:ext>
            </p:extLst>
          </p:nvPr>
        </p:nvGraphicFramePr>
        <p:xfrm>
          <a:off x="5815013" y="1787525"/>
          <a:ext cx="788987" cy="279400"/>
        </p:xfrm>
        <a:graphic>
          <a:graphicData uri="http://schemas.openxmlformats.org/presentationml/2006/ole">
            <mc:AlternateContent xmlns:mc="http://schemas.openxmlformats.org/markup-compatibility/2006">
              <mc:Choice xmlns:v="urn:schemas-microsoft-com:vml" Requires="v">
                <p:oleObj name="Formula" r:id="rId3" imgW="497880" imgH="177840" progId="Equation.Ribbit">
                  <p:embed/>
                </p:oleObj>
              </mc:Choice>
              <mc:Fallback>
                <p:oleObj name="Formula" r:id="rId3" imgW="497880" imgH="177840" progId="Equation.Ribbit">
                  <p:embed/>
                  <p:pic>
                    <p:nvPicPr>
                      <p:cNvPr id="3" name="对象 2"/>
                      <p:cNvPicPr/>
                      <p:nvPr/>
                    </p:nvPicPr>
                    <p:blipFill>
                      <a:blip r:embed="rId4"/>
                      <a:stretch>
                        <a:fillRect/>
                      </a:stretch>
                    </p:blipFill>
                    <p:spPr>
                      <a:xfrm>
                        <a:off x="5815013" y="1787525"/>
                        <a:ext cx="788987" cy="27940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522686481"/>
              </p:ext>
            </p:extLst>
          </p:nvPr>
        </p:nvGraphicFramePr>
        <p:xfrm>
          <a:off x="6634163" y="2055813"/>
          <a:ext cx="1879600" cy="323850"/>
        </p:xfrm>
        <a:graphic>
          <a:graphicData uri="http://schemas.openxmlformats.org/presentationml/2006/ole">
            <mc:AlternateContent xmlns:mc="http://schemas.openxmlformats.org/markup-compatibility/2006">
              <mc:Choice xmlns:v="urn:schemas-microsoft-com:vml" Requires="v">
                <p:oleObj name="Formula" r:id="rId5" imgW="1196640" imgH="203400" progId="Equation.Ribbit">
                  <p:embed/>
                </p:oleObj>
              </mc:Choice>
              <mc:Fallback>
                <p:oleObj name="Formula" r:id="rId5" imgW="1196640" imgH="203400" progId="Equation.Ribbit">
                  <p:embed/>
                  <p:pic>
                    <p:nvPicPr>
                      <p:cNvPr id="16" name="对象 15"/>
                      <p:cNvPicPr/>
                      <p:nvPr/>
                    </p:nvPicPr>
                    <p:blipFill>
                      <a:blip r:embed="rId6"/>
                      <a:stretch>
                        <a:fillRect/>
                      </a:stretch>
                    </p:blipFill>
                    <p:spPr>
                      <a:xfrm>
                        <a:off x="6634163" y="2055813"/>
                        <a:ext cx="1879600" cy="323850"/>
                      </a:xfrm>
                      <a:prstGeom prst="rect">
                        <a:avLst/>
                      </a:prstGeom>
                    </p:spPr>
                  </p:pic>
                </p:oleObj>
              </mc:Fallback>
            </mc:AlternateContent>
          </a:graphicData>
        </a:graphic>
      </p:graphicFrame>
    </p:spTree>
    <p:extLst>
      <p:ext uri="{BB962C8B-B14F-4D97-AF65-F5344CB8AC3E}">
        <p14:creationId xmlns:p14="http://schemas.microsoft.com/office/powerpoint/2010/main" val="3093613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预剪枝</a:t>
            </a:r>
          </a:p>
        </p:txBody>
      </p:sp>
      <p:graphicFrame>
        <p:nvGraphicFramePr>
          <p:cNvPr id="24" name="内容占位符 23"/>
          <p:cNvGraphicFramePr>
            <a:graphicFrameLocks noGrp="1" noChangeAspect="1"/>
          </p:cNvGraphicFramePr>
          <p:nvPr>
            <p:ph idx="1"/>
            <p:extLst>
              <p:ext uri="{D42A27DB-BD31-4B8C-83A1-F6EECF244321}">
                <p14:modId xmlns:p14="http://schemas.microsoft.com/office/powerpoint/2010/main" val="1253960750"/>
              </p:ext>
            </p:extLst>
          </p:nvPr>
        </p:nvGraphicFramePr>
        <p:xfrm>
          <a:off x="8105775" y="1257300"/>
          <a:ext cx="134938" cy="274638"/>
        </p:xfrm>
        <a:graphic>
          <a:graphicData uri="http://schemas.openxmlformats.org/presentationml/2006/ole">
            <mc:AlternateContent xmlns:mc="http://schemas.openxmlformats.org/markup-compatibility/2006">
              <mc:Choice xmlns:v="urn:schemas-microsoft-com:vml" Requires="v">
                <p:oleObj name="Formula" r:id="rId2" imgW="76320" imgH="155160" progId="Equation.Ribbit">
                  <p:embed/>
                </p:oleObj>
              </mc:Choice>
              <mc:Fallback>
                <p:oleObj name="Formula" r:id="rId2" imgW="76320" imgH="155160" progId="Equation.Ribbit">
                  <p:embed/>
                  <p:pic>
                    <p:nvPicPr>
                      <p:cNvPr id="24" name="内容占位符 23"/>
                      <p:cNvPicPr/>
                      <p:nvPr/>
                    </p:nvPicPr>
                    <p:blipFill>
                      <a:blip r:embed="rId3"/>
                      <a:stretch>
                        <a:fillRect/>
                      </a:stretch>
                    </p:blipFill>
                    <p:spPr>
                      <a:xfrm>
                        <a:off x="8105775" y="1257300"/>
                        <a:ext cx="134938" cy="274638"/>
                      </a:xfrm>
                      <a:prstGeom prst="rect">
                        <a:avLst/>
                      </a:prstGeom>
                    </p:spPr>
                  </p:pic>
                </p:oleObj>
              </mc:Fallback>
            </mc:AlternateContent>
          </a:graphicData>
        </a:graphic>
      </p:graphicFrame>
      <p:sp>
        <p:nvSpPr>
          <p:cNvPr id="4" name="椭圆 3"/>
          <p:cNvSpPr/>
          <p:nvPr/>
        </p:nvSpPr>
        <p:spPr>
          <a:xfrm>
            <a:off x="3459409"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sp>
        <p:nvSpPr>
          <p:cNvPr id="5" name="椭圆 4"/>
          <p:cNvSpPr/>
          <p:nvPr/>
        </p:nvSpPr>
        <p:spPr>
          <a:xfrm>
            <a:off x="5642790"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sp>
        <p:nvSpPr>
          <p:cNvPr id="6" name="椭圆 5"/>
          <p:cNvSpPr/>
          <p:nvPr/>
        </p:nvSpPr>
        <p:spPr>
          <a:xfrm>
            <a:off x="1531521"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7" name="直接连接符 6"/>
          <p:cNvCxnSpPr>
            <a:endCxn id="6" idx="0"/>
          </p:cNvCxnSpPr>
          <p:nvPr/>
        </p:nvCxnSpPr>
        <p:spPr>
          <a:xfrm flipH="1">
            <a:off x="2071521" y="3194128"/>
            <a:ext cx="1955683" cy="814131"/>
          </a:xfrm>
          <a:prstGeom prst="line">
            <a:avLst/>
          </a:prstGeom>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3971487"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cxnSp>
        <p:nvCxnSpPr>
          <p:cNvPr id="9" name="直接连接符 8"/>
          <p:cNvCxnSpPr>
            <a:endCxn id="5" idx="0"/>
          </p:cNvCxnSpPr>
          <p:nvPr/>
        </p:nvCxnSpPr>
        <p:spPr>
          <a:xfrm>
            <a:off x="4022100" y="3194128"/>
            <a:ext cx="2160690" cy="814131"/>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4022100" y="3384788"/>
            <a:ext cx="0" cy="607721"/>
          </a:xfrm>
          <a:prstGeom prst="line">
            <a:avLst/>
          </a:prstGeom>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5596235"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12" name="文本框 11"/>
          <p:cNvSpPr txBox="1"/>
          <p:nvPr/>
        </p:nvSpPr>
        <p:spPr>
          <a:xfrm>
            <a:off x="2008131"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13" name="圆角矩形 12"/>
          <p:cNvSpPr/>
          <p:nvPr/>
        </p:nvSpPr>
        <p:spPr>
          <a:xfrm>
            <a:off x="3465503" y="29504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15" name="椭圆 14"/>
          <p:cNvSpPr/>
          <p:nvPr/>
        </p:nvSpPr>
        <p:spPr>
          <a:xfrm>
            <a:off x="1430541" y="386425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16" name="椭圆 15"/>
          <p:cNvSpPr/>
          <p:nvPr/>
        </p:nvSpPr>
        <p:spPr>
          <a:xfrm>
            <a:off x="3342390" y="384850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17" name="椭圆 16"/>
          <p:cNvSpPr/>
          <p:nvPr/>
        </p:nvSpPr>
        <p:spPr>
          <a:xfrm>
            <a:off x="5459469" y="387933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18" name="文本框 17"/>
          <p:cNvSpPr txBox="1"/>
          <p:nvPr/>
        </p:nvSpPr>
        <p:spPr>
          <a:xfrm>
            <a:off x="5687371" y="2950438"/>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“脐部</a:t>
            </a:r>
            <a:r>
              <a:rPr lang="en-US" altLang="zh-CN" dirty="0">
                <a:solidFill>
                  <a:srgbClr val="FF0000"/>
                </a:solidFill>
                <a:latin typeface="Times "/>
                <a:ea typeface="楷体" panose="02010609060101010101" pitchFamily="49" charset="-122"/>
              </a:rPr>
              <a:t>=?</a:t>
            </a:r>
            <a:r>
              <a:rPr lang="zh-CN" altLang="en-US" dirty="0">
                <a:solidFill>
                  <a:srgbClr val="FF0000"/>
                </a:solidFill>
                <a:latin typeface="Times "/>
                <a:ea typeface="楷体" panose="02010609060101010101" pitchFamily="49" charset="-122"/>
              </a:rPr>
              <a:t>”</a:t>
            </a: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20" name="文本框 20"/>
          <p:cNvSpPr txBox="1"/>
          <p:nvPr/>
        </p:nvSpPr>
        <p:spPr>
          <a:xfrm>
            <a:off x="6891223" y="2934370"/>
            <a:ext cx="1685077"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划分前</a:t>
            </a:r>
            <a:r>
              <a:rPr lang="en-US" altLang="zh-CN" dirty="0">
                <a:solidFill>
                  <a:srgbClr val="FF0000"/>
                </a:solidFill>
                <a:latin typeface="Times "/>
                <a:ea typeface="楷体" panose="02010609060101010101" pitchFamily="49" charset="-122"/>
              </a:rPr>
              <a:t>: 42.9%</a:t>
            </a:r>
          </a:p>
          <a:p>
            <a:r>
              <a:rPr lang="zh-CN" altLang="en-US" dirty="0">
                <a:solidFill>
                  <a:srgbClr val="FF0000"/>
                </a:solidFill>
                <a:latin typeface="Times "/>
                <a:ea typeface="楷体" panose="02010609060101010101" pitchFamily="49" charset="-122"/>
              </a:rPr>
              <a:t>划分后</a:t>
            </a:r>
            <a:r>
              <a:rPr lang="en-US" altLang="zh-CN" dirty="0">
                <a:solidFill>
                  <a:srgbClr val="FF0000"/>
                </a:solidFill>
                <a:latin typeface="Times "/>
                <a:ea typeface="楷体" panose="02010609060101010101" pitchFamily="49" charset="-122"/>
              </a:rPr>
              <a:t>: 71.4%</a:t>
            </a:r>
            <a:endParaRPr lang="zh-CN" altLang="en-US" dirty="0">
              <a:solidFill>
                <a:srgbClr val="FF0000"/>
              </a:solidFill>
              <a:latin typeface="Times "/>
              <a:ea typeface="楷体" panose="02010609060101010101" pitchFamily="49" charset="-122"/>
            </a:endParaRPr>
          </a:p>
        </p:txBody>
      </p:sp>
      <p:sp>
        <p:nvSpPr>
          <p:cNvPr id="21" name="文本框 21"/>
          <p:cNvSpPr txBox="1"/>
          <p:nvPr/>
        </p:nvSpPr>
        <p:spPr>
          <a:xfrm>
            <a:off x="6445274" y="3479595"/>
            <a:ext cx="2031325"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预剪枝决策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划分</a:t>
            </a: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381469" y="901270"/>
            <a:ext cx="3702570" cy="2031325"/>
          </a:xfrm>
          <a:prstGeom prst="rect">
            <a:avLst/>
          </a:prstGeom>
          <a:noFill/>
        </p:spPr>
        <p:txBody>
          <a:bodyPr wrap="square" rtlCol="0">
            <a:spAutoFit/>
          </a:bodyPr>
          <a:lstStyle/>
          <a:p>
            <a:r>
              <a:rPr lang="zh-CN" altLang="en-US" dirty="0"/>
              <a:t>结点</a:t>
            </a:r>
            <a:r>
              <a:rPr lang="en-US" altLang="zh-CN" dirty="0"/>
              <a:t>1</a:t>
            </a:r>
            <a:r>
              <a:rPr lang="zh-CN" altLang="en-US" dirty="0"/>
              <a:t>：若划分，根据结点    ，</a:t>
            </a:r>
            <a:endParaRPr lang="en-US" altLang="zh-CN" dirty="0"/>
          </a:p>
          <a:p>
            <a:r>
              <a:rPr lang="en-US" altLang="zh-CN" dirty="0"/>
              <a:t>    </a:t>
            </a:r>
            <a:r>
              <a:rPr lang="zh-CN" altLang="en-US" dirty="0"/>
              <a:t>，</a:t>
            </a:r>
            <a:r>
              <a:rPr lang="en-US" altLang="zh-CN" dirty="0"/>
              <a:t>   </a:t>
            </a:r>
            <a:r>
              <a:rPr lang="zh-CN" altLang="en-US" dirty="0"/>
              <a:t>的训练样例，将这</a:t>
            </a:r>
            <a:r>
              <a:rPr lang="en-US" altLang="zh-CN" dirty="0"/>
              <a:t>  </a:t>
            </a:r>
            <a:r>
              <a:rPr lang="zh-CN" altLang="en-US" dirty="0"/>
              <a:t>个结点分别标记为“好瓜”、“好瓜”、“坏瓜”。此时，验证集中编号为 </a:t>
            </a:r>
            <a:endParaRPr lang="en-US" altLang="zh-CN" dirty="0"/>
          </a:p>
          <a:p>
            <a:r>
              <a:rPr lang="zh-CN" altLang="en-US" dirty="0"/>
              <a:t>                   的样例被划分正确，验证集精度为</a:t>
            </a:r>
            <a:endParaRPr lang="en-US" altLang="zh-CN" dirty="0"/>
          </a:p>
          <a:p>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1657478926"/>
              </p:ext>
            </p:extLst>
          </p:nvPr>
        </p:nvGraphicFramePr>
        <p:xfrm>
          <a:off x="8186738" y="963613"/>
          <a:ext cx="233362" cy="271462"/>
        </p:xfrm>
        <a:graphic>
          <a:graphicData uri="http://schemas.openxmlformats.org/presentationml/2006/ole">
            <mc:AlternateContent xmlns:mc="http://schemas.openxmlformats.org/markup-compatibility/2006">
              <mc:Choice xmlns:v="urn:schemas-microsoft-com:vml" Requires="v">
                <p:oleObj name="Formula" r:id="rId4" imgW="147600" imgH="172800" progId="Equation.Ribbit">
                  <p:embed/>
                </p:oleObj>
              </mc:Choice>
              <mc:Fallback>
                <p:oleObj name="Formula" r:id="rId4" imgW="147600" imgH="172800" progId="Equation.Ribbit">
                  <p:embed/>
                  <p:pic>
                    <p:nvPicPr>
                      <p:cNvPr id="3" name="对象 2"/>
                      <p:cNvPicPr/>
                      <p:nvPr/>
                    </p:nvPicPr>
                    <p:blipFill>
                      <a:blip r:embed="rId5"/>
                      <a:stretch>
                        <a:fillRect/>
                      </a:stretch>
                    </p:blipFill>
                    <p:spPr>
                      <a:xfrm>
                        <a:off x="8186738" y="963613"/>
                        <a:ext cx="233362" cy="271462"/>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4000535056"/>
              </p:ext>
            </p:extLst>
          </p:nvPr>
        </p:nvGraphicFramePr>
        <p:xfrm>
          <a:off x="5486400" y="1238250"/>
          <a:ext cx="233363" cy="271463"/>
        </p:xfrm>
        <a:graphic>
          <a:graphicData uri="http://schemas.openxmlformats.org/presentationml/2006/ole">
            <mc:AlternateContent xmlns:mc="http://schemas.openxmlformats.org/markup-compatibility/2006">
              <mc:Choice xmlns:v="urn:schemas-microsoft-com:vml" Requires="v">
                <p:oleObj name="Formula" r:id="rId6" imgW="147600" imgH="172800" progId="Equation.Ribbit">
                  <p:embed/>
                </p:oleObj>
              </mc:Choice>
              <mc:Fallback>
                <p:oleObj name="Formula" r:id="rId6" imgW="147600" imgH="172800" progId="Equation.Ribbit">
                  <p:embed/>
                  <p:pic>
                    <p:nvPicPr>
                      <p:cNvPr id="36" name="对象 35"/>
                      <p:cNvPicPr/>
                      <p:nvPr/>
                    </p:nvPicPr>
                    <p:blipFill>
                      <a:blip r:embed="rId7"/>
                      <a:stretch>
                        <a:fillRect/>
                      </a:stretch>
                    </p:blipFill>
                    <p:spPr>
                      <a:xfrm>
                        <a:off x="5486400" y="1238250"/>
                        <a:ext cx="233363" cy="271463"/>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1757896057"/>
              </p:ext>
            </p:extLst>
          </p:nvPr>
        </p:nvGraphicFramePr>
        <p:xfrm>
          <a:off x="5975350" y="1246188"/>
          <a:ext cx="231775" cy="271462"/>
        </p:xfrm>
        <a:graphic>
          <a:graphicData uri="http://schemas.openxmlformats.org/presentationml/2006/ole">
            <mc:AlternateContent xmlns:mc="http://schemas.openxmlformats.org/markup-compatibility/2006">
              <mc:Choice xmlns:v="urn:schemas-microsoft-com:vml" Requires="v">
                <p:oleObj name="Formula" r:id="rId8" imgW="147600" imgH="172800" progId="Equation.Ribbit">
                  <p:embed/>
                </p:oleObj>
              </mc:Choice>
              <mc:Fallback>
                <p:oleObj name="Formula" r:id="rId8" imgW="147600" imgH="172800" progId="Equation.Ribbit">
                  <p:embed/>
                  <p:pic>
                    <p:nvPicPr>
                      <p:cNvPr id="37" name="对象 36"/>
                      <p:cNvPicPr/>
                      <p:nvPr/>
                    </p:nvPicPr>
                    <p:blipFill>
                      <a:blip r:embed="rId9"/>
                      <a:stretch>
                        <a:fillRect/>
                      </a:stretch>
                    </p:blipFill>
                    <p:spPr>
                      <a:xfrm>
                        <a:off x="5975350" y="1246188"/>
                        <a:ext cx="231775" cy="271462"/>
                      </a:xfrm>
                      <a:prstGeom prst="rect">
                        <a:avLst/>
                      </a:prstGeom>
                    </p:spPr>
                  </p:pic>
                </p:oleObj>
              </mc:Fallback>
            </mc:AlternateContent>
          </a:graphicData>
        </a:graphic>
      </p:graphicFrame>
      <p:pic>
        <p:nvPicPr>
          <p:cNvPr id="28" name="内容占位符 33"/>
          <p:cNvPicPr>
            <a:picLocks noChangeAspect="1"/>
          </p:cNvPicPr>
          <p:nvPr/>
        </p:nvPicPr>
        <p:blipFill>
          <a:blip r:embed="rId10"/>
          <a:stretch>
            <a:fillRect/>
          </a:stretch>
        </p:blipFill>
        <p:spPr>
          <a:xfrm>
            <a:off x="708772" y="868836"/>
            <a:ext cx="4487272" cy="1542196"/>
          </a:xfrm>
          <a:prstGeom prst="rect">
            <a:avLst/>
          </a:prstGeom>
        </p:spPr>
      </p:pic>
      <p:sp>
        <p:nvSpPr>
          <p:cNvPr id="29" name="左大括号 28"/>
          <p:cNvSpPr/>
          <p:nvPr/>
        </p:nvSpPr>
        <p:spPr>
          <a:xfrm>
            <a:off x="484998" y="918219"/>
            <a:ext cx="194872" cy="1508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1600" dirty="0">
                <a:latin typeface="幼圆" panose="02010509060101010101" pitchFamily="49" charset="-122"/>
                <a:ea typeface="幼圆" panose="02010509060101010101" pitchFamily="49" charset="-122"/>
              </a:rPr>
              <a:t>验证集</a:t>
            </a:r>
            <a:endParaRPr lang="zh-CN" altLang="en-US" sz="1600" i="0" dirty="0">
              <a:latin typeface="幼圆" panose="02010509060101010101" pitchFamily="49" charset="-122"/>
              <a:ea typeface="幼圆" panose="02010509060101010101" pitchFamily="49" charset="-122"/>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1898572259"/>
              </p:ext>
            </p:extLst>
          </p:nvPr>
        </p:nvGraphicFramePr>
        <p:xfrm>
          <a:off x="5491163" y="2070100"/>
          <a:ext cx="1497012" cy="287338"/>
        </p:xfrm>
        <a:graphic>
          <a:graphicData uri="http://schemas.openxmlformats.org/presentationml/2006/ole">
            <mc:AlternateContent xmlns:mc="http://schemas.openxmlformats.org/markup-compatibility/2006">
              <mc:Choice xmlns:v="urn:schemas-microsoft-com:vml" Requires="v">
                <p:oleObj name="Formula" r:id="rId11" imgW="928440" imgH="177840" progId="Equation.Ribbit">
                  <p:embed/>
                </p:oleObj>
              </mc:Choice>
              <mc:Fallback>
                <p:oleObj name="Formula" r:id="rId11" imgW="928440" imgH="177840" progId="Equation.Ribbit">
                  <p:embed/>
                  <p:pic>
                    <p:nvPicPr>
                      <p:cNvPr id="25" name="对象 24"/>
                      <p:cNvPicPr/>
                      <p:nvPr/>
                    </p:nvPicPr>
                    <p:blipFill>
                      <a:blip r:embed="rId12"/>
                      <a:stretch>
                        <a:fillRect/>
                      </a:stretch>
                    </p:blipFill>
                    <p:spPr>
                      <a:xfrm>
                        <a:off x="5491163" y="2070100"/>
                        <a:ext cx="1497012" cy="287338"/>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667318857"/>
              </p:ext>
            </p:extLst>
          </p:nvPr>
        </p:nvGraphicFramePr>
        <p:xfrm>
          <a:off x="6902450" y="2332038"/>
          <a:ext cx="1879600" cy="323850"/>
        </p:xfrm>
        <a:graphic>
          <a:graphicData uri="http://schemas.openxmlformats.org/presentationml/2006/ole">
            <mc:AlternateContent xmlns:mc="http://schemas.openxmlformats.org/markup-compatibility/2006">
              <mc:Choice xmlns:v="urn:schemas-microsoft-com:vml" Requires="v">
                <p:oleObj name="Formula" r:id="rId13" imgW="1196640" imgH="203400" progId="Equation.Ribbit">
                  <p:embed/>
                </p:oleObj>
              </mc:Choice>
              <mc:Fallback>
                <p:oleObj name="Formula" r:id="rId13" imgW="1196640" imgH="203400" progId="Equation.Ribbit">
                  <p:embed/>
                  <p:pic>
                    <p:nvPicPr>
                      <p:cNvPr id="32" name="对象 31"/>
                      <p:cNvPicPr/>
                      <p:nvPr/>
                    </p:nvPicPr>
                    <p:blipFill>
                      <a:blip r:embed="rId14"/>
                      <a:stretch>
                        <a:fillRect/>
                      </a:stretch>
                    </p:blipFill>
                    <p:spPr>
                      <a:xfrm>
                        <a:off x="6902450" y="2332038"/>
                        <a:ext cx="1879600" cy="323850"/>
                      </a:xfrm>
                      <a:prstGeom prst="rect">
                        <a:avLst/>
                      </a:prstGeom>
                    </p:spPr>
                  </p:pic>
                </p:oleObj>
              </mc:Fallback>
            </mc:AlternateContent>
          </a:graphicData>
        </a:graphic>
      </p:graphicFrame>
    </p:spTree>
    <p:extLst>
      <p:ext uri="{BB962C8B-B14F-4D97-AF65-F5344CB8AC3E}">
        <p14:creationId xmlns:p14="http://schemas.microsoft.com/office/powerpoint/2010/main" val="376910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11" grpId="0"/>
      <p:bldP spid="12" grpId="0"/>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预剪枝</a:t>
            </a:r>
          </a:p>
        </p:txBody>
      </p:sp>
      <p:sp>
        <p:nvSpPr>
          <p:cNvPr id="4" name="椭圆 3"/>
          <p:cNvSpPr/>
          <p:nvPr/>
        </p:nvSpPr>
        <p:spPr>
          <a:xfrm>
            <a:off x="3459409"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sp>
        <p:nvSpPr>
          <p:cNvPr id="5" name="椭圆 4"/>
          <p:cNvSpPr/>
          <p:nvPr/>
        </p:nvSpPr>
        <p:spPr>
          <a:xfrm>
            <a:off x="5642790"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坏瓜</a:t>
            </a:r>
          </a:p>
        </p:txBody>
      </p:sp>
      <p:sp>
        <p:nvSpPr>
          <p:cNvPr id="6" name="椭圆 5"/>
          <p:cNvSpPr/>
          <p:nvPr/>
        </p:nvSpPr>
        <p:spPr>
          <a:xfrm>
            <a:off x="1531521" y="400825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t>好瓜</a:t>
            </a:r>
          </a:p>
        </p:txBody>
      </p:sp>
      <p:cxnSp>
        <p:nvCxnSpPr>
          <p:cNvPr id="7" name="直接连接符 6"/>
          <p:cNvCxnSpPr>
            <a:endCxn id="6" idx="0"/>
          </p:cNvCxnSpPr>
          <p:nvPr/>
        </p:nvCxnSpPr>
        <p:spPr>
          <a:xfrm flipH="1">
            <a:off x="2071521" y="3194128"/>
            <a:ext cx="1955683" cy="814131"/>
          </a:xfrm>
          <a:prstGeom prst="line">
            <a:avLst/>
          </a:prstGeom>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3971487"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cxnSp>
        <p:nvCxnSpPr>
          <p:cNvPr id="9" name="直接连接符 8"/>
          <p:cNvCxnSpPr>
            <a:endCxn id="5" idx="0"/>
          </p:cNvCxnSpPr>
          <p:nvPr/>
        </p:nvCxnSpPr>
        <p:spPr>
          <a:xfrm>
            <a:off x="4022100" y="3194128"/>
            <a:ext cx="2160690" cy="814131"/>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4022100" y="3384788"/>
            <a:ext cx="0" cy="607721"/>
          </a:xfrm>
          <a:prstGeom prst="line">
            <a:avLst/>
          </a:prstGeom>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5596235"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12" name="文本框 11"/>
          <p:cNvSpPr txBox="1"/>
          <p:nvPr/>
        </p:nvSpPr>
        <p:spPr>
          <a:xfrm>
            <a:off x="2008131" y="350401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13" name="圆角矩形 12"/>
          <p:cNvSpPr/>
          <p:nvPr/>
        </p:nvSpPr>
        <p:spPr>
          <a:xfrm>
            <a:off x="3465503" y="29504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r>
              <a:rPr lang="en-US" altLang="zh-CN" sz="2200" dirty="0">
                <a:latin typeface="Times" panose="02020603060405020304" pitchFamily="18" charset="0"/>
              </a:rPr>
              <a:t>=?</a:t>
            </a:r>
            <a:endParaRPr lang="zh-CN" altLang="en-US" sz="2200"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15" name="椭圆 14"/>
          <p:cNvSpPr/>
          <p:nvPr/>
        </p:nvSpPr>
        <p:spPr>
          <a:xfrm>
            <a:off x="1430541" y="386425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16" name="椭圆 15"/>
          <p:cNvSpPr/>
          <p:nvPr/>
        </p:nvSpPr>
        <p:spPr>
          <a:xfrm>
            <a:off x="3342390" y="384850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17" name="椭圆 16"/>
          <p:cNvSpPr/>
          <p:nvPr/>
        </p:nvSpPr>
        <p:spPr>
          <a:xfrm>
            <a:off x="5459469" y="387933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18" name="文本框 17"/>
          <p:cNvSpPr txBox="1"/>
          <p:nvPr/>
        </p:nvSpPr>
        <p:spPr>
          <a:xfrm>
            <a:off x="5687371" y="2950438"/>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“脐部</a:t>
            </a:r>
            <a:r>
              <a:rPr lang="en-US" altLang="zh-CN" dirty="0">
                <a:solidFill>
                  <a:srgbClr val="FF0000"/>
                </a:solidFill>
                <a:latin typeface="Times "/>
                <a:ea typeface="楷体" panose="02010609060101010101" pitchFamily="49" charset="-122"/>
              </a:rPr>
              <a:t>=?</a:t>
            </a:r>
            <a:r>
              <a:rPr lang="zh-CN" altLang="en-US" dirty="0">
                <a:solidFill>
                  <a:srgbClr val="FF0000"/>
                </a:solidFill>
                <a:latin typeface="Times "/>
                <a:ea typeface="楷体" panose="02010609060101010101" pitchFamily="49" charset="-122"/>
              </a:rPr>
              <a:t>”</a:t>
            </a: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20" name="文本框 20"/>
          <p:cNvSpPr txBox="1"/>
          <p:nvPr/>
        </p:nvSpPr>
        <p:spPr>
          <a:xfrm>
            <a:off x="6891223" y="2934370"/>
            <a:ext cx="1685077"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划分前</a:t>
            </a:r>
            <a:r>
              <a:rPr lang="en-US" altLang="zh-CN" dirty="0">
                <a:solidFill>
                  <a:srgbClr val="FF0000"/>
                </a:solidFill>
                <a:latin typeface="Times "/>
                <a:ea typeface="楷体" panose="02010609060101010101" pitchFamily="49" charset="-122"/>
              </a:rPr>
              <a:t>: 42.9%</a:t>
            </a:r>
          </a:p>
          <a:p>
            <a:r>
              <a:rPr lang="zh-CN" altLang="en-US" dirty="0">
                <a:solidFill>
                  <a:srgbClr val="FF0000"/>
                </a:solidFill>
                <a:latin typeface="Times "/>
                <a:ea typeface="楷体" panose="02010609060101010101" pitchFamily="49" charset="-122"/>
              </a:rPr>
              <a:t>划分后</a:t>
            </a:r>
            <a:r>
              <a:rPr lang="en-US" altLang="zh-CN" dirty="0">
                <a:solidFill>
                  <a:srgbClr val="FF0000"/>
                </a:solidFill>
                <a:latin typeface="Times "/>
                <a:ea typeface="楷体" panose="02010609060101010101" pitchFamily="49" charset="-122"/>
              </a:rPr>
              <a:t>: 71.4%</a:t>
            </a:r>
            <a:endParaRPr lang="zh-CN" altLang="en-US" dirty="0">
              <a:solidFill>
                <a:srgbClr val="FF0000"/>
              </a:solidFill>
              <a:latin typeface="Times "/>
              <a:ea typeface="楷体" panose="02010609060101010101" pitchFamily="49" charset="-122"/>
            </a:endParaRPr>
          </a:p>
        </p:txBody>
      </p:sp>
      <p:sp>
        <p:nvSpPr>
          <p:cNvPr id="21" name="文本框 21"/>
          <p:cNvSpPr txBox="1"/>
          <p:nvPr/>
        </p:nvSpPr>
        <p:spPr>
          <a:xfrm>
            <a:off x="6445274" y="3479595"/>
            <a:ext cx="2031325"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预剪枝决策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划分</a:t>
            </a: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903527" y="4708113"/>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“色泽</a:t>
            </a:r>
            <a:r>
              <a:rPr lang="en-US" altLang="zh-CN" dirty="0">
                <a:solidFill>
                  <a:srgbClr val="FF0000"/>
                </a:solidFill>
                <a:latin typeface="Times "/>
                <a:ea typeface="楷体" panose="02010609060101010101" pitchFamily="49" charset="-122"/>
              </a:rPr>
              <a:t>=?</a:t>
            </a:r>
            <a:r>
              <a:rPr lang="zh-CN" altLang="en-US" dirty="0">
                <a:solidFill>
                  <a:srgbClr val="FF0000"/>
                </a:solidFill>
                <a:latin typeface="Times "/>
                <a:ea typeface="楷体" panose="02010609060101010101" pitchFamily="49" charset="-122"/>
              </a:rPr>
              <a:t>”</a:t>
            </a:r>
          </a:p>
        </p:txBody>
      </p:sp>
      <p:sp>
        <p:nvSpPr>
          <p:cNvPr id="24" name="文本框 23"/>
          <p:cNvSpPr txBox="1"/>
          <p:nvPr/>
        </p:nvSpPr>
        <p:spPr>
          <a:xfrm>
            <a:off x="2577028" y="4843012"/>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25" name="文本框 24"/>
          <p:cNvSpPr txBox="1"/>
          <p:nvPr/>
        </p:nvSpPr>
        <p:spPr>
          <a:xfrm>
            <a:off x="1924446" y="5178090"/>
            <a:ext cx="1685077"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划分前</a:t>
            </a:r>
            <a:r>
              <a:rPr lang="en-US" altLang="zh-CN" dirty="0">
                <a:solidFill>
                  <a:srgbClr val="FF0000"/>
                </a:solidFill>
                <a:latin typeface="Times "/>
                <a:ea typeface="楷体" panose="02010609060101010101" pitchFamily="49" charset="-122"/>
              </a:rPr>
              <a:t>: 71.4%</a:t>
            </a:r>
          </a:p>
          <a:p>
            <a:r>
              <a:rPr lang="zh-CN" altLang="en-US" dirty="0">
                <a:solidFill>
                  <a:srgbClr val="FF0000"/>
                </a:solidFill>
                <a:latin typeface="Times "/>
                <a:ea typeface="楷体" panose="02010609060101010101" pitchFamily="49" charset="-122"/>
              </a:rPr>
              <a:t>划分后</a:t>
            </a:r>
            <a:r>
              <a:rPr lang="en-US" altLang="zh-CN" dirty="0">
                <a:solidFill>
                  <a:srgbClr val="FF0000"/>
                </a:solidFill>
                <a:latin typeface="Times "/>
                <a:ea typeface="楷体" panose="02010609060101010101" pitchFamily="49" charset="-122"/>
              </a:rPr>
              <a:t>: 57.1%</a:t>
            </a:r>
            <a:endParaRPr lang="zh-CN" altLang="en-US" dirty="0">
              <a:solidFill>
                <a:srgbClr val="FF0000"/>
              </a:solidFill>
              <a:latin typeface="Times "/>
              <a:ea typeface="楷体" panose="02010609060101010101" pitchFamily="49" charset="-122"/>
            </a:endParaRPr>
          </a:p>
        </p:txBody>
      </p:sp>
      <p:sp>
        <p:nvSpPr>
          <p:cNvPr id="26" name="文本框 25"/>
          <p:cNvSpPr txBox="1"/>
          <p:nvPr/>
        </p:nvSpPr>
        <p:spPr>
          <a:xfrm>
            <a:off x="1478497" y="5750209"/>
            <a:ext cx="2492990"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预剪枝决策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禁止划分</a:t>
            </a:r>
          </a:p>
        </p:txBody>
      </p:sp>
      <p:cxnSp>
        <p:nvCxnSpPr>
          <p:cNvPr id="27" name="直接箭头连接符 26"/>
          <p:cNvCxnSpPr/>
          <p:nvPr/>
        </p:nvCxnSpPr>
        <p:spPr>
          <a:xfrm flipV="1">
            <a:off x="1924446" y="4525012"/>
            <a:ext cx="0" cy="492813"/>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28" name="文本框 34"/>
          <p:cNvSpPr txBox="1"/>
          <p:nvPr/>
        </p:nvSpPr>
        <p:spPr>
          <a:xfrm>
            <a:off x="4513567" y="5156420"/>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“根蒂</a:t>
            </a:r>
            <a:r>
              <a:rPr lang="en-US" altLang="zh-CN" dirty="0">
                <a:solidFill>
                  <a:srgbClr val="FF0000"/>
                </a:solidFill>
                <a:latin typeface="Times "/>
                <a:ea typeface="楷体" panose="02010609060101010101" pitchFamily="49" charset="-122"/>
              </a:rPr>
              <a:t>=?</a:t>
            </a:r>
            <a:r>
              <a:rPr lang="zh-CN" altLang="en-US" dirty="0">
                <a:solidFill>
                  <a:srgbClr val="FF0000"/>
                </a:solidFill>
                <a:latin typeface="Times "/>
                <a:ea typeface="楷体" panose="02010609060101010101" pitchFamily="49" charset="-122"/>
              </a:rPr>
              <a:t>”</a:t>
            </a:r>
          </a:p>
        </p:txBody>
      </p:sp>
      <p:sp>
        <p:nvSpPr>
          <p:cNvPr id="29" name="文本框 35"/>
          <p:cNvSpPr txBox="1"/>
          <p:nvPr/>
        </p:nvSpPr>
        <p:spPr>
          <a:xfrm>
            <a:off x="6374707" y="4843012"/>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30" name="文本框 36"/>
          <p:cNvSpPr txBox="1"/>
          <p:nvPr/>
        </p:nvSpPr>
        <p:spPr>
          <a:xfrm>
            <a:off x="5722125" y="5178090"/>
            <a:ext cx="1685077"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划分前</a:t>
            </a:r>
            <a:r>
              <a:rPr lang="en-US" altLang="zh-CN" dirty="0">
                <a:solidFill>
                  <a:srgbClr val="FF0000"/>
                </a:solidFill>
                <a:latin typeface="Times "/>
                <a:ea typeface="楷体" panose="02010609060101010101" pitchFamily="49" charset="-122"/>
              </a:rPr>
              <a:t>: 71.4%</a:t>
            </a:r>
          </a:p>
          <a:p>
            <a:r>
              <a:rPr lang="zh-CN" altLang="en-US" dirty="0">
                <a:solidFill>
                  <a:srgbClr val="FF0000"/>
                </a:solidFill>
                <a:latin typeface="Times "/>
                <a:ea typeface="楷体" panose="02010609060101010101" pitchFamily="49" charset="-122"/>
              </a:rPr>
              <a:t>划分后</a:t>
            </a:r>
            <a:r>
              <a:rPr lang="en-US" altLang="zh-CN" dirty="0">
                <a:solidFill>
                  <a:srgbClr val="FF0000"/>
                </a:solidFill>
                <a:latin typeface="Times "/>
                <a:ea typeface="楷体" panose="02010609060101010101" pitchFamily="49" charset="-122"/>
              </a:rPr>
              <a:t>: 71.4%</a:t>
            </a:r>
            <a:endParaRPr lang="zh-CN" altLang="en-US" dirty="0">
              <a:solidFill>
                <a:srgbClr val="FF0000"/>
              </a:solidFill>
              <a:latin typeface="Times "/>
              <a:ea typeface="楷体" panose="02010609060101010101" pitchFamily="49" charset="-122"/>
            </a:endParaRPr>
          </a:p>
        </p:txBody>
      </p:sp>
      <p:sp>
        <p:nvSpPr>
          <p:cNvPr id="31" name="文本框 37"/>
          <p:cNvSpPr txBox="1"/>
          <p:nvPr/>
        </p:nvSpPr>
        <p:spPr>
          <a:xfrm>
            <a:off x="5276176" y="5750209"/>
            <a:ext cx="2492990"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预剪枝决策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禁止划分</a:t>
            </a:r>
          </a:p>
        </p:txBody>
      </p:sp>
      <p:cxnSp>
        <p:nvCxnSpPr>
          <p:cNvPr id="32" name="直接箭头连接符 31"/>
          <p:cNvCxnSpPr/>
          <p:nvPr/>
        </p:nvCxnSpPr>
        <p:spPr>
          <a:xfrm flipH="1" flipV="1">
            <a:off x="4383298" y="4546124"/>
            <a:ext cx="1076171" cy="471701"/>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39" name="对象 38"/>
          <p:cNvGraphicFramePr>
            <a:graphicFrameLocks noChangeAspect="1"/>
          </p:cNvGraphicFramePr>
          <p:nvPr>
            <p:extLst>
              <p:ext uri="{D42A27DB-BD31-4B8C-83A1-F6EECF244321}">
                <p14:modId xmlns:p14="http://schemas.microsoft.com/office/powerpoint/2010/main" val="1416253225"/>
              </p:ext>
            </p:extLst>
          </p:nvPr>
        </p:nvGraphicFramePr>
        <p:xfrm>
          <a:off x="6182790" y="976913"/>
          <a:ext cx="234734" cy="257209"/>
        </p:xfrm>
        <a:graphic>
          <a:graphicData uri="http://schemas.openxmlformats.org/presentationml/2006/ole">
            <mc:AlternateContent xmlns:mc="http://schemas.openxmlformats.org/markup-compatibility/2006">
              <mc:Choice xmlns:v="urn:schemas-microsoft-com:vml" Requires="v">
                <p:oleObj name="Formula" r:id="rId2" imgW="148680" imgH="164160" progId="Equation.Ribbit">
                  <p:embed/>
                </p:oleObj>
              </mc:Choice>
              <mc:Fallback>
                <p:oleObj name="Formula" r:id="rId2" imgW="148680" imgH="164160" progId="Equation.Ribbit">
                  <p:embed/>
                  <p:pic>
                    <p:nvPicPr>
                      <p:cNvPr id="39" name="对象 38"/>
                      <p:cNvPicPr/>
                      <p:nvPr/>
                    </p:nvPicPr>
                    <p:blipFill>
                      <a:blip r:embed="rId3"/>
                      <a:stretch>
                        <a:fillRect/>
                      </a:stretch>
                    </p:blipFill>
                    <p:spPr>
                      <a:xfrm>
                        <a:off x="6182790" y="976913"/>
                        <a:ext cx="234734" cy="257209"/>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1943126902"/>
              </p:ext>
            </p:extLst>
          </p:nvPr>
        </p:nvGraphicFramePr>
        <p:xfrm>
          <a:off x="6564663" y="978906"/>
          <a:ext cx="234734" cy="257209"/>
        </p:xfrm>
        <a:graphic>
          <a:graphicData uri="http://schemas.openxmlformats.org/presentationml/2006/ole">
            <mc:AlternateContent xmlns:mc="http://schemas.openxmlformats.org/markup-compatibility/2006">
              <mc:Choice xmlns:v="urn:schemas-microsoft-com:vml" Requires="v">
                <p:oleObj name="Formula" r:id="rId4" imgW="148680" imgH="164160" progId="Equation.Ribbit">
                  <p:embed/>
                </p:oleObj>
              </mc:Choice>
              <mc:Fallback>
                <p:oleObj name="Formula" r:id="rId4" imgW="148680" imgH="164160" progId="Equation.Ribbit">
                  <p:embed/>
                  <p:pic>
                    <p:nvPicPr>
                      <p:cNvPr id="40" name="对象 39"/>
                      <p:cNvPicPr/>
                      <p:nvPr/>
                    </p:nvPicPr>
                    <p:blipFill>
                      <a:blip r:embed="rId5"/>
                      <a:stretch>
                        <a:fillRect/>
                      </a:stretch>
                    </p:blipFill>
                    <p:spPr>
                      <a:xfrm>
                        <a:off x="6564663" y="978906"/>
                        <a:ext cx="234734" cy="257209"/>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2577408225"/>
              </p:ext>
            </p:extLst>
          </p:nvPr>
        </p:nvGraphicFramePr>
        <p:xfrm>
          <a:off x="6904040" y="976912"/>
          <a:ext cx="234734" cy="257209"/>
        </p:xfrm>
        <a:graphic>
          <a:graphicData uri="http://schemas.openxmlformats.org/presentationml/2006/ole">
            <mc:AlternateContent xmlns:mc="http://schemas.openxmlformats.org/markup-compatibility/2006">
              <mc:Choice xmlns:v="urn:schemas-microsoft-com:vml" Requires="v">
                <p:oleObj name="Formula" r:id="rId6" imgW="148680" imgH="164160" progId="Equation.Ribbit">
                  <p:embed/>
                </p:oleObj>
              </mc:Choice>
              <mc:Fallback>
                <p:oleObj name="Formula" r:id="rId6" imgW="148680" imgH="164160" progId="Equation.Ribbit">
                  <p:embed/>
                  <p:pic>
                    <p:nvPicPr>
                      <p:cNvPr id="41" name="对象 40"/>
                      <p:cNvPicPr/>
                      <p:nvPr/>
                    </p:nvPicPr>
                    <p:blipFill>
                      <a:blip r:embed="rId7"/>
                      <a:stretch>
                        <a:fillRect/>
                      </a:stretch>
                    </p:blipFill>
                    <p:spPr>
                      <a:xfrm>
                        <a:off x="6904040" y="976912"/>
                        <a:ext cx="234734" cy="257209"/>
                      </a:xfrm>
                      <a:prstGeom prst="rect">
                        <a:avLst/>
                      </a:prstGeom>
                    </p:spPr>
                  </p:pic>
                </p:oleObj>
              </mc:Fallback>
            </mc:AlternateContent>
          </a:graphicData>
        </a:graphic>
      </p:graphicFrame>
      <p:sp>
        <p:nvSpPr>
          <p:cNvPr id="42" name="文本框 41"/>
          <p:cNvSpPr txBox="1"/>
          <p:nvPr/>
        </p:nvSpPr>
        <p:spPr>
          <a:xfrm>
            <a:off x="5381469" y="901270"/>
            <a:ext cx="3514611" cy="1477328"/>
          </a:xfrm>
          <a:prstGeom prst="rect">
            <a:avLst/>
          </a:prstGeom>
          <a:noFill/>
        </p:spPr>
        <p:txBody>
          <a:bodyPr wrap="square" rtlCol="0">
            <a:spAutoFit/>
          </a:bodyPr>
          <a:lstStyle/>
          <a:p>
            <a:r>
              <a:rPr lang="zh-CN" altLang="en-US" dirty="0"/>
              <a:t>对结点   ，  ，  分别进行剪枝判断，结点    ，  都禁止划分，结点    本身为叶子结点。最终得到仅有一层划分的决策树，称为“</a:t>
            </a:r>
            <a:r>
              <a:rPr lang="zh-CN" altLang="en-US" b="1" dirty="0"/>
              <a:t>决策树桩</a:t>
            </a:r>
            <a:r>
              <a:rPr lang="zh-CN" altLang="en-US" dirty="0"/>
              <a:t>”</a:t>
            </a:r>
          </a:p>
        </p:txBody>
      </p:sp>
      <p:graphicFrame>
        <p:nvGraphicFramePr>
          <p:cNvPr id="33" name="对象 32"/>
          <p:cNvGraphicFramePr>
            <a:graphicFrameLocks noChangeAspect="1"/>
          </p:cNvGraphicFramePr>
          <p:nvPr>
            <p:extLst>
              <p:ext uri="{D42A27DB-BD31-4B8C-83A1-F6EECF244321}">
                <p14:modId xmlns:p14="http://schemas.microsoft.com/office/powerpoint/2010/main" val="2737882059"/>
              </p:ext>
            </p:extLst>
          </p:nvPr>
        </p:nvGraphicFramePr>
        <p:xfrm>
          <a:off x="6419850" y="1238250"/>
          <a:ext cx="242888" cy="285750"/>
        </p:xfrm>
        <a:graphic>
          <a:graphicData uri="http://schemas.openxmlformats.org/presentationml/2006/ole">
            <mc:AlternateContent xmlns:mc="http://schemas.openxmlformats.org/markup-compatibility/2006">
              <mc:Choice xmlns:v="urn:schemas-microsoft-com:vml" Requires="v">
                <p:oleObj name="Formula" r:id="rId8" imgW="147600" imgH="172800" progId="Equation.Ribbit">
                  <p:embed/>
                </p:oleObj>
              </mc:Choice>
              <mc:Fallback>
                <p:oleObj name="Formula" r:id="rId8" imgW="147600" imgH="172800" progId="Equation.Ribbit">
                  <p:embed/>
                  <p:pic>
                    <p:nvPicPr>
                      <p:cNvPr id="33" name="对象 32"/>
                      <p:cNvPicPr/>
                      <p:nvPr/>
                    </p:nvPicPr>
                    <p:blipFill>
                      <a:blip r:embed="rId9"/>
                      <a:stretch>
                        <a:fillRect/>
                      </a:stretch>
                    </p:blipFill>
                    <p:spPr>
                      <a:xfrm>
                        <a:off x="6419850" y="1238250"/>
                        <a:ext cx="242888" cy="285750"/>
                      </a:xfrm>
                      <a:prstGeom prst="rect">
                        <a:avLst/>
                      </a:prstGeom>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567102806"/>
              </p:ext>
            </p:extLst>
          </p:nvPr>
        </p:nvGraphicFramePr>
        <p:xfrm>
          <a:off x="6826250" y="1238250"/>
          <a:ext cx="244475" cy="285750"/>
        </p:xfrm>
        <a:graphic>
          <a:graphicData uri="http://schemas.openxmlformats.org/presentationml/2006/ole">
            <mc:AlternateContent xmlns:mc="http://schemas.openxmlformats.org/markup-compatibility/2006">
              <mc:Choice xmlns:v="urn:schemas-microsoft-com:vml" Requires="v">
                <p:oleObj name="Formula" r:id="rId10" imgW="147600" imgH="172800" progId="Equation.Ribbit">
                  <p:embed/>
                </p:oleObj>
              </mc:Choice>
              <mc:Fallback>
                <p:oleObj name="Formula" r:id="rId10" imgW="147600" imgH="172800" progId="Equation.Ribbit">
                  <p:embed/>
                  <p:pic>
                    <p:nvPicPr>
                      <p:cNvPr id="43" name="对象 42"/>
                      <p:cNvPicPr/>
                      <p:nvPr/>
                    </p:nvPicPr>
                    <p:blipFill>
                      <a:blip r:embed="rId11"/>
                      <a:stretch>
                        <a:fillRect/>
                      </a:stretch>
                    </p:blipFill>
                    <p:spPr>
                      <a:xfrm>
                        <a:off x="6826250" y="1238250"/>
                        <a:ext cx="244475" cy="285750"/>
                      </a:xfrm>
                      <a:prstGeom prst="rect">
                        <a:avLst/>
                      </a:prstGeom>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1852722861"/>
              </p:ext>
            </p:extLst>
          </p:nvPr>
        </p:nvGraphicFramePr>
        <p:xfrm>
          <a:off x="5730875" y="1519238"/>
          <a:ext cx="242888" cy="284162"/>
        </p:xfrm>
        <a:graphic>
          <a:graphicData uri="http://schemas.openxmlformats.org/presentationml/2006/ole">
            <mc:AlternateContent xmlns:mc="http://schemas.openxmlformats.org/markup-compatibility/2006">
              <mc:Choice xmlns:v="urn:schemas-microsoft-com:vml" Requires="v">
                <p:oleObj name="Formula" r:id="rId12" imgW="147600" imgH="172800" progId="Equation.Ribbit">
                  <p:embed/>
                </p:oleObj>
              </mc:Choice>
              <mc:Fallback>
                <p:oleObj name="Formula" r:id="rId12" imgW="147600" imgH="172800" progId="Equation.Ribbit">
                  <p:embed/>
                  <p:pic>
                    <p:nvPicPr>
                      <p:cNvPr id="44" name="对象 43"/>
                      <p:cNvPicPr/>
                      <p:nvPr/>
                    </p:nvPicPr>
                    <p:blipFill>
                      <a:blip r:embed="rId13"/>
                      <a:stretch>
                        <a:fillRect/>
                      </a:stretch>
                    </p:blipFill>
                    <p:spPr>
                      <a:xfrm>
                        <a:off x="5730875" y="1519238"/>
                        <a:ext cx="242888" cy="284162"/>
                      </a:xfrm>
                      <a:prstGeom prst="rect">
                        <a:avLst/>
                      </a:prstGeom>
                    </p:spPr>
                  </p:pic>
                </p:oleObj>
              </mc:Fallback>
            </mc:AlternateContent>
          </a:graphicData>
        </a:graphic>
      </p:graphicFrame>
      <p:pic>
        <p:nvPicPr>
          <p:cNvPr id="45" name="内容占位符 33"/>
          <p:cNvPicPr>
            <a:picLocks noChangeAspect="1"/>
          </p:cNvPicPr>
          <p:nvPr/>
        </p:nvPicPr>
        <p:blipFill>
          <a:blip r:embed="rId14"/>
          <a:stretch>
            <a:fillRect/>
          </a:stretch>
        </p:blipFill>
        <p:spPr>
          <a:xfrm>
            <a:off x="708772" y="868836"/>
            <a:ext cx="4487272" cy="1542196"/>
          </a:xfrm>
          <a:prstGeom prst="rect">
            <a:avLst/>
          </a:prstGeom>
        </p:spPr>
      </p:pic>
      <p:sp>
        <p:nvSpPr>
          <p:cNvPr id="46" name="左大括号 45"/>
          <p:cNvSpPr/>
          <p:nvPr/>
        </p:nvSpPr>
        <p:spPr>
          <a:xfrm>
            <a:off x="484998" y="918219"/>
            <a:ext cx="194872" cy="1508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1600" dirty="0">
                <a:latin typeface="幼圆" panose="02010509060101010101" pitchFamily="49" charset="-122"/>
                <a:ea typeface="幼圆" panose="02010509060101010101" pitchFamily="49" charset="-122"/>
              </a:rPr>
              <a:t>验证集</a:t>
            </a:r>
            <a:endParaRPr lang="zh-CN" altLang="en-US" sz="1600" i="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52447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8" grpId="0"/>
      <p:bldP spid="29" grpId="0"/>
      <p:bldP spid="30" grpId="0"/>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预剪枝</a:t>
            </a:r>
          </a:p>
        </p:txBody>
      </p:sp>
      <p:sp>
        <p:nvSpPr>
          <p:cNvPr id="3" name="文本占位符 2"/>
          <p:cNvSpPr>
            <a:spLocks noGrp="1"/>
          </p:cNvSpPr>
          <p:nvPr>
            <p:ph type="body" sz="quarter" idx="13"/>
          </p:nvPr>
        </p:nvSpPr>
        <p:spPr>
          <a:xfrm>
            <a:off x="260350" y="1099318"/>
            <a:ext cx="8629650" cy="457200"/>
          </a:xfrm>
        </p:spPr>
        <p:txBody>
          <a:bodyPr>
            <a:normAutofit lnSpcReduction="10000"/>
          </a:bodyPr>
          <a:lstStyle/>
          <a:p>
            <a:r>
              <a:rPr lang="zh-CN" altLang="en-US" dirty="0"/>
              <a:t>预剪枝的优缺点</a:t>
            </a:r>
          </a:p>
        </p:txBody>
      </p:sp>
      <p:sp>
        <p:nvSpPr>
          <p:cNvPr id="4" name="内容占位符 3"/>
          <p:cNvSpPr>
            <a:spLocks noGrp="1"/>
          </p:cNvSpPr>
          <p:nvPr>
            <p:ph sz="quarter" idx="14"/>
          </p:nvPr>
        </p:nvSpPr>
        <p:spPr/>
        <p:txBody>
          <a:bodyPr/>
          <a:lstStyle/>
          <a:p>
            <a:r>
              <a:rPr lang="zh-CN" altLang="en-US" dirty="0"/>
              <a:t>优点</a:t>
            </a:r>
            <a:endParaRPr lang="en-US" altLang="zh-CN" dirty="0"/>
          </a:p>
          <a:p>
            <a:pPr>
              <a:lnSpc>
                <a:spcPts val="200"/>
              </a:lnSpc>
            </a:pPr>
            <a:endParaRPr lang="en-US" altLang="zh-CN" dirty="0"/>
          </a:p>
          <a:p>
            <a:pPr lvl="1"/>
            <a:r>
              <a:rPr lang="zh-CN" altLang="en-US" dirty="0">
                <a:solidFill>
                  <a:srgbClr val="C00000"/>
                </a:solidFill>
              </a:rPr>
              <a:t>降低过拟合风险</a:t>
            </a:r>
            <a:endParaRPr lang="en-US" altLang="zh-CN" dirty="0">
              <a:solidFill>
                <a:srgbClr val="C00000"/>
              </a:solidFill>
            </a:endParaRPr>
          </a:p>
          <a:p>
            <a:pPr lvl="1">
              <a:lnSpc>
                <a:spcPts val="200"/>
              </a:lnSpc>
            </a:pPr>
            <a:endParaRPr lang="en-US" altLang="zh-CN" dirty="0">
              <a:solidFill>
                <a:srgbClr val="C00000"/>
              </a:solidFill>
            </a:endParaRPr>
          </a:p>
          <a:p>
            <a:pPr lvl="1"/>
            <a:r>
              <a:rPr lang="zh-CN" altLang="en-US" dirty="0"/>
              <a:t>显著减少训练时间和测试时间开销</a:t>
            </a:r>
            <a:endParaRPr lang="en-US" altLang="zh-CN" dirty="0"/>
          </a:p>
          <a:p>
            <a:pPr marL="325800" lvl="1" indent="0">
              <a:buNone/>
            </a:pPr>
            <a:endParaRPr lang="en-US" altLang="zh-CN" sz="1800" dirty="0"/>
          </a:p>
          <a:p>
            <a:r>
              <a:rPr lang="zh-CN" altLang="en-US" dirty="0"/>
              <a:t>缺点</a:t>
            </a:r>
            <a:endParaRPr lang="en-US" altLang="zh-CN" dirty="0"/>
          </a:p>
          <a:p>
            <a:pPr>
              <a:lnSpc>
                <a:spcPts val="200"/>
              </a:lnSpc>
            </a:pPr>
            <a:endParaRPr lang="en-US" altLang="zh-CN" dirty="0"/>
          </a:p>
          <a:p>
            <a:pPr lvl="1">
              <a:lnSpc>
                <a:spcPct val="120000"/>
              </a:lnSpc>
            </a:pPr>
            <a:r>
              <a:rPr lang="zh-CN" altLang="en-US" dirty="0">
                <a:solidFill>
                  <a:srgbClr val="C00000"/>
                </a:solidFill>
              </a:rPr>
              <a:t>欠拟合风险</a:t>
            </a:r>
            <a:r>
              <a:rPr lang="zh-CN" altLang="en-US" dirty="0"/>
              <a:t>：有些分支的当前划分虽然不能提升泛化性能，但在其基础上进行的后续划分却有可能导致性能显著提高。预剪枝基于“贪心”本质禁止这些分支展开，带来了欠拟合风险</a:t>
            </a:r>
          </a:p>
          <a:p>
            <a:pPr marL="0" indent="0">
              <a:buNone/>
            </a:pPr>
            <a:endParaRPr lang="zh-CN" altLang="en-US" dirty="0"/>
          </a:p>
        </p:txBody>
      </p:sp>
    </p:spTree>
    <p:extLst>
      <p:ext uri="{BB962C8B-B14F-4D97-AF65-F5344CB8AC3E}">
        <p14:creationId xmlns:p14="http://schemas.microsoft.com/office/powerpoint/2010/main" val="8570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a:xfrm>
            <a:off x="260350" y="920306"/>
            <a:ext cx="8435744" cy="5169006"/>
          </a:xfrm>
        </p:spPr>
        <p:txBody>
          <a:bodyPr/>
          <a:lstStyle/>
          <a:p>
            <a:pPr>
              <a:lnSpc>
                <a:spcPct val="120000"/>
              </a:lnSpc>
            </a:pPr>
            <a:r>
              <a:rPr lang="zh-CN" altLang="en-US" dirty="0"/>
              <a:t>先从训练集生成一棵完整的决策树，然后自底向上地对非叶结点进行考察，若将该结点对应的子树替换为叶结点能带来决策树泛化性能提升，则将该子树替换为叶结点</a:t>
            </a:r>
          </a:p>
        </p:txBody>
      </p:sp>
      <p:grpSp>
        <p:nvGrpSpPr>
          <p:cNvPr id="4" name="组合 3"/>
          <p:cNvGrpSpPr/>
          <p:nvPr/>
        </p:nvGrpSpPr>
        <p:grpSpPr>
          <a:xfrm>
            <a:off x="2481739" y="2188564"/>
            <a:ext cx="6220051" cy="3954100"/>
            <a:chOff x="1926459" y="2007290"/>
            <a:chExt cx="8479450" cy="4732069"/>
          </a:xfrm>
        </p:grpSpPr>
        <p:grpSp>
          <p:nvGrpSpPr>
            <p:cNvPr id="5" name="组合 4"/>
            <p:cNvGrpSpPr/>
            <p:nvPr/>
          </p:nvGrpSpPr>
          <p:grpSpPr>
            <a:xfrm>
              <a:off x="4423852" y="6307359"/>
              <a:ext cx="3582444" cy="432000"/>
              <a:chOff x="2341355" y="4320514"/>
              <a:chExt cx="3582444" cy="432000"/>
            </a:xfrm>
          </p:grpSpPr>
          <p:sp>
            <p:nvSpPr>
              <p:cNvPr id="55" name="椭圆 54"/>
              <p:cNvSpPr/>
              <p:nvPr/>
            </p:nvSpPr>
            <p:spPr>
              <a:xfrm>
                <a:off x="2341355"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56" name="椭圆 55"/>
              <p:cNvSpPr/>
              <p:nvPr/>
            </p:nvSpPr>
            <p:spPr>
              <a:xfrm>
                <a:off x="3592577"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57" name="椭圆 56"/>
              <p:cNvSpPr/>
              <p:nvPr/>
            </p:nvSpPr>
            <p:spPr>
              <a:xfrm>
                <a:off x="4843799"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grpSp>
        <p:cxnSp>
          <p:nvCxnSpPr>
            <p:cNvPr id="6" name="直接连接符 5"/>
            <p:cNvCxnSpPr>
              <a:endCxn id="55" idx="0"/>
            </p:cNvCxnSpPr>
            <p:nvPr/>
          </p:nvCxnSpPr>
          <p:spPr>
            <a:xfrm flipH="1">
              <a:off x="4963852" y="5508978"/>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7" name="文本框 11"/>
            <p:cNvSpPr txBox="1"/>
            <p:nvPr/>
          </p:nvSpPr>
          <p:spPr>
            <a:xfrm>
              <a:off x="6164461"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清晰</a:t>
              </a:r>
            </a:p>
          </p:txBody>
        </p:sp>
        <p:cxnSp>
          <p:nvCxnSpPr>
            <p:cNvPr id="8" name="直接连接符 7"/>
            <p:cNvCxnSpPr>
              <a:endCxn id="57" idx="0"/>
            </p:cNvCxnSpPr>
            <p:nvPr/>
          </p:nvCxnSpPr>
          <p:spPr>
            <a:xfrm>
              <a:off x="6215074" y="5508978"/>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9" name="直接连接符 8"/>
            <p:cNvCxnSpPr>
              <a:stCxn id="10" idx="2"/>
              <a:endCxn id="56" idx="0"/>
            </p:cNvCxnSpPr>
            <p:nvPr/>
          </p:nvCxnSpPr>
          <p:spPr>
            <a:xfrm>
              <a:off x="6215074" y="5699638"/>
              <a:ext cx="0" cy="607721"/>
            </a:xfrm>
            <a:prstGeom prst="line">
              <a:avLst/>
            </a:prstGeom>
          </p:spPr>
          <p:style>
            <a:lnRef idx="1">
              <a:schemeClr val="dk1"/>
            </a:lnRef>
            <a:fillRef idx="0">
              <a:schemeClr val="dk1"/>
            </a:fillRef>
            <a:effectRef idx="0">
              <a:schemeClr val="dk1"/>
            </a:effectRef>
            <a:fontRef idx="minor">
              <a:schemeClr val="tx1"/>
            </a:fontRef>
          </p:style>
        </p:cxnSp>
        <p:sp>
          <p:nvSpPr>
            <p:cNvPr id="10" name="圆角矩形 9"/>
            <p:cNvSpPr/>
            <p:nvPr/>
          </p:nvSpPr>
          <p:spPr>
            <a:xfrm>
              <a:off x="5675074" y="52676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纹理</a:t>
              </a:r>
            </a:p>
          </p:txBody>
        </p:sp>
        <p:sp>
          <p:nvSpPr>
            <p:cNvPr id="11" name="文本框 20"/>
            <p:cNvSpPr txBox="1"/>
            <p:nvPr/>
          </p:nvSpPr>
          <p:spPr>
            <a:xfrm>
              <a:off x="708996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模糊</a:t>
              </a:r>
            </a:p>
          </p:txBody>
        </p:sp>
        <p:sp>
          <p:nvSpPr>
            <p:cNvPr id="12" name="文本框 21"/>
            <p:cNvSpPr txBox="1"/>
            <p:nvPr/>
          </p:nvSpPr>
          <p:spPr>
            <a:xfrm>
              <a:off x="473714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稍糊</a:t>
              </a:r>
            </a:p>
          </p:txBody>
        </p:sp>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3"/>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4"/>
              <a:ext cx="1440001"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sp>
          <p:nvSpPr>
            <p:cNvPr id="54" name="椭圆 53"/>
            <p:cNvSpPr/>
            <p:nvPr/>
          </p:nvSpPr>
          <p:spPr>
            <a:xfrm>
              <a:off x="5531825" y="505816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6</a:t>
              </a:r>
              <a:endParaRPr lang="zh-CN" altLang="en-US" dirty="0">
                <a:solidFill>
                  <a:schemeClr val="tx1"/>
                </a:solidFill>
                <a:latin typeface="Times "/>
              </a:endParaRPr>
            </a:p>
          </p:txBody>
        </p:sp>
      </p:grpSp>
      <p:sp>
        <p:nvSpPr>
          <p:cNvPr id="58" name="文本框 57"/>
          <p:cNvSpPr txBox="1"/>
          <p:nvPr/>
        </p:nvSpPr>
        <p:spPr>
          <a:xfrm>
            <a:off x="447906" y="2522607"/>
            <a:ext cx="2221389" cy="1366528"/>
          </a:xfrm>
          <a:prstGeom prst="rect">
            <a:avLst/>
          </a:prstGeom>
          <a:noFill/>
        </p:spPr>
        <p:txBody>
          <a:bodyPr wrap="square" rtlCol="0">
            <a:spAutoFit/>
          </a:bodyPr>
          <a:lstStyle/>
          <a:p>
            <a:pPr>
              <a:lnSpc>
                <a:spcPct val="120000"/>
              </a:lnSpc>
            </a:pPr>
            <a:r>
              <a:rPr lang="zh-CN" altLang="en-US" dirty="0"/>
              <a:t>首先生成一棵完整的决策树，该决策树的验证集精度为</a:t>
            </a:r>
            <a:endParaRPr lang="en-US" altLang="zh-CN" dirty="0"/>
          </a:p>
          <a:p>
            <a:endParaRPr lang="zh-CN" altLang="en-US" dirty="0"/>
          </a:p>
        </p:txBody>
      </p:sp>
      <p:graphicFrame>
        <p:nvGraphicFramePr>
          <p:cNvPr id="59" name="对象 58"/>
          <p:cNvGraphicFramePr>
            <a:graphicFrameLocks noChangeAspect="1"/>
          </p:cNvGraphicFramePr>
          <p:nvPr>
            <p:extLst>
              <p:ext uri="{D42A27DB-BD31-4B8C-83A1-F6EECF244321}">
                <p14:modId xmlns:p14="http://schemas.microsoft.com/office/powerpoint/2010/main" val="1467390341"/>
              </p:ext>
            </p:extLst>
          </p:nvPr>
        </p:nvGraphicFramePr>
        <p:xfrm>
          <a:off x="539750" y="3611905"/>
          <a:ext cx="531813" cy="239713"/>
        </p:xfrm>
        <a:graphic>
          <a:graphicData uri="http://schemas.openxmlformats.org/presentationml/2006/ole">
            <mc:AlternateContent xmlns:mc="http://schemas.openxmlformats.org/markup-compatibility/2006">
              <mc:Choice xmlns:v="urn:schemas-microsoft-com:vml" Requires="v">
                <p:oleObj name="Formula" r:id="rId2" imgW="388800" imgH="175320" progId="Equation.Ribbit">
                  <p:embed/>
                </p:oleObj>
              </mc:Choice>
              <mc:Fallback>
                <p:oleObj name="Formula" r:id="rId2" imgW="388800" imgH="175320" progId="Equation.Ribbit">
                  <p:embed/>
                  <p:pic>
                    <p:nvPicPr>
                      <p:cNvPr id="59" name="对象 58"/>
                      <p:cNvPicPr/>
                      <p:nvPr/>
                    </p:nvPicPr>
                    <p:blipFill>
                      <a:blip r:embed="rId3"/>
                      <a:stretch>
                        <a:fillRect/>
                      </a:stretch>
                    </p:blipFill>
                    <p:spPr>
                      <a:xfrm>
                        <a:off x="539750" y="3611905"/>
                        <a:ext cx="531813" cy="239713"/>
                      </a:xfrm>
                      <a:prstGeom prst="rect">
                        <a:avLst/>
                      </a:prstGeom>
                    </p:spPr>
                  </p:pic>
                </p:oleObj>
              </mc:Fallback>
            </mc:AlternateContent>
          </a:graphicData>
        </a:graphic>
      </p:graphicFrame>
    </p:spTree>
    <p:extLst>
      <p:ext uri="{BB962C8B-B14F-4D97-AF65-F5344CB8AC3E}">
        <p14:creationId xmlns:p14="http://schemas.microsoft.com/office/powerpoint/2010/main" val="227413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350" y="52803"/>
            <a:ext cx="7886700" cy="777874"/>
          </a:xfrm>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a:xfrm>
            <a:off x="260350" y="990386"/>
            <a:ext cx="8530514" cy="5098926"/>
          </a:xfrm>
        </p:spPr>
        <p:txBody>
          <a:bodyPr/>
          <a:lstStyle/>
          <a:p>
            <a:pPr>
              <a:lnSpc>
                <a:spcPct val="120000"/>
              </a:lnSpc>
            </a:pPr>
            <a:r>
              <a:rPr lang="zh-CN" altLang="en-US" dirty="0"/>
              <a:t>首先考虑结点   ，若将其替换为叶结点，根据落在其上的训练样本</a:t>
            </a:r>
            <a:r>
              <a:rPr lang="en-US" altLang="zh-CN" dirty="0"/>
              <a:t>        </a:t>
            </a:r>
            <a:r>
              <a:rPr lang="zh-CN" altLang="en-US" dirty="0"/>
              <a:t>将其标记为“好瓜”，得到验证集精度提高至</a:t>
            </a:r>
            <a:r>
              <a:rPr lang="en-US" altLang="zh-CN" dirty="0"/>
              <a:t>       </a:t>
            </a:r>
            <a:r>
              <a:rPr lang="zh-CN" altLang="en-US" dirty="0"/>
              <a:t>，则决定剪枝</a:t>
            </a:r>
          </a:p>
        </p:txBody>
      </p:sp>
      <p:grpSp>
        <p:nvGrpSpPr>
          <p:cNvPr id="4" name="组合 3"/>
          <p:cNvGrpSpPr/>
          <p:nvPr/>
        </p:nvGrpSpPr>
        <p:grpSpPr>
          <a:xfrm>
            <a:off x="353136" y="2146866"/>
            <a:ext cx="6220051" cy="3954100"/>
            <a:chOff x="1926459" y="2007290"/>
            <a:chExt cx="8479450" cy="4732069"/>
          </a:xfrm>
        </p:grpSpPr>
        <p:grpSp>
          <p:nvGrpSpPr>
            <p:cNvPr id="5" name="组合 4"/>
            <p:cNvGrpSpPr/>
            <p:nvPr/>
          </p:nvGrpSpPr>
          <p:grpSpPr>
            <a:xfrm>
              <a:off x="4423852" y="6307359"/>
              <a:ext cx="3582444" cy="432000"/>
              <a:chOff x="2341355" y="4320514"/>
              <a:chExt cx="3582444" cy="432000"/>
            </a:xfrm>
          </p:grpSpPr>
          <p:sp>
            <p:nvSpPr>
              <p:cNvPr id="55" name="椭圆 54"/>
              <p:cNvSpPr/>
              <p:nvPr/>
            </p:nvSpPr>
            <p:spPr>
              <a:xfrm>
                <a:off x="2341355"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56" name="椭圆 55"/>
              <p:cNvSpPr/>
              <p:nvPr/>
            </p:nvSpPr>
            <p:spPr>
              <a:xfrm>
                <a:off x="3592577"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57" name="椭圆 56"/>
              <p:cNvSpPr/>
              <p:nvPr/>
            </p:nvSpPr>
            <p:spPr>
              <a:xfrm>
                <a:off x="4843799"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grpSp>
        <p:cxnSp>
          <p:nvCxnSpPr>
            <p:cNvPr id="6" name="直接连接符 5"/>
            <p:cNvCxnSpPr>
              <a:endCxn id="55" idx="0"/>
            </p:cNvCxnSpPr>
            <p:nvPr/>
          </p:nvCxnSpPr>
          <p:spPr>
            <a:xfrm flipH="1">
              <a:off x="4963852" y="5508978"/>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7" name="文本框 11"/>
            <p:cNvSpPr txBox="1"/>
            <p:nvPr/>
          </p:nvSpPr>
          <p:spPr>
            <a:xfrm>
              <a:off x="6164461"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清晰</a:t>
              </a:r>
            </a:p>
          </p:txBody>
        </p:sp>
        <p:cxnSp>
          <p:nvCxnSpPr>
            <p:cNvPr id="8" name="直接连接符 7"/>
            <p:cNvCxnSpPr>
              <a:endCxn id="57" idx="0"/>
            </p:cNvCxnSpPr>
            <p:nvPr/>
          </p:nvCxnSpPr>
          <p:spPr>
            <a:xfrm>
              <a:off x="6215074" y="5508978"/>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9" name="直接连接符 8"/>
            <p:cNvCxnSpPr>
              <a:stCxn id="10" idx="2"/>
              <a:endCxn id="56" idx="0"/>
            </p:cNvCxnSpPr>
            <p:nvPr/>
          </p:nvCxnSpPr>
          <p:spPr>
            <a:xfrm>
              <a:off x="6215074" y="5699638"/>
              <a:ext cx="0" cy="607721"/>
            </a:xfrm>
            <a:prstGeom prst="line">
              <a:avLst/>
            </a:prstGeom>
          </p:spPr>
          <p:style>
            <a:lnRef idx="1">
              <a:schemeClr val="dk1"/>
            </a:lnRef>
            <a:fillRef idx="0">
              <a:schemeClr val="dk1"/>
            </a:fillRef>
            <a:effectRef idx="0">
              <a:schemeClr val="dk1"/>
            </a:effectRef>
            <a:fontRef idx="minor">
              <a:schemeClr val="tx1"/>
            </a:fontRef>
          </p:style>
        </p:cxnSp>
        <p:sp>
          <p:nvSpPr>
            <p:cNvPr id="10" name="圆角矩形 9"/>
            <p:cNvSpPr/>
            <p:nvPr/>
          </p:nvSpPr>
          <p:spPr>
            <a:xfrm>
              <a:off x="5675074" y="52676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纹理</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11" name="文本框 20"/>
            <p:cNvSpPr txBox="1"/>
            <p:nvPr/>
          </p:nvSpPr>
          <p:spPr>
            <a:xfrm>
              <a:off x="708996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模糊</a:t>
              </a:r>
            </a:p>
          </p:txBody>
        </p:sp>
        <p:sp>
          <p:nvSpPr>
            <p:cNvPr id="12" name="文本框 21"/>
            <p:cNvSpPr txBox="1"/>
            <p:nvPr/>
          </p:nvSpPr>
          <p:spPr>
            <a:xfrm>
              <a:off x="4737145" y="5818868"/>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稍糊</a:t>
              </a:r>
            </a:p>
          </p:txBody>
        </p:sp>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sp>
          <p:nvSpPr>
            <p:cNvPr id="54" name="椭圆 53"/>
            <p:cNvSpPr/>
            <p:nvPr/>
          </p:nvSpPr>
          <p:spPr>
            <a:xfrm>
              <a:off x="5531825" y="505816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6</a:t>
              </a:r>
              <a:endParaRPr lang="zh-CN" altLang="en-US" dirty="0">
                <a:solidFill>
                  <a:schemeClr val="tx1"/>
                </a:solidFill>
                <a:latin typeface="Times "/>
              </a:endParaRPr>
            </a:p>
          </p:txBody>
        </p:sp>
      </p:grpSp>
      <p:graphicFrame>
        <p:nvGraphicFramePr>
          <p:cNvPr id="62" name="对象 61"/>
          <p:cNvGraphicFramePr>
            <a:graphicFrameLocks noChangeAspect="1"/>
          </p:cNvGraphicFramePr>
          <p:nvPr>
            <p:extLst>
              <p:ext uri="{D42A27DB-BD31-4B8C-83A1-F6EECF244321}">
                <p14:modId xmlns:p14="http://schemas.microsoft.com/office/powerpoint/2010/main" val="1712623418"/>
              </p:ext>
            </p:extLst>
          </p:nvPr>
        </p:nvGraphicFramePr>
        <p:xfrm>
          <a:off x="2419005" y="1106696"/>
          <a:ext cx="261937" cy="307975"/>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2419005" y="1106696"/>
                        <a:ext cx="261937" cy="307975"/>
                      </a:xfrm>
                      <a:prstGeom prst="rect">
                        <a:avLst/>
                      </a:prstGeom>
                    </p:spPr>
                  </p:pic>
                </p:oleObj>
              </mc:Fallback>
            </mc:AlternateContent>
          </a:graphicData>
        </a:graphic>
      </p:graphicFrame>
      <p:cxnSp>
        <p:nvCxnSpPr>
          <p:cNvPr id="71" name="直接箭头连接符 70"/>
          <p:cNvCxnSpPr/>
          <p:nvPr/>
        </p:nvCxnSpPr>
        <p:spPr>
          <a:xfrm flipH="1" flipV="1">
            <a:off x="3989129" y="5274182"/>
            <a:ext cx="1660550" cy="296159"/>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72" name="文本框 54"/>
          <p:cNvSpPr txBox="1"/>
          <p:nvPr/>
        </p:nvSpPr>
        <p:spPr>
          <a:xfrm>
            <a:off x="5904195" y="4812983"/>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73" name="文本框 55"/>
          <p:cNvSpPr txBox="1"/>
          <p:nvPr/>
        </p:nvSpPr>
        <p:spPr>
          <a:xfrm>
            <a:off x="5904195" y="5148061"/>
            <a:ext cx="1685077"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剪枝前</a:t>
            </a:r>
            <a:r>
              <a:rPr lang="en-US" altLang="zh-CN" dirty="0">
                <a:solidFill>
                  <a:srgbClr val="FF0000"/>
                </a:solidFill>
                <a:latin typeface="Times "/>
                <a:ea typeface="楷体" panose="02010609060101010101" pitchFamily="49" charset="-122"/>
              </a:rPr>
              <a:t>: 42.9%</a:t>
            </a:r>
          </a:p>
          <a:p>
            <a:r>
              <a:rPr lang="zh-CN" altLang="en-US" dirty="0">
                <a:solidFill>
                  <a:srgbClr val="FF0000"/>
                </a:solidFill>
                <a:latin typeface="Times "/>
                <a:ea typeface="楷体" panose="02010609060101010101" pitchFamily="49" charset="-122"/>
              </a:rPr>
              <a:t>剪枝后</a:t>
            </a:r>
            <a:r>
              <a:rPr lang="en-US" altLang="zh-CN" dirty="0">
                <a:solidFill>
                  <a:srgbClr val="FF0000"/>
                </a:solidFill>
                <a:latin typeface="Times "/>
                <a:ea typeface="楷体" panose="02010609060101010101" pitchFamily="49" charset="-122"/>
              </a:rPr>
              <a:t>: 57.1%</a:t>
            </a:r>
            <a:endParaRPr lang="zh-CN" altLang="en-US" dirty="0">
              <a:solidFill>
                <a:srgbClr val="FF0000"/>
              </a:solidFill>
              <a:latin typeface="Times "/>
              <a:ea typeface="楷体" panose="02010609060101010101" pitchFamily="49" charset="-122"/>
            </a:endParaRPr>
          </a:p>
        </p:txBody>
      </p:sp>
      <p:sp>
        <p:nvSpPr>
          <p:cNvPr id="74" name="文本框 56"/>
          <p:cNvSpPr txBox="1"/>
          <p:nvPr/>
        </p:nvSpPr>
        <p:spPr>
          <a:xfrm>
            <a:off x="5458246" y="5720180"/>
            <a:ext cx="2031325"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后剪枝决策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剪枝</a:t>
            </a:r>
          </a:p>
        </p:txBody>
      </p:sp>
      <p:graphicFrame>
        <p:nvGraphicFramePr>
          <p:cNvPr id="63" name="对象 62"/>
          <p:cNvGraphicFramePr>
            <a:graphicFrameLocks noChangeAspect="1"/>
          </p:cNvGraphicFramePr>
          <p:nvPr>
            <p:extLst>
              <p:ext uri="{D42A27DB-BD31-4B8C-83A1-F6EECF244321}">
                <p14:modId xmlns:p14="http://schemas.microsoft.com/office/powerpoint/2010/main" val="1958880000"/>
              </p:ext>
            </p:extLst>
          </p:nvPr>
        </p:nvGraphicFramePr>
        <p:xfrm>
          <a:off x="866775" y="1492250"/>
          <a:ext cx="776288" cy="320675"/>
        </p:xfrm>
        <a:graphic>
          <a:graphicData uri="http://schemas.openxmlformats.org/presentationml/2006/ole">
            <mc:AlternateContent xmlns:mc="http://schemas.openxmlformats.org/markup-compatibility/2006">
              <mc:Choice xmlns:v="urn:schemas-microsoft-com:vml" Requires="v">
                <p:oleObj name="Formula" r:id="rId4" imgW="432000" imgH="177840" progId="Equation.Ribbit">
                  <p:embed/>
                </p:oleObj>
              </mc:Choice>
              <mc:Fallback>
                <p:oleObj name="Formula" r:id="rId4" imgW="432000" imgH="177840" progId="Equation.Ribbit">
                  <p:embed/>
                  <p:pic>
                    <p:nvPicPr>
                      <p:cNvPr id="63" name="对象 62"/>
                      <p:cNvPicPr/>
                      <p:nvPr/>
                    </p:nvPicPr>
                    <p:blipFill>
                      <a:blip r:embed="rId5"/>
                      <a:stretch>
                        <a:fillRect/>
                      </a:stretch>
                    </p:blipFill>
                    <p:spPr>
                      <a:xfrm>
                        <a:off x="866775" y="1492250"/>
                        <a:ext cx="776288" cy="320675"/>
                      </a:xfrm>
                      <a:prstGeom prst="rect">
                        <a:avLst/>
                      </a:prstGeom>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1246751846"/>
              </p:ext>
            </p:extLst>
          </p:nvPr>
        </p:nvGraphicFramePr>
        <p:xfrm>
          <a:off x="7231891" y="1504950"/>
          <a:ext cx="698500" cy="319088"/>
        </p:xfrm>
        <a:graphic>
          <a:graphicData uri="http://schemas.openxmlformats.org/presentationml/2006/ole">
            <mc:AlternateContent xmlns:mc="http://schemas.openxmlformats.org/markup-compatibility/2006">
              <mc:Choice xmlns:v="urn:schemas-microsoft-com:vml" Requires="v">
                <p:oleObj name="Formula" r:id="rId6" imgW="384840" imgH="175320" progId="Equation.Ribbit">
                  <p:embed/>
                </p:oleObj>
              </mc:Choice>
              <mc:Fallback>
                <p:oleObj name="Formula" r:id="rId6" imgW="384840" imgH="175320" progId="Equation.Ribbit">
                  <p:embed/>
                  <p:pic>
                    <p:nvPicPr>
                      <p:cNvPr id="58" name="对象 57"/>
                      <p:cNvPicPr/>
                      <p:nvPr/>
                    </p:nvPicPr>
                    <p:blipFill>
                      <a:blip r:embed="rId7"/>
                      <a:stretch>
                        <a:fillRect/>
                      </a:stretch>
                    </p:blipFill>
                    <p:spPr>
                      <a:xfrm>
                        <a:off x="7231891" y="1504950"/>
                        <a:ext cx="698500" cy="319088"/>
                      </a:xfrm>
                      <a:prstGeom prst="rect">
                        <a:avLst/>
                      </a:prstGeom>
                    </p:spPr>
                  </p:pic>
                </p:oleObj>
              </mc:Fallback>
            </mc:AlternateContent>
          </a:graphicData>
        </a:graphic>
      </p:graphicFrame>
    </p:spTree>
    <p:extLst>
      <p:ext uri="{BB962C8B-B14F-4D97-AF65-F5344CB8AC3E}">
        <p14:creationId xmlns:p14="http://schemas.microsoft.com/office/powerpoint/2010/main" val="1965626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grpSp>
        <p:nvGrpSpPr>
          <p:cNvPr id="4" name="组合 3"/>
          <p:cNvGrpSpPr/>
          <p:nvPr/>
        </p:nvGrpSpPr>
        <p:grpSpPr>
          <a:xfrm>
            <a:off x="1366924" y="2554373"/>
            <a:ext cx="6220051" cy="3085312"/>
            <a:chOff x="1926459" y="2007290"/>
            <a:chExt cx="8479450"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sp>
        <p:nvSpPr>
          <p:cNvPr id="76" name="椭圆 75"/>
          <p:cNvSpPr/>
          <p:nvPr/>
        </p:nvSpPr>
        <p:spPr>
          <a:xfrm>
            <a:off x="4158151" y="5296197"/>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8" name="内容占位符 2">
            <a:extLst>
              <a:ext uri="{FF2B5EF4-FFF2-40B4-BE49-F238E27FC236}">
                <a16:creationId xmlns:a16="http://schemas.microsoft.com/office/drawing/2014/main" id="{1D55B2D0-2B94-BB75-71D8-2D92AFDF2DD4}"/>
              </a:ext>
            </a:extLst>
          </p:cNvPr>
          <p:cNvSpPr>
            <a:spLocks noGrp="1"/>
          </p:cNvSpPr>
          <p:nvPr>
            <p:ph idx="1"/>
          </p:nvPr>
        </p:nvSpPr>
        <p:spPr>
          <a:xfrm>
            <a:off x="260350" y="1218314"/>
            <a:ext cx="8530514" cy="4870997"/>
          </a:xfrm>
        </p:spPr>
        <p:txBody>
          <a:bodyPr/>
          <a:lstStyle/>
          <a:p>
            <a:pPr>
              <a:lnSpc>
                <a:spcPct val="120000"/>
              </a:lnSpc>
            </a:pPr>
            <a:r>
              <a:rPr lang="zh-CN" altLang="en-US" dirty="0"/>
              <a:t>首先考虑结点   ，若将其替换为叶结点，根据落在其上的训练样本</a:t>
            </a:r>
            <a:r>
              <a:rPr lang="en-US" altLang="zh-CN" dirty="0"/>
              <a:t>        </a:t>
            </a:r>
            <a:r>
              <a:rPr lang="zh-CN" altLang="en-US" dirty="0"/>
              <a:t>将其标记为“好瓜”，得到验证集精度提高至</a:t>
            </a:r>
            <a:r>
              <a:rPr lang="en-US" altLang="zh-CN" dirty="0"/>
              <a:t>       </a:t>
            </a:r>
            <a:r>
              <a:rPr lang="zh-CN" altLang="en-US" dirty="0"/>
              <a:t>，则决定剪枝</a:t>
            </a:r>
          </a:p>
        </p:txBody>
      </p:sp>
      <p:graphicFrame>
        <p:nvGraphicFramePr>
          <p:cNvPr id="9" name="对象 8">
            <a:extLst>
              <a:ext uri="{FF2B5EF4-FFF2-40B4-BE49-F238E27FC236}">
                <a16:creationId xmlns:a16="http://schemas.microsoft.com/office/drawing/2014/main" id="{1C683B8A-98D2-B336-E46A-02358401F1F2}"/>
              </a:ext>
            </a:extLst>
          </p:cNvPr>
          <p:cNvGraphicFramePr>
            <a:graphicFrameLocks noChangeAspect="1"/>
          </p:cNvGraphicFramePr>
          <p:nvPr>
            <p:extLst>
              <p:ext uri="{D42A27DB-BD31-4B8C-83A1-F6EECF244321}">
                <p14:modId xmlns:p14="http://schemas.microsoft.com/office/powerpoint/2010/main" val="90167535"/>
              </p:ext>
            </p:extLst>
          </p:nvPr>
        </p:nvGraphicFramePr>
        <p:xfrm>
          <a:off x="2419005" y="1325358"/>
          <a:ext cx="261937" cy="307975"/>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2419005" y="1325358"/>
                        <a:ext cx="261937" cy="3079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5D14B08-D0E8-DE1B-A0B8-1DF6480A89DE}"/>
              </a:ext>
            </a:extLst>
          </p:cNvPr>
          <p:cNvGraphicFramePr>
            <a:graphicFrameLocks noChangeAspect="1"/>
          </p:cNvGraphicFramePr>
          <p:nvPr>
            <p:extLst>
              <p:ext uri="{D42A27DB-BD31-4B8C-83A1-F6EECF244321}">
                <p14:modId xmlns:p14="http://schemas.microsoft.com/office/powerpoint/2010/main" val="3516755648"/>
              </p:ext>
            </p:extLst>
          </p:nvPr>
        </p:nvGraphicFramePr>
        <p:xfrm>
          <a:off x="866775" y="1720851"/>
          <a:ext cx="776288" cy="320675"/>
        </p:xfrm>
        <a:graphic>
          <a:graphicData uri="http://schemas.openxmlformats.org/presentationml/2006/ole">
            <mc:AlternateContent xmlns:mc="http://schemas.openxmlformats.org/markup-compatibility/2006">
              <mc:Choice xmlns:v="urn:schemas-microsoft-com:vml" Requires="v">
                <p:oleObj name="Formula" r:id="rId4" imgW="432000" imgH="177840" progId="Equation.Ribbit">
                  <p:embed/>
                </p:oleObj>
              </mc:Choice>
              <mc:Fallback>
                <p:oleObj name="Formula" r:id="rId4" imgW="432000" imgH="177840" progId="Equation.Ribbit">
                  <p:embed/>
                  <p:pic>
                    <p:nvPicPr>
                      <p:cNvPr id="63" name="对象 62"/>
                      <p:cNvPicPr/>
                      <p:nvPr/>
                    </p:nvPicPr>
                    <p:blipFill>
                      <a:blip r:embed="rId5"/>
                      <a:stretch>
                        <a:fillRect/>
                      </a:stretch>
                    </p:blipFill>
                    <p:spPr>
                      <a:xfrm>
                        <a:off x="866775" y="1720851"/>
                        <a:ext cx="776288" cy="3206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E1E479BE-C648-CDF8-0A06-C578403CFC1B}"/>
              </a:ext>
            </a:extLst>
          </p:cNvPr>
          <p:cNvGraphicFramePr>
            <a:graphicFrameLocks noChangeAspect="1"/>
          </p:cNvGraphicFramePr>
          <p:nvPr>
            <p:extLst>
              <p:ext uri="{D42A27DB-BD31-4B8C-83A1-F6EECF244321}">
                <p14:modId xmlns:p14="http://schemas.microsoft.com/office/powerpoint/2010/main" val="3216690585"/>
              </p:ext>
            </p:extLst>
          </p:nvPr>
        </p:nvGraphicFramePr>
        <p:xfrm>
          <a:off x="7231891" y="1733551"/>
          <a:ext cx="698500" cy="319088"/>
        </p:xfrm>
        <a:graphic>
          <a:graphicData uri="http://schemas.openxmlformats.org/presentationml/2006/ole">
            <mc:AlternateContent xmlns:mc="http://schemas.openxmlformats.org/markup-compatibility/2006">
              <mc:Choice xmlns:v="urn:schemas-microsoft-com:vml" Requires="v">
                <p:oleObj name="Formula" r:id="rId6" imgW="384840" imgH="175320" progId="Equation.Ribbit">
                  <p:embed/>
                </p:oleObj>
              </mc:Choice>
              <mc:Fallback>
                <p:oleObj name="Formula" r:id="rId6" imgW="384840" imgH="175320" progId="Equation.Ribbit">
                  <p:embed/>
                  <p:pic>
                    <p:nvPicPr>
                      <p:cNvPr id="58" name="对象 57"/>
                      <p:cNvPicPr/>
                      <p:nvPr/>
                    </p:nvPicPr>
                    <p:blipFill>
                      <a:blip r:embed="rId7"/>
                      <a:stretch>
                        <a:fillRect/>
                      </a:stretch>
                    </p:blipFill>
                    <p:spPr>
                      <a:xfrm>
                        <a:off x="7231891" y="1733551"/>
                        <a:ext cx="698500" cy="319088"/>
                      </a:xfrm>
                      <a:prstGeom prst="rect">
                        <a:avLst/>
                      </a:prstGeom>
                    </p:spPr>
                  </p:pic>
                </p:oleObj>
              </mc:Fallback>
            </mc:AlternateContent>
          </a:graphicData>
        </a:graphic>
      </p:graphicFrame>
    </p:spTree>
    <p:extLst>
      <p:ext uri="{BB962C8B-B14F-4D97-AF65-F5344CB8AC3E}">
        <p14:creationId xmlns:p14="http://schemas.microsoft.com/office/powerpoint/2010/main" val="1993218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a:xfrm>
            <a:off x="260350" y="1117632"/>
            <a:ext cx="8616950" cy="4971679"/>
          </a:xfrm>
        </p:spPr>
        <p:txBody>
          <a:bodyPr/>
          <a:lstStyle/>
          <a:p>
            <a:pPr>
              <a:lnSpc>
                <a:spcPct val="120000"/>
              </a:lnSpc>
            </a:pPr>
            <a:r>
              <a:rPr lang="zh-CN" altLang="en-US" dirty="0"/>
              <a:t>然后考虑结点   ，若将其替换为叶结点，根据落在其上的训练样本</a:t>
            </a:r>
            <a:r>
              <a:rPr lang="en-US" altLang="zh-CN" dirty="0"/>
              <a:t>           </a:t>
            </a:r>
            <a:r>
              <a:rPr lang="zh-CN" altLang="en-US" dirty="0"/>
              <a:t>将其标记为“好瓜”，得到验证集精度仍为</a:t>
            </a:r>
            <a:r>
              <a:rPr lang="en-US" altLang="zh-CN" dirty="0"/>
              <a:t>        </a:t>
            </a:r>
            <a:r>
              <a:rPr lang="zh-CN" altLang="en-US" dirty="0"/>
              <a:t>，可以不进行剪枝</a:t>
            </a:r>
          </a:p>
        </p:txBody>
      </p:sp>
      <p:grpSp>
        <p:nvGrpSpPr>
          <p:cNvPr id="4" name="组合 3"/>
          <p:cNvGrpSpPr/>
          <p:nvPr/>
        </p:nvGrpSpPr>
        <p:grpSpPr>
          <a:xfrm>
            <a:off x="830212" y="2643818"/>
            <a:ext cx="6220051" cy="3085312"/>
            <a:chOff x="1926459" y="2007290"/>
            <a:chExt cx="8479450"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色泽</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graphicFrame>
        <p:nvGraphicFramePr>
          <p:cNvPr id="62" name="对象 61"/>
          <p:cNvGraphicFramePr>
            <a:graphicFrameLocks noChangeAspect="1"/>
          </p:cNvGraphicFramePr>
          <p:nvPr>
            <p:extLst>
              <p:ext uri="{D42A27DB-BD31-4B8C-83A1-F6EECF244321}">
                <p14:modId xmlns:p14="http://schemas.microsoft.com/office/powerpoint/2010/main" val="2830180433"/>
              </p:ext>
            </p:extLst>
          </p:nvPr>
        </p:nvGraphicFramePr>
        <p:xfrm>
          <a:off x="2419005" y="1225964"/>
          <a:ext cx="261937" cy="307975"/>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2419005" y="1225964"/>
                        <a:ext cx="261937" cy="307975"/>
                      </a:xfrm>
                      <a:prstGeom prst="rect">
                        <a:avLst/>
                      </a:prstGeom>
                    </p:spPr>
                  </p:pic>
                </p:oleObj>
              </mc:Fallback>
            </mc:AlternateContent>
          </a:graphicData>
        </a:graphic>
      </p:graphicFrame>
      <p:cxnSp>
        <p:nvCxnSpPr>
          <p:cNvPr id="55" name="直接箭头连接符 54"/>
          <p:cNvCxnSpPr/>
          <p:nvPr/>
        </p:nvCxnSpPr>
        <p:spPr>
          <a:xfrm flipH="1" flipV="1">
            <a:off x="4450212" y="4827168"/>
            <a:ext cx="1521328" cy="464491"/>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文本框 54"/>
          <p:cNvSpPr txBox="1"/>
          <p:nvPr/>
        </p:nvSpPr>
        <p:spPr>
          <a:xfrm>
            <a:off x="6403756" y="4695334"/>
            <a:ext cx="133882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验证集精度</a:t>
            </a:r>
          </a:p>
        </p:txBody>
      </p:sp>
      <p:sp>
        <p:nvSpPr>
          <p:cNvPr id="57" name="文本框 55"/>
          <p:cNvSpPr txBox="1"/>
          <p:nvPr/>
        </p:nvSpPr>
        <p:spPr>
          <a:xfrm>
            <a:off x="6403756" y="5030412"/>
            <a:ext cx="1800493" cy="646331"/>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剪枝前</a:t>
            </a:r>
            <a:r>
              <a:rPr lang="en-US" altLang="zh-CN" dirty="0">
                <a:solidFill>
                  <a:srgbClr val="FF0000"/>
                </a:solidFill>
                <a:latin typeface="Times "/>
                <a:ea typeface="楷体" panose="02010609060101010101" pitchFamily="49" charset="-122"/>
              </a:rPr>
              <a:t>: 57.1 %</a:t>
            </a:r>
          </a:p>
          <a:p>
            <a:r>
              <a:rPr lang="zh-CN" altLang="en-US" dirty="0">
                <a:solidFill>
                  <a:srgbClr val="FF0000"/>
                </a:solidFill>
                <a:latin typeface="Times "/>
                <a:ea typeface="楷体" panose="02010609060101010101" pitchFamily="49" charset="-122"/>
              </a:rPr>
              <a:t>剪枝后</a:t>
            </a:r>
            <a:r>
              <a:rPr lang="en-US" altLang="zh-CN" dirty="0">
                <a:solidFill>
                  <a:srgbClr val="FF0000"/>
                </a:solidFill>
                <a:latin typeface="Times "/>
                <a:ea typeface="楷体" panose="02010609060101010101" pitchFamily="49" charset="-122"/>
              </a:rPr>
              <a:t>: 57.1%</a:t>
            </a:r>
            <a:endParaRPr lang="zh-CN" altLang="en-US" dirty="0">
              <a:solidFill>
                <a:srgbClr val="FF0000"/>
              </a:solidFill>
              <a:latin typeface="Times "/>
              <a:ea typeface="楷体" panose="02010609060101010101" pitchFamily="49" charset="-122"/>
            </a:endParaRPr>
          </a:p>
        </p:txBody>
      </p:sp>
      <p:sp>
        <p:nvSpPr>
          <p:cNvPr id="58" name="文本框 56"/>
          <p:cNvSpPr txBox="1"/>
          <p:nvPr/>
        </p:nvSpPr>
        <p:spPr>
          <a:xfrm>
            <a:off x="5957807" y="5602531"/>
            <a:ext cx="2262158" cy="369332"/>
          </a:xfrm>
          <a:prstGeom prst="rect">
            <a:avLst/>
          </a:prstGeom>
          <a:noFill/>
        </p:spPr>
        <p:txBody>
          <a:bodyPr wrap="none" rtlCol="0">
            <a:spAutoFit/>
          </a:bodyPr>
          <a:lstStyle/>
          <a:p>
            <a:r>
              <a:rPr lang="zh-CN" altLang="en-US" dirty="0">
                <a:solidFill>
                  <a:srgbClr val="FF0000"/>
                </a:solidFill>
                <a:latin typeface="Times "/>
                <a:ea typeface="楷体" panose="02010609060101010101" pitchFamily="49" charset="-122"/>
              </a:rPr>
              <a:t>后剪枝决策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不剪枝</a:t>
            </a:r>
          </a:p>
        </p:txBody>
      </p:sp>
      <p:sp>
        <p:nvSpPr>
          <p:cNvPr id="59" name="椭圆 58"/>
          <p:cNvSpPr/>
          <p:nvPr/>
        </p:nvSpPr>
        <p:spPr>
          <a:xfrm>
            <a:off x="3626139" y="5379390"/>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dirty="0"/>
              <a:t>好瓜</a:t>
            </a:r>
          </a:p>
        </p:txBody>
      </p:sp>
      <p:graphicFrame>
        <p:nvGraphicFramePr>
          <p:cNvPr id="64" name="对象 63"/>
          <p:cNvGraphicFramePr>
            <a:graphicFrameLocks noChangeAspect="1"/>
          </p:cNvGraphicFramePr>
          <p:nvPr>
            <p:extLst>
              <p:ext uri="{D42A27DB-BD31-4B8C-83A1-F6EECF244321}">
                <p14:modId xmlns:p14="http://schemas.microsoft.com/office/powerpoint/2010/main" val="1422763762"/>
              </p:ext>
            </p:extLst>
          </p:nvPr>
        </p:nvGraphicFramePr>
        <p:xfrm>
          <a:off x="876300" y="1623045"/>
          <a:ext cx="1030288" cy="320675"/>
        </p:xfrm>
        <a:graphic>
          <a:graphicData uri="http://schemas.openxmlformats.org/presentationml/2006/ole">
            <mc:AlternateContent xmlns:mc="http://schemas.openxmlformats.org/markup-compatibility/2006">
              <mc:Choice xmlns:v="urn:schemas-microsoft-com:vml" Requires="v">
                <p:oleObj name="Formula" r:id="rId4" imgW="573120" imgH="177840" progId="Equation.Ribbit">
                  <p:embed/>
                </p:oleObj>
              </mc:Choice>
              <mc:Fallback>
                <p:oleObj name="Formula" r:id="rId4" imgW="573120" imgH="177840" progId="Equation.Ribbit">
                  <p:embed/>
                  <p:pic>
                    <p:nvPicPr>
                      <p:cNvPr id="64" name="对象 63"/>
                      <p:cNvPicPr/>
                      <p:nvPr/>
                    </p:nvPicPr>
                    <p:blipFill>
                      <a:blip r:embed="rId5"/>
                      <a:stretch>
                        <a:fillRect/>
                      </a:stretch>
                    </p:blipFill>
                    <p:spPr>
                      <a:xfrm>
                        <a:off x="876300" y="1623045"/>
                        <a:ext cx="1030288" cy="320675"/>
                      </a:xfrm>
                      <a:prstGeom prst="rect">
                        <a:avLst/>
                      </a:prstGeom>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28580876"/>
              </p:ext>
            </p:extLst>
          </p:nvPr>
        </p:nvGraphicFramePr>
        <p:xfrm>
          <a:off x="7267575" y="1634157"/>
          <a:ext cx="701675" cy="319088"/>
        </p:xfrm>
        <a:graphic>
          <a:graphicData uri="http://schemas.openxmlformats.org/presentationml/2006/ole">
            <mc:AlternateContent xmlns:mc="http://schemas.openxmlformats.org/markup-compatibility/2006">
              <mc:Choice xmlns:v="urn:schemas-microsoft-com:vml" Requires="v">
                <p:oleObj name="Formula" r:id="rId6" imgW="384840" imgH="175320" progId="Equation.Ribbit">
                  <p:embed/>
                </p:oleObj>
              </mc:Choice>
              <mc:Fallback>
                <p:oleObj name="Formula" r:id="rId6" imgW="384840" imgH="175320" progId="Equation.Ribbit">
                  <p:embed/>
                  <p:pic>
                    <p:nvPicPr>
                      <p:cNvPr id="65" name="对象 64"/>
                      <p:cNvPicPr/>
                      <p:nvPr/>
                    </p:nvPicPr>
                    <p:blipFill>
                      <a:blip r:embed="rId7"/>
                      <a:stretch>
                        <a:fillRect/>
                      </a:stretch>
                    </p:blipFill>
                    <p:spPr>
                      <a:xfrm>
                        <a:off x="7267575" y="1634157"/>
                        <a:ext cx="701675" cy="319088"/>
                      </a:xfrm>
                      <a:prstGeom prst="rect">
                        <a:avLst/>
                      </a:prstGeom>
                    </p:spPr>
                  </p:pic>
                </p:oleObj>
              </mc:Fallback>
            </mc:AlternateContent>
          </a:graphicData>
        </a:graphic>
      </p:graphicFrame>
    </p:spTree>
    <p:extLst>
      <p:ext uri="{BB962C8B-B14F-4D97-AF65-F5344CB8AC3E}">
        <p14:creationId xmlns:p14="http://schemas.microsoft.com/office/powerpoint/2010/main" val="132759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grpSp>
        <p:nvGrpSpPr>
          <p:cNvPr id="4" name="组合 3"/>
          <p:cNvGrpSpPr/>
          <p:nvPr/>
        </p:nvGrpSpPr>
        <p:grpSpPr>
          <a:xfrm>
            <a:off x="1148268" y="2763090"/>
            <a:ext cx="6220051" cy="3085312"/>
            <a:chOff x="1926459" y="2007290"/>
            <a:chExt cx="8479450"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sp>
        <p:nvSpPr>
          <p:cNvPr id="59" name="椭圆 58"/>
          <p:cNvSpPr/>
          <p:nvPr/>
        </p:nvSpPr>
        <p:spPr>
          <a:xfrm>
            <a:off x="3922823" y="5496820"/>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dirty="0"/>
              <a:t>好瓜</a:t>
            </a:r>
          </a:p>
        </p:txBody>
      </p:sp>
      <p:sp>
        <p:nvSpPr>
          <p:cNvPr id="7" name="内容占位符 2">
            <a:extLst>
              <a:ext uri="{FF2B5EF4-FFF2-40B4-BE49-F238E27FC236}">
                <a16:creationId xmlns:a16="http://schemas.microsoft.com/office/drawing/2014/main" id="{A06433F3-60E8-73F5-7EF8-84C8B62044AA}"/>
              </a:ext>
            </a:extLst>
          </p:cNvPr>
          <p:cNvSpPr>
            <a:spLocks noGrp="1"/>
          </p:cNvSpPr>
          <p:nvPr>
            <p:ph idx="1"/>
          </p:nvPr>
        </p:nvSpPr>
        <p:spPr>
          <a:xfrm>
            <a:off x="260350" y="1076879"/>
            <a:ext cx="8616950" cy="5012432"/>
          </a:xfrm>
        </p:spPr>
        <p:txBody>
          <a:bodyPr/>
          <a:lstStyle/>
          <a:p>
            <a:pPr>
              <a:lnSpc>
                <a:spcPct val="120000"/>
              </a:lnSpc>
            </a:pPr>
            <a:r>
              <a:rPr lang="zh-CN" altLang="en-US" dirty="0"/>
              <a:t>然后考虑结点   ，若将其替换为叶结点，根据落在其上的训练样本</a:t>
            </a:r>
            <a:r>
              <a:rPr lang="en-US" altLang="zh-CN" dirty="0"/>
              <a:t>           </a:t>
            </a:r>
            <a:r>
              <a:rPr lang="zh-CN" altLang="en-US" dirty="0"/>
              <a:t>将其标记为“好瓜”，得到验证集精度仍为</a:t>
            </a:r>
            <a:r>
              <a:rPr lang="en-US" altLang="zh-CN" dirty="0"/>
              <a:t>        </a:t>
            </a:r>
            <a:r>
              <a:rPr lang="zh-CN" altLang="en-US" dirty="0"/>
              <a:t>，可以不进行剪枝</a:t>
            </a:r>
          </a:p>
        </p:txBody>
      </p:sp>
      <p:graphicFrame>
        <p:nvGraphicFramePr>
          <p:cNvPr id="8" name="对象 7">
            <a:extLst>
              <a:ext uri="{FF2B5EF4-FFF2-40B4-BE49-F238E27FC236}">
                <a16:creationId xmlns:a16="http://schemas.microsoft.com/office/drawing/2014/main" id="{0381DE59-028C-29DA-16BC-09B532821874}"/>
              </a:ext>
            </a:extLst>
          </p:cNvPr>
          <p:cNvGraphicFramePr>
            <a:graphicFrameLocks noChangeAspect="1"/>
          </p:cNvGraphicFramePr>
          <p:nvPr>
            <p:extLst>
              <p:ext uri="{D42A27DB-BD31-4B8C-83A1-F6EECF244321}">
                <p14:modId xmlns:p14="http://schemas.microsoft.com/office/powerpoint/2010/main" val="1528442081"/>
              </p:ext>
            </p:extLst>
          </p:nvPr>
        </p:nvGraphicFramePr>
        <p:xfrm>
          <a:off x="2419005" y="1166330"/>
          <a:ext cx="261937" cy="307975"/>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2419005" y="1166330"/>
                        <a:ext cx="261937" cy="3079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D1F75A4-C4C4-9C60-87F4-C2855ADD299B}"/>
              </a:ext>
            </a:extLst>
          </p:cNvPr>
          <p:cNvGraphicFramePr>
            <a:graphicFrameLocks noChangeAspect="1"/>
          </p:cNvGraphicFramePr>
          <p:nvPr>
            <p:extLst>
              <p:ext uri="{D42A27DB-BD31-4B8C-83A1-F6EECF244321}">
                <p14:modId xmlns:p14="http://schemas.microsoft.com/office/powerpoint/2010/main" val="3785985053"/>
              </p:ext>
            </p:extLst>
          </p:nvPr>
        </p:nvGraphicFramePr>
        <p:xfrm>
          <a:off x="876300" y="1583289"/>
          <a:ext cx="1030288" cy="320675"/>
        </p:xfrm>
        <a:graphic>
          <a:graphicData uri="http://schemas.openxmlformats.org/presentationml/2006/ole">
            <mc:AlternateContent xmlns:mc="http://schemas.openxmlformats.org/markup-compatibility/2006">
              <mc:Choice xmlns:v="urn:schemas-microsoft-com:vml" Requires="v">
                <p:oleObj name="Formula" r:id="rId4" imgW="573120" imgH="177840" progId="Equation.Ribbit">
                  <p:embed/>
                </p:oleObj>
              </mc:Choice>
              <mc:Fallback>
                <p:oleObj name="Formula" r:id="rId4" imgW="573120" imgH="177840" progId="Equation.Ribbit">
                  <p:embed/>
                  <p:pic>
                    <p:nvPicPr>
                      <p:cNvPr id="64" name="对象 63"/>
                      <p:cNvPicPr/>
                      <p:nvPr/>
                    </p:nvPicPr>
                    <p:blipFill>
                      <a:blip r:embed="rId5"/>
                      <a:stretch>
                        <a:fillRect/>
                      </a:stretch>
                    </p:blipFill>
                    <p:spPr>
                      <a:xfrm>
                        <a:off x="876300" y="1583289"/>
                        <a:ext cx="1030288" cy="3206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224994B-EAC5-3F60-14ED-9BDB9D713B5B}"/>
              </a:ext>
            </a:extLst>
          </p:cNvPr>
          <p:cNvGraphicFramePr>
            <a:graphicFrameLocks noChangeAspect="1"/>
          </p:cNvGraphicFramePr>
          <p:nvPr>
            <p:extLst>
              <p:ext uri="{D42A27DB-BD31-4B8C-83A1-F6EECF244321}">
                <p14:modId xmlns:p14="http://schemas.microsoft.com/office/powerpoint/2010/main" val="3178231570"/>
              </p:ext>
            </p:extLst>
          </p:nvPr>
        </p:nvGraphicFramePr>
        <p:xfrm>
          <a:off x="7267575" y="1594401"/>
          <a:ext cx="701675" cy="319088"/>
        </p:xfrm>
        <a:graphic>
          <a:graphicData uri="http://schemas.openxmlformats.org/presentationml/2006/ole">
            <mc:AlternateContent xmlns:mc="http://schemas.openxmlformats.org/markup-compatibility/2006">
              <mc:Choice xmlns:v="urn:schemas-microsoft-com:vml" Requires="v">
                <p:oleObj name="Formula" r:id="rId6" imgW="384840" imgH="175320" progId="Equation.Ribbit">
                  <p:embed/>
                </p:oleObj>
              </mc:Choice>
              <mc:Fallback>
                <p:oleObj name="Formula" r:id="rId6" imgW="384840" imgH="175320" progId="Equation.Ribbit">
                  <p:embed/>
                  <p:pic>
                    <p:nvPicPr>
                      <p:cNvPr id="65" name="对象 64"/>
                      <p:cNvPicPr/>
                      <p:nvPr/>
                    </p:nvPicPr>
                    <p:blipFill>
                      <a:blip r:embed="rId7"/>
                      <a:stretch>
                        <a:fillRect/>
                      </a:stretch>
                    </p:blipFill>
                    <p:spPr>
                      <a:xfrm>
                        <a:off x="7267575" y="1594401"/>
                        <a:ext cx="701675" cy="319088"/>
                      </a:xfrm>
                      <a:prstGeom prst="rect">
                        <a:avLst/>
                      </a:prstGeom>
                    </p:spPr>
                  </p:pic>
                </p:oleObj>
              </mc:Fallback>
            </mc:AlternateContent>
          </a:graphicData>
        </a:graphic>
      </p:graphicFrame>
    </p:spTree>
    <p:extLst>
      <p:ext uri="{BB962C8B-B14F-4D97-AF65-F5344CB8AC3E}">
        <p14:creationId xmlns:p14="http://schemas.microsoft.com/office/powerpoint/2010/main" val="3589379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a:xfrm>
            <a:off x="260350" y="979491"/>
            <a:ext cx="8446328" cy="5000491"/>
          </a:xfrm>
        </p:spPr>
        <p:txBody>
          <a:bodyPr/>
          <a:lstStyle/>
          <a:p>
            <a:pPr>
              <a:lnSpc>
                <a:spcPct val="120000"/>
              </a:lnSpc>
            </a:pPr>
            <a:r>
              <a:rPr lang="zh-CN" altLang="en-US" dirty="0"/>
              <a:t>对结点   ，若将其替换为叶结点，根据落在其上的训练样本</a:t>
            </a:r>
            <a:r>
              <a:rPr lang="en-US" altLang="zh-CN" dirty="0"/>
              <a:t>              </a:t>
            </a:r>
            <a:r>
              <a:rPr lang="zh-CN" altLang="en-US" dirty="0"/>
              <a:t>，将其标记为“好瓜”，得到验证集精度提升至</a:t>
            </a:r>
            <a:r>
              <a:rPr lang="en-US" altLang="zh-CN" dirty="0"/>
              <a:t>        </a:t>
            </a:r>
            <a:r>
              <a:rPr lang="zh-CN" altLang="en-US" dirty="0"/>
              <a:t>，则决定剪枝</a:t>
            </a:r>
          </a:p>
        </p:txBody>
      </p:sp>
      <p:grpSp>
        <p:nvGrpSpPr>
          <p:cNvPr id="4" name="组合 3"/>
          <p:cNvGrpSpPr/>
          <p:nvPr/>
        </p:nvGrpSpPr>
        <p:grpSpPr>
          <a:xfrm>
            <a:off x="1227780" y="2305890"/>
            <a:ext cx="6220051" cy="3085312"/>
            <a:chOff x="1926459" y="2007290"/>
            <a:chExt cx="8479449"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1"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39" name="文本框 49"/>
            <p:cNvSpPr txBox="1"/>
            <p:nvPr/>
          </p:nvSpPr>
          <p:spPr>
            <a:xfrm>
              <a:off x="2239865" y="372981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色泽</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1" name="椭圆 40"/>
            <p:cNvSpPr/>
            <p:nvPr/>
          </p:nvSpPr>
          <p:spPr>
            <a:xfrm>
              <a:off x="9325908" y="3175860"/>
              <a:ext cx="1080000" cy="43200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graphicFrame>
        <p:nvGraphicFramePr>
          <p:cNvPr id="62" name="对象 61"/>
          <p:cNvGraphicFramePr>
            <a:graphicFrameLocks noChangeAspect="1"/>
          </p:cNvGraphicFramePr>
          <p:nvPr>
            <p:extLst>
              <p:ext uri="{D42A27DB-BD31-4B8C-83A1-F6EECF244321}">
                <p14:modId xmlns:p14="http://schemas.microsoft.com/office/powerpoint/2010/main" val="3172872676"/>
              </p:ext>
            </p:extLst>
          </p:nvPr>
        </p:nvGraphicFramePr>
        <p:xfrm>
          <a:off x="1590330" y="1078881"/>
          <a:ext cx="261937" cy="306387"/>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1590330" y="1078881"/>
                        <a:ext cx="261937" cy="306387"/>
                      </a:xfrm>
                      <a:prstGeom prst="rect">
                        <a:avLst/>
                      </a:prstGeom>
                    </p:spPr>
                  </p:pic>
                </p:oleObj>
              </mc:Fallback>
            </mc:AlternateContent>
          </a:graphicData>
        </a:graphic>
      </p:graphicFrame>
      <p:sp>
        <p:nvSpPr>
          <p:cNvPr id="55" name="文本框 37"/>
          <p:cNvSpPr txBox="1"/>
          <p:nvPr/>
        </p:nvSpPr>
        <p:spPr>
          <a:xfrm>
            <a:off x="935791" y="4911179"/>
            <a:ext cx="1338828" cy="369332"/>
          </a:xfrm>
          <a:prstGeom prst="rect">
            <a:avLst/>
          </a:prstGeom>
          <a:noFill/>
        </p:spPr>
        <p:txBody>
          <a:bodyPr wrap="square" rtlCol="0">
            <a:spAutoFit/>
          </a:bodyPr>
          <a:lstStyle/>
          <a:p>
            <a:r>
              <a:rPr lang="zh-CN" altLang="en-US" dirty="0">
                <a:solidFill>
                  <a:srgbClr val="FF0000"/>
                </a:solidFill>
                <a:latin typeface="Times "/>
                <a:ea typeface="楷体" panose="02010609060101010101" pitchFamily="49" charset="-122"/>
              </a:rPr>
              <a:t>验证集精度</a:t>
            </a:r>
          </a:p>
        </p:txBody>
      </p:sp>
      <p:sp>
        <p:nvSpPr>
          <p:cNvPr id="56" name="文本框 38"/>
          <p:cNvSpPr txBox="1"/>
          <p:nvPr/>
        </p:nvSpPr>
        <p:spPr>
          <a:xfrm>
            <a:off x="1422647" y="5209959"/>
            <a:ext cx="1685077" cy="646331"/>
          </a:xfrm>
          <a:prstGeom prst="rect">
            <a:avLst/>
          </a:prstGeom>
          <a:noFill/>
        </p:spPr>
        <p:txBody>
          <a:bodyPr wrap="square" rtlCol="0">
            <a:spAutoFit/>
          </a:bodyPr>
          <a:lstStyle/>
          <a:p>
            <a:r>
              <a:rPr lang="zh-CN" altLang="en-US" dirty="0">
                <a:solidFill>
                  <a:srgbClr val="FF0000"/>
                </a:solidFill>
                <a:latin typeface="Times "/>
                <a:ea typeface="楷体" panose="02010609060101010101" pitchFamily="49" charset="-122"/>
              </a:rPr>
              <a:t>剪枝前</a:t>
            </a:r>
            <a:r>
              <a:rPr lang="en-US" altLang="zh-CN" dirty="0">
                <a:solidFill>
                  <a:srgbClr val="FF0000"/>
                </a:solidFill>
                <a:latin typeface="Times "/>
                <a:ea typeface="楷体" panose="02010609060101010101" pitchFamily="49" charset="-122"/>
              </a:rPr>
              <a:t>: 57.1%</a:t>
            </a:r>
          </a:p>
          <a:p>
            <a:r>
              <a:rPr lang="zh-CN" altLang="en-US" dirty="0">
                <a:solidFill>
                  <a:srgbClr val="FF0000"/>
                </a:solidFill>
                <a:latin typeface="Times "/>
                <a:ea typeface="楷体" panose="02010609060101010101" pitchFamily="49" charset="-122"/>
              </a:rPr>
              <a:t>剪枝后</a:t>
            </a:r>
            <a:r>
              <a:rPr lang="en-US" altLang="zh-CN" dirty="0">
                <a:solidFill>
                  <a:srgbClr val="FF0000"/>
                </a:solidFill>
                <a:latin typeface="Times "/>
                <a:ea typeface="楷体" panose="02010609060101010101" pitchFamily="49" charset="-122"/>
              </a:rPr>
              <a:t>: 71.4%</a:t>
            </a:r>
            <a:endParaRPr lang="zh-CN" altLang="en-US" dirty="0">
              <a:solidFill>
                <a:srgbClr val="FF0000"/>
              </a:solidFill>
              <a:latin typeface="Times "/>
              <a:ea typeface="楷体" panose="02010609060101010101" pitchFamily="49" charset="-122"/>
            </a:endParaRPr>
          </a:p>
        </p:txBody>
      </p:sp>
      <p:sp>
        <p:nvSpPr>
          <p:cNvPr id="57" name="文本框 39"/>
          <p:cNvSpPr txBox="1"/>
          <p:nvPr/>
        </p:nvSpPr>
        <p:spPr>
          <a:xfrm>
            <a:off x="976698" y="5782078"/>
            <a:ext cx="2031325" cy="369332"/>
          </a:xfrm>
          <a:prstGeom prst="rect">
            <a:avLst/>
          </a:prstGeom>
          <a:noFill/>
        </p:spPr>
        <p:txBody>
          <a:bodyPr wrap="square" rtlCol="0">
            <a:spAutoFit/>
          </a:bodyPr>
          <a:lstStyle/>
          <a:p>
            <a:r>
              <a:rPr lang="zh-CN" altLang="en-US" dirty="0">
                <a:solidFill>
                  <a:srgbClr val="FF0000"/>
                </a:solidFill>
                <a:latin typeface="Times "/>
                <a:ea typeface="楷体" panose="02010609060101010101" pitchFamily="49" charset="-122"/>
              </a:rPr>
              <a:t>后剪枝决策</a:t>
            </a:r>
            <a:r>
              <a:rPr lang="en-US" altLang="zh-CN" dirty="0">
                <a:solidFill>
                  <a:srgbClr val="FF0000"/>
                </a:solidFill>
                <a:latin typeface="Times "/>
                <a:ea typeface="楷体" panose="02010609060101010101" pitchFamily="49" charset="-122"/>
              </a:rPr>
              <a:t>: </a:t>
            </a:r>
            <a:r>
              <a:rPr lang="zh-CN" altLang="en-US" dirty="0">
                <a:solidFill>
                  <a:srgbClr val="FF0000"/>
                </a:solidFill>
                <a:latin typeface="Times "/>
                <a:ea typeface="楷体" panose="02010609060101010101" pitchFamily="49" charset="-122"/>
              </a:rPr>
              <a:t>剪枝</a:t>
            </a:r>
          </a:p>
        </p:txBody>
      </p:sp>
      <p:cxnSp>
        <p:nvCxnSpPr>
          <p:cNvPr id="58" name="直接箭头连接符 57"/>
          <p:cNvCxnSpPr/>
          <p:nvPr/>
        </p:nvCxnSpPr>
        <p:spPr>
          <a:xfrm flipV="1">
            <a:off x="1891649" y="3822602"/>
            <a:ext cx="415679" cy="1132625"/>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3977555" y="5038193"/>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dirty="0"/>
              <a:t>好瓜</a:t>
            </a:r>
          </a:p>
        </p:txBody>
      </p:sp>
      <p:graphicFrame>
        <p:nvGraphicFramePr>
          <p:cNvPr id="54" name="对象 53"/>
          <p:cNvGraphicFramePr>
            <a:graphicFrameLocks noChangeAspect="1"/>
          </p:cNvGraphicFramePr>
          <p:nvPr>
            <p:extLst>
              <p:ext uri="{D42A27DB-BD31-4B8C-83A1-F6EECF244321}">
                <p14:modId xmlns:p14="http://schemas.microsoft.com/office/powerpoint/2010/main" val="3018622896"/>
              </p:ext>
            </p:extLst>
          </p:nvPr>
        </p:nvGraphicFramePr>
        <p:xfrm>
          <a:off x="885825" y="1493424"/>
          <a:ext cx="1285875" cy="320675"/>
        </p:xfrm>
        <a:graphic>
          <a:graphicData uri="http://schemas.openxmlformats.org/presentationml/2006/ole">
            <mc:AlternateContent xmlns:mc="http://schemas.openxmlformats.org/markup-compatibility/2006">
              <mc:Choice xmlns:v="urn:schemas-microsoft-com:vml" Requires="v">
                <p:oleObj name="Formula" r:id="rId4" imgW="713880" imgH="177840" progId="Equation.Ribbit">
                  <p:embed/>
                </p:oleObj>
              </mc:Choice>
              <mc:Fallback>
                <p:oleObj name="Formula" r:id="rId4" imgW="713880" imgH="177840" progId="Equation.Ribbit">
                  <p:embed/>
                  <p:pic>
                    <p:nvPicPr>
                      <p:cNvPr id="54" name="对象 53"/>
                      <p:cNvPicPr/>
                      <p:nvPr/>
                    </p:nvPicPr>
                    <p:blipFill>
                      <a:blip r:embed="rId5"/>
                      <a:stretch>
                        <a:fillRect/>
                      </a:stretch>
                    </p:blipFill>
                    <p:spPr>
                      <a:xfrm>
                        <a:off x="885825" y="1493424"/>
                        <a:ext cx="1285875" cy="320675"/>
                      </a:xfrm>
                      <a:prstGeom prst="rect">
                        <a:avLst/>
                      </a:prstGeom>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2009355591"/>
              </p:ext>
            </p:extLst>
          </p:nvPr>
        </p:nvGraphicFramePr>
        <p:xfrm>
          <a:off x="912813" y="1898787"/>
          <a:ext cx="698500" cy="319088"/>
        </p:xfrm>
        <a:graphic>
          <a:graphicData uri="http://schemas.openxmlformats.org/presentationml/2006/ole">
            <mc:AlternateContent xmlns:mc="http://schemas.openxmlformats.org/markup-compatibility/2006">
              <mc:Choice xmlns:v="urn:schemas-microsoft-com:vml" Requires="v">
                <p:oleObj name="Formula" r:id="rId6" imgW="384840" imgH="175320" progId="Equation.Ribbit">
                  <p:embed/>
                </p:oleObj>
              </mc:Choice>
              <mc:Fallback>
                <p:oleObj name="Formula" r:id="rId6" imgW="384840" imgH="175320" progId="Equation.Ribbit">
                  <p:embed/>
                  <p:pic>
                    <p:nvPicPr>
                      <p:cNvPr id="59" name="对象 58"/>
                      <p:cNvPicPr/>
                      <p:nvPr/>
                    </p:nvPicPr>
                    <p:blipFill>
                      <a:blip r:embed="rId7"/>
                      <a:stretch>
                        <a:fillRect/>
                      </a:stretch>
                    </p:blipFill>
                    <p:spPr>
                      <a:xfrm>
                        <a:off x="912813" y="1898787"/>
                        <a:ext cx="698500" cy="319088"/>
                      </a:xfrm>
                      <a:prstGeom prst="rect">
                        <a:avLst/>
                      </a:prstGeom>
                    </p:spPr>
                  </p:pic>
                </p:oleObj>
              </mc:Fallback>
            </mc:AlternateContent>
          </a:graphicData>
        </a:graphic>
      </p:graphicFrame>
    </p:spTree>
    <p:extLst>
      <p:ext uri="{BB962C8B-B14F-4D97-AF65-F5344CB8AC3E}">
        <p14:creationId xmlns:p14="http://schemas.microsoft.com/office/powerpoint/2010/main" val="1698067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a:xfrm>
            <a:off x="260350" y="1043610"/>
            <a:ext cx="8336998" cy="5045702"/>
          </a:xfrm>
        </p:spPr>
        <p:txBody>
          <a:bodyPr/>
          <a:lstStyle/>
          <a:p>
            <a:pPr>
              <a:lnSpc>
                <a:spcPct val="120000"/>
              </a:lnSpc>
            </a:pPr>
            <a:r>
              <a:rPr lang="zh-CN" altLang="en-US" dirty="0"/>
              <a:t>对结点   和   ，先后替换为叶结点，验证集精度均未提升，则分支得到保留</a:t>
            </a:r>
          </a:p>
        </p:txBody>
      </p:sp>
      <p:grpSp>
        <p:nvGrpSpPr>
          <p:cNvPr id="4" name="组合 3"/>
          <p:cNvGrpSpPr/>
          <p:nvPr/>
        </p:nvGrpSpPr>
        <p:grpSpPr>
          <a:xfrm>
            <a:off x="1654984" y="2146866"/>
            <a:ext cx="4918202" cy="3085312"/>
            <a:chOff x="3701197" y="2007290"/>
            <a:chExt cx="6704712"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根蒂</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脐部</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graphicFrame>
        <p:nvGraphicFramePr>
          <p:cNvPr id="62" name="对象 61"/>
          <p:cNvGraphicFramePr>
            <a:graphicFrameLocks noChangeAspect="1"/>
          </p:cNvGraphicFramePr>
          <p:nvPr>
            <p:extLst>
              <p:ext uri="{D42A27DB-BD31-4B8C-83A1-F6EECF244321}">
                <p14:modId xmlns:p14="http://schemas.microsoft.com/office/powerpoint/2010/main" val="1370938345"/>
              </p:ext>
            </p:extLst>
          </p:nvPr>
        </p:nvGraphicFramePr>
        <p:xfrm>
          <a:off x="1560513" y="1158393"/>
          <a:ext cx="261937" cy="306387"/>
        </p:xfrm>
        <a:graphic>
          <a:graphicData uri="http://schemas.openxmlformats.org/presentationml/2006/ole">
            <mc:AlternateContent xmlns:mc="http://schemas.openxmlformats.org/markup-compatibility/2006">
              <mc:Choice xmlns:v="urn:schemas-microsoft-com:vml" Requires="v">
                <p:oleObj name="Formula" r:id="rId2" imgW="147600" imgH="172800" progId="Equation.Ribbit">
                  <p:embed/>
                </p:oleObj>
              </mc:Choice>
              <mc:Fallback>
                <p:oleObj name="Formula" r:id="rId2" imgW="147600" imgH="172800" progId="Equation.Ribbit">
                  <p:embed/>
                  <p:pic>
                    <p:nvPicPr>
                      <p:cNvPr id="62" name="对象 61"/>
                      <p:cNvPicPr/>
                      <p:nvPr/>
                    </p:nvPicPr>
                    <p:blipFill>
                      <a:blip r:embed="rId3"/>
                      <a:stretch>
                        <a:fillRect/>
                      </a:stretch>
                    </p:blipFill>
                    <p:spPr>
                      <a:xfrm>
                        <a:off x="1560513" y="1158393"/>
                        <a:ext cx="261937" cy="306387"/>
                      </a:xfrm>
                      <a:prstGeom prst="rect">
                        <a:avLst/>
                      </a:prstGeom>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3880186858"/>
              </p:ext>
            </p:extLst>
          </p:nvPr>
        </p:nvGraphicFramePr>
        <p:xfrm>
          <a:off x="2138363" y="1158393"/>
          <a:ext cx="261937" cy="306387"/>
        </p:xfrm>
        <a:graphic>
          <a:graphicData uri="http://schemas.openxmlformats.org/presentationml/2006/ole">
            <mc:AlternateContent xmlns:mc="http://schemas.openxmlformats.org/markup-compatibility/2006">
              <mc:Choice xmlns:v="urn:schemas-microsoft-com:vml" Requires="v">
                <p:oleObj name="Formula" r:id="rId4" imgW="147600" imgH="172800" progId="Equation.Ribbit">
                  <p:embed/>
                </p:oleObj>
              </mc:Choice>
              <mc:Fallback>
                <p:oleObj name="Formula" r:id="rId4" imgW="147600" imgH="172800" progId="Equation.Ribbit">
                  <p:embed/>
                  <p:pic>
                    <p:nvPicPr>
                      <p:cNvPr id="59" name="对象 58"/>
                      <p:cNvPicPr/>
                      <p:nvPr/>
                    </p:nvPicPr>
                    <p:blipFill>
                      <a:blip r:embed="rId5"/>
                      <a:stretch>
                        <a:fillRect/>
                      </a:stretch>
                    </p:blipFill>
                    <p:spPr>
                      <a:xfrm>
                        <a:off x="2138363" y="1158393"/>
                        <a:ext cx="261937" cy="306387"/>
                      </a:xfrm>
                      <a:prstGeom prst="rect">
                        <a:avLst/>
                      </a:prstGeom>
                    </p:spPr>
                  </p:pic>
                </p:oleObj>
              </mc:Fallback>
            </mc:AlternateContent>
          </a:graphicData>
        </a:graphic>
      </p:graphicFrame>
      <p:sp>
        <p:nvSpPr>
          <p:cNvPr id="61" name="椭圆 60"/>
          <p:cNvSpPr/>
          <p:nvPr/>
        </p:nvSpPr>
        <p:spPr>
          <a:xfrm>
            <a:off x="1288173" y="3121405"/>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63" name="椭圆 62"/>
          <p:cNvSpPr/>
          <p:nvPr/>
        </p:nvSpPr>
        <p:spPr>
          <a:xfrm>
            <a:off x="3123719" y="4879709"/>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40" name="椭圆 39"/>
          <p:cNvSpPr/>
          <p:nvPr/>
        </p:nvSpPr>
        <p:spPr>
          <a:xfrm>
            <a:off x="1258320" y="3081574"/>
            <a:ext cx="211261" cy="240652"/>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2</a:t>
            </a:r>
            <a:endParaRPr lang="zh-CN" altLang="en-US" dirty="0">
              <a:solidFill>
                <a:schemeClr val="tx1"/>
              </a:solidFill>
              <a:latin typeface="Times "/>
            </a:endParaRPr>
          </a:p>
        </p:txBody>
      </p:sp>
    </p:spTree>
    <p:extLst>
      <p:ext uri="{BB962C8B-B14F-4D97-AF65-F5344CB8AC3E}">
        <p14:creationId xmlns:p14="http://schemas.microsoft.com/office/powerpoint/2010/main" val="3449821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内容占位符 2"/>
          <p:cNvSpPr>
            <a:spLocks noGrp="1"/>
          </p:cNvSpPr>
          <p:nvPr>
            <p:ph idx="1"/>
          </p:nvPr>
        </p:nvSpPr>
        <p:spPr/>
        <p:txBody>
          <a:bodyPr/>
          <a:lstStyle/>
          <a:p>
            <a:r>
              <a:rPr lang="zh-CN" altLang="en-US" dirty="0"/>
              <a:t>最终基于后剪枝策略得到的决策树如图所示</a:t>
            </a:r>
          </a:p>
        </p:txBody>
      </p:sp>
      <p:grpSp>
        <p:nvGrpSpPr>
          <p:cNvPr id="4" name="组合 3"/>
          <p:cNvGrpSpPr/>
          <p:nvPr/>
        </p:nvGrpSpPr>
        <p:grpSpPr>
          <a:xfrm>
            <a:off x="1654984" y="2146866"/>
            <a:ext cx="4918202" cy="3085312"/>
            <a:chOff x="3701197" y="2007290"/>
            <a:chExt cx="6704712"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乌黑</a:t>
              </a: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浅白</a:t>
              </a:r>
            </a:p>
          </p:txBody>
        </p:sp>
        <p:sp>
          <p:nvSpPr>
            <p:cNvPr id="20" name="文本框 30"/>
            <p:cNvSpPr txBox="1"/>
            <p:nvPr/>
          </p:nvSpPr>
          <p:spPr>
            <a:xfrm>
              <a:off x="4737145" y="477924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青绿</a:t>
              </a: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好瓜</a:t>
              </a:r>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蜷缩</a:t>
              </a: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硬挺</a:t>
              </a:r>
            </a:p>
          </p:txBody>
        </p:sp>
        <p:sp>
          <p:nvSpPr>
            <p:cNvPr id="29" name="文本框 39"/>
            <p:cNvSpPr txBox="1"/>
            <p:nvPr/>
          </p:nvSpPr>
          <p:spPr>
            <a:xfrm>
              <a:off x="5976873" y="372746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稍蜷</a:t>
              </a: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根蒂</a:t>
              </a:r>
              <a:endParaRPr lang="zh-CN" altLang="en-US" sz="4800" b="1" dirty="0">
                <a:solidFill>
                  <a:schemeClr val="tx2"/>
                </a:solidFill>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坏瓜</a:t>
              </a:r>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latin typeface="Times" panose="02020603060405020304" pitchFamily="18" charset="0"/>
                </a:rPr>
                <a:t>脐部</a:t>
              </a:r>
              <a:endParaRPr lang="zh-CN" altLang="en-US" sz="4800" b="1" dirty="0">
                <a:solidFill>
                  <a:schemeClr val="tx2"/>
                </a:solidFill>
                <a:latin typeface="Times" panose="02020603060405020304" pitchFamily="18" charset="0"/>
              </a:endParaRPr>
            </a:p>
          </p:txBody>
        </p:sp>
        <p:sp>
          <p:nvSpPr>
            <p:cNvPr id="46" name="文本框 63"/>
            <p:cNvSpPr txBox="1"/>
            <p:nvPr/>
          </p:nvSpPr>
          <p:spPr>
            <a:xfrm>
              <a:off x="874589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平坦</a:t>
              </a:r>
            </a:p>
          </p:txBody>
        </p:sp>
        <p:sp>
          <p:nvSpPr>
            <p:cNvPr id="47" name="文本框 64"/>
            <p:cNvSpPr txBox="1"/>
            <p:nvPr/>
          </p:nvSpPr>
          <p:spPr>
            <a:xfrm>
              <a:off x="6110414"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稍凹</a:t>
              </a:r>
            </a:p>
          </p:txBody>
        </p:sp>
        <p:sp>
          <p:nvSpPr>
            <p:cNvPr id="48" name="文本框 65"/>
            <p:cNvSpPr txBox="1"/>
            <p:nvPr/>
          </p:nvSpPr>
          <p:spPr>
            <a:xfrm>
              <a:off x="3868758" y="2652494"/>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凹陷</a:t>
              </a: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1</a:t>
              </a:r>
              <a:endParaRPr lang="zh-CN" altLang="en-US"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3</a:t>
              </a:r>
              <a:endParaRPr lang="zh-CN" altLang="en-US"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4</a:t>
              </a:r>
              <a:endParaRPr lang="zh-CN" altLang="en-US"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dirty="0">
                  <a:solidFill>
                    <a:schemeClr val="tx1"/>
                  </a:solidFill>
                  <a:latin typeface="Times "/>
                </a:rPr>
                <a:t>5</a:t>
              </a:r>
              <a:endParaRPr lang="zh-CN" altLang="en-US" dirty="0">
                <a:solidFill>
                  <a:schemeClr val="tx1"/>
                </a:solidFill>
                <a:latin typeface="Times "/>
              </a:endParaRPr>
            </a:p>
          </p:txBody>
        </p:sp>
      </p:grpSp>
      <p:sp>
        <p:nvSpPr>
          <p:cNvPr id="66" name="椭圆 65"/>
          <p:cNvSpPr/>
          <p:nvPr/>
        </p:nvSpPr>
        <p:spPr>
          <a:xfrm>
            <a:off x="3126583" y="4875684"/>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dirty="0"/>
              <a:t>好瓜</a:t>
            </a:r>
          </a:p>
        </p:txBody>
      </p:sp>
      <p:sp>
        <p:nvSpPr>
          <p:cNvPr id="67" name="椭圆 66"/>
          <p:cNvSpPr/>
          <p:nvPr/>
        </p:nvSpPr>
        <p:spPr>
          <a:xfrm>
            <a:off x="1275290" y="3132371"/>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dirty="0"/>
              <a:t>好瓜</a:t>
            </a:r>
          </a:p>
        </p:txBody>
      </p:sp>
      <p:sp>
        <p:nvSpPr>
          <p:cNvPr id="37" name="椭圆 36"/>
          <p:cNvSpPr/>
          <p:nvPr/>
        </p:nvSpPr>
        <p:spPr>
          <a:xfrm>
            <a:off x="1186478" y="3085987"/>
            <a:ext cx="211261" cy="240652"/>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tx1"/>
                </a:solidFill>
                <a:latin typeface="Times "/>
              </a:rPr>
              <a:t>2</a:t>
            </a:r>
            <a:endParaRPr lang="zh-CN" altLang="en-US" dirty="0">
              <a:solidFill>
                <a:schemeClr val="tx1"/>
              </a:solidFill>
              <a:latin typeface="Times "/>
            </a:endParaRPr>
          </a:p>
        </p:txBody>
      </p:sp>
    </p:spTree>
    <p:extLst>
      <p:ext uri="{BB962C8B-B14F-4D97-AF65-F5344CB8AC3E}">
        <p14:creationId xmlns:p14="http://schemas.microsoft.com/office/powerpoint/2010/main" val="1055580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剪枝处理</a:t>
            </a:r>
            <a:r>
              <a:rPr lang="en-US" altLang="zh-CN" dirty="0"/>
              <a:t>-</a:t>
            </a:r>
            <a:r>
              <a:rPr lang="zh-CN" altLang="en-US" dirty="0"/>
              <a:t>后剪枝</a:t>
            </a:r>
          </a:p>
        </p:txBody>
      </p:sp>
      <p:sp>
        <p:nvSpPr>
          <p:cNvPr id="3" name="文本占位符 2"/>
          <p:cNvSpPr>
            <a:spLocks noGrp="1"/>
          </p:cNvSpPr>
          <p:nvPr>
            <p:ph type="body" sz="quarter" idx="13"/>
          </p:nvPr>
        </p:nvSpPr>
        <p:spPr>
          <a:xfrm>
            <a:off x="260350" y="1129135"/>
            <a:ext cx="8629650" cy="457200"/>
          </a:xfrm>
        </p:spPr>
        <p:txBody>
          <a:bodyPr>
            <a:normAutofit lnSpcReduction="10000"/>
          </a:bodyPr>
          <a:lstStyle/>
          <a:p>
            <a:r>
              <a:rPr lang="zh-CN" altLang="en-US" dirty="0"/>
              <a:t>后剪枝的优缺点</a:t>
            </a:r>
          </a:p>
        </p:txBody>
      </p:sp>
      <p:sp>
        <p:nvSpPr>
          <p:cNvPr id="4" name="内容占位符 3"/>
          <p:cNvSpPr>
            <a:spLocks noGrp="1"/>
          </p:cNvSpPr>
          <p:nvPr>
            <p:ph sz="quarter" idx="14"/>
          </p:nvPr>
        </p:nvSpPr>
        <p:spPr>
          <a:xfrm>
            <a:off x="260350" y="1760269"/>
            <a:ext cx="8207789" cy="4343400"/>
          </a:xfrm>
        </p:spPr>
        <p:txBody>
          <a:bodyPr/>
          <a:lstStyle/>
          <a:p>
            <a:r>
              <a:rPr lang="zh-CN" altLang="en-US" dirty="0"/>
              <a:t>优点</a:t>
            </a:r>
            <a:endParaRPr lang="en-US" altLang="zh-CN" dirty="0"/>
          </a:p>
          <a:p>
            <a:pPr>
              <a:lnSpc>
                <a:spcPts val="100"/>
              </a:lnSpc>
            </a:pPr>
            <a:endParaRPr lang="en-US" altLang="zh-CN" dirty="0"/>
          </a:p>
          <a:p>
            <a:pPr lvl="1">
              <a:lnSpc>
                <a:spcPct val="120000"/>
              </a:lnSpc>
            </a:pPr>
            <a:r>
              <a:rPr lang="zh-CN" altLang="en-US" dirty="0"/>
              <a:t>后剪枝比预剪枝保留了更多的分支，</a:t>
            </a:r>
            <a:r>
              <a:rPr lang="zh-CN" altLang="en-US" dirty="0">
                <a:solidFill>
                  <a:srgbClr val="C00000"/>
                </a:solidFill>
              </a:rPr>
              <a:t>欠拟合风险小</a:t>
            </a:r>
            <a:r>
              <a:rPr lang="zh-CN" altLang="en-US" dirty="0"/>
              <a:t>，</a:t>
            </a:r>
            <a:r>
              <a:rPr lang="zh-CN" altLang="en-US" dirty="0">
                <a:solidFill>
                  <a:srgbClr val="C00000"/>
                </a:solidFill>
              </a:rPr>
              <a:t>泛化性能往往优于预剪枝决策树</a:t>
            </a:r>
            <a:endParaRPr lang="en-US" altLang="zh-CN" dirty="0">
              <a:solidFill>
                <a:srgbClr val="C00000"/>
              </a:solidFill>
            </a:endParaRPr>
          </a:p>
          <a:p>
            <a:pPr lvl="1"/>
            <a:endParaRPr lang="en-US" altLang="zh-CN" sz="1800" dirty="0"/>
          </a:p>
          <a:p>
            <a:r>
              <a:rPr lang="zh-CN" altLang="en-US" dirty="0"/>
              <a:t>缺点</a:t>
            </a:r>
            <a:endParaRPr lang="en-US" altLang="zh-CN" dirty="0"/>
          </a:p>
          <a:p>
            <a:pPr>
              <a:lnSpc>
                <a:spcPts val="100"/>
              </a:lnSpc>
            </a:pPr>
            <a:endParaRPr lang="en-US" altLang="zh-CN" dirty="0"/>
          </a:p>
          <a:p>
            <a:pPr lvl="1">
              <a:lnSpc>
                <a:spcPct val="120000"/>
              </a:lnSpc>
            </a:pPr>
            <a:r>
              <a:rPr lang="zh-CN" altLang="en-US" dirty="0">
                <a:solidFill>
                  <a:srgbClr val="C00000"/>
                </a:solidFill>
              </a:rPr>
              <a:t>训练时间开销大</a:t>
            </a:r>
            <a:r>
              <a:rPr lang="zh-CN" altLang="en-US" dirty="0"/>
              <a:t>：后剪枝过程是在生成完全决策树之后进行的，需要自底向上对所有非叶结点逐一考察</a:t>
            </a:r>
          </a:p>
        </p:txBody>
      </p:sp>
    </p:spTree>
    <p:extLst>
      <p:ext uri="{BB962C8B-B14F-4D97-AF65-F5344CB8AC3E}">
        <p14:creationId xmlns:p14="http://schemas.microsoft.com/office/powerpoint/2010/main" val="3942211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t>连续与缺失值</a:t>
            </a:r>
            <a:endParaRPr lang="en-US" altLang="zh-CN" dirty="0"/>
          </a:p>
          <a:p>
            <a:endParaRPr lang="en-US" altLang="zh-CN" dirty="0">
              <a:solidFill>
                <a:schemeClr val="bg1">
                  <a:lumMod val="85000"/>
                </a:schemeClr>
              </a:solidFill>
            </a:endParaRPr>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en-US" altLang="zh-CN" dirty="0">
              <a:solidFill>
                <a:schemeClr val="bg1">
                  <a:lumMod val="85000"/>
                </a:schemeClr>
              </a:solidFill>
            </a:endParaRPr>
          </a:p>
        </p:txBody>
      </p:sp>
    </p:spTree>
    <p:extLst>
      <p:ext uri="{BB962C8B-B14F-4D97-AF65-F5344CB8AC3E}">
        <p14:creationId xmlns:p14="http://schemas.microsoft.com/office/powerpoint/2010/main" val="4024000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连续与缺失值 </a:t>
            </a:r>
            <a:r>
              <a:rPr lang="en-US" altLang="zh-CN" dirty="0"/>
              <a:t>– </a:t>
            </a:r>
            <a:r>
              <a:rPr lang="zh-CN" altLang="en-US" dirty="0"/>
              <a:t>连续值处理</a:t>
            </a:r>
          </a:p>
        </p:txBody>
      </p:sp>
      <p:sp>
        <p:nvSpPr>
          <p:cNvPr id="10" name="内容占位符 2">
            <a:extLst>
              <a:ext uri="{FF2B5EF4-FFF2-40B4-BE49-F238E27FC236}">
                <a16:creationId xmlns:a16="http://schemas.microsoft.com/office/drawing/2014/main" id="{086CB908-24D1-6484-5762-BAF76F20009B}"/>
              </a:ext>
            </a:extLst>
          </p:cNvPr>
          <p:cNvSpPr txBox="1">
            <a:spLocks/>
          </p:cNvSpPr>
          <p:nvPr/>
        </p:nvSpPr>
        <p:spPr>
          <a:xfrm>
            <a:off x="266700" y="1040837"/>
            <a:ext cx="8616950" cy="1662606"/>
          </a:xfrm>
          <a:prstGeom prst="rect">
            <a:avLst/>
          </a:prstGeom>
        </p:spPr>
        <p:txBody>
          <a:bodyPr vert="horz" lIns="91440" tIns="46800" rIns="91440" bIns="45720" rtlCol="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现实任务中常会遇到连续属性，有必要讨论决策树中怎么使用连续属性。由于连续属性的可取值数目不再有限，因此不能直接根据连续属性的可取值来对结点进行划分，故采用连续属性离散化技术。</a:t>
            </a:r>
          </a:p>
          <a:p>
            <a:pPr marL="325800" lvl="1" indent="0">
              <a:buNone/>
            </a:pPr>
            <a:endParaRPr lang="zh-CN" altLang="en-US" dirty="0"/>
          </a:p>
        </p:txBody>
      </p:sp>
    </p:spTree>
    <p:extLst>
      <p:ext uri="{BB962C8B-B14F-4D97-AF65-F5344CB8AC3E}">
        <p14:creationId xmlns:p14="http://schemas.microsoft.com/office/powerpoint/2010/main" val="791485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连续与缺失值 </a:t>
            </a:r>
            <a:r>
              <a:rPr lang="en-US" altLang="zh-CN" dirty="0"/>
              <a:t>– </a:t>
            </a:r>
            <a:r>
              <a:rPr lang="zh-CN" altLang="en-US" dirty="0"/>
              <a:t>连续值处理</a:t>
            </a:r>
          </a:p>
        </p:txBody>
      </p:sp>
      <p:sp>
        <p:nvSpPr>
          <p:cNvPr id="6" name="内容占位符 2"/>
          <p:cNvSpPr>
            <a:spLocks noGrp="1"/>
          </p:cNvSpPr>
          <p:nvPr>
            <p:ph idx="1"/>
          </p:nvPr>
        </p:nvSpPr>
        <p:spPr>
          <a:xfrm>
            <a:off x="260350" y="2539725"/>
            <a:ext cx="8616950" cy="5005946"/>
          </a:xfrm>
        </p:spPr>
        <p:txBody>
          <a:bodyPr>
            <a:normAutofit/>
          </a:bodyPr>
          <a:lstStyle/>
          <a:p>
            <a:r>
              <a:rPr lang="zh-CN" altLang="en-US" dirty="0"/>
              <a:t>连续属性离散化</a:t>
            </a:r>
            <a:r>
              <a:rPr lang="en-US" altLang="zh-CN" dirty="0"/>
              <a:t>(</a:t>
            </a:r>
            <a:r>
              <a:rPr lang="zh-CN" altLang="en-US" dirty="0"/>
              <a:t>二分法</a:t>
            </a:r>
            <a:r>
              <a:rPr lang="en-US" altLang="zh-CN" dirty="0"/>
              <a:t>)</a:t>
            </a:r>
          </a:p>
          <a:p>
            <a:pPr>
              <a:lnSpc>
                <a:spcPts val="200"/>
              </a:lnSpc>
            </a:pPr>
            <a:endParaRPr lang="en-US" altLang="zh-CN" dirty="0"/>
          </a:p>
          <a:p>
            <a:pPr lvl="1">
              <a:lnSpc>
                <a:spcPct val="130000"/>
              </a:lnSpc>
            </a:pPr>
            <a:r>
              <a:rPr lang="zh-CN" altLang="en-US" dirty="0"/>
              <a:t>第一步：假定连续属性</a:t>
            </a:r>
            <a:r>
              <a:rPr lang="en-US" altLang="zh-CN" dirty="0"/>
              <a:t>  </a:t>
            </a:r>
            <a:r>
              <a:rPr lang="zh-CN" altLang="en-US" dirty="0"/>
              <a:t>在样本集</a:t>
            </a:r>
            <a:r>
              <a:rPr lang="en-US" altLang="zh-CN" dirty="0"/>
              <a:t>  </a:t>
            </a:r>
            <a:r>
              <a:rPr lang="zh-CN" altLang="en-US" dirty="0"/>
              <a:t>上出现</a:t>
            </a:r>
            <a:r>
              <a:rPr lang="en-US" altLang="zh-CN" dirty="0"/>
              <a:t>  </a:t>
            </a:r>
            <a:r>
              <a:rPr lang="zh-CN" altLang="en-US" dirty="0"/>
              <a:t>个不同的取值，从小到大     排列，记为              ，基于划分点</a:t>
            </a:r>
            <a:r>
              <a:rPr lang="en-US" altLang="zh-CN" dirty="0"/>
              <a:t>  </a:t>
            </a:r>
            <a:r>
              <a:rPr lang="zh-CN" altLang="en-US" dirty="0"/>
              <a:t>，可将</a:t>
            </a:r>
            <a:r>
              <a:rPr lang="en-US" altLang="zh-CN" dirty="0"/>
              <a:t>  </a:t>
            </a:r>
            <a:r>
              <a:rPr lang="zh-CN" altLang="en-US" dirty="0"/>
              <a:t>分为子集    和    ，其中    包含那些在属性</a:t>
            </a:r>
            <a:r>
              <a:rPr lang="en-US" altLang="zh-CN" dirty="0"/>
              <a:t>  </a:t>
            </a:r>
            <a:r>
              <a:rPr lang="zh-CN" altLang="en-US" dirty="0"/>
              <a:t>上取值不大于</a:t>
            </a:r>
            <a:r>
              <a:rPr lang="en-US" altLang="zh-CN" dirty="0"/>
              <a:t>  </a:t>
            </a:r>
            <a:r>
              <a:rPr lang="zh-CN" altLang="en-US" dirty="0"/>
              <a:t>的样本，    包含那些在属性</a:t>
            </a:r>
            <a:r>
              <a:rPr lang="en-US" altLang="zh-CN" dirty="0"/>
              <a:t>  </a:t>
            </a:r>
            <a:r>
              <a:rPr lang="zh-CN" altLang="en-US" dirty="0"/>
              <a:t>上取值大于</a:t>
            </a:r>
            <a:r>
              <a:rPr lang="en-US" altLang="zh-CN" dirty="0"/>
              <a:t>  </a:t>
            </a:r>
            <a:r>
              <a:rPr lang="zh-CN" altLang="en-US" dirty="0"/>
              <a:t>的样本。考虑包含       个元素的候选划分点集合</a:t>
            </a:r>
            <a:endParaRPr lang="en-US" altLang="zh-CN" dirty="0"/>
          </a:p>
          <a:p>
            <a:pPr marL="325800" lvl="1" indent="0">
              <a:lnSpc>
                <a:spcPct val="10000"/>
              </a:lnSpc>
              <a:buNone/>
            </a:pPr>
            <a:endParaRPr lang="en-US" altLang="zh-CN" dirty="0"/>
          </a:p>
          <a:p>
            <a:pPr marL="325800" lvl="1" indent="0">
              <a:buNone/>
            </a:pPr>
            <a:endParaRPr lang="en-US" altLang="zh-CN" dirty="0"/>
          </a:p>
          <a:p>
            <a:pPr marL="325800" lvl="1" indent="0">
              <a:buNone/>
            </a:pPr>
            <a:endParaRPr lang="en-US" altLang="zh-CN" dirty="0"/>
          </a:p>
          <a:p>
            <a:pPr marL="325800" lvl="1" indent="0">
              <a:buNone/>
            </a:pPr>
            <a:endParaRPr lang="en-US" altLang="zh-CN" dirty="0"/>
          </a:p>
          <a:p>
            <a:pPr marL="325800" lvl="1" indent="0">
              <a:buNone/>
            </a:pPr>
            <a:r>
              <a:rPr lang="en-US" altLang="zh-CN" dirty="0"/>
              <a:t>    </a:t>
            </a:r>
            <a:r>
              <a:rPr lang="zh-CN" altLang="en-US" dirty="0"/>
              <a:t>即把区间          的中位点        作为候选划分点。</a:t>
            </a:r>
            <a:endParaRPr lang="en-US" altLang="zh-CN" dirty="0"/>
          </a:p>
          <a:p>
            <a:pPr lvl="1"/>
            <a:endParaRPr lang="en-US" altLang="zh-CN" dirty="0"/>
          </a:p>
          <a:p>
            <a:pPr lvl="1"/>
            <a:endParaRPr lang="en-US" altLang="zh-CN" dirty="0"/>
          </a:p>
          <a:p>
            <a:pPr marL="325800" lvl="1" indent="0">
              <a:buNone/>
            </a:pPr>
            <a:endParaRPr lang="en-US" altLang="zh-CN" dirty="0"/>
          </a:p>
          <a:p>
            <a:pPr lvl="1"/>
            <a:endParaRPr lang="en-US" altLang="zh-CN" dirty="0"/>
          </a:p>
          <a:p>
            <a:pPr marL="325800" lvl="1" indent="0">
              <a:buNone/>
            </a:pPr>
            <a:endParaRPr lang="zh-CN" altLang="en-US" dirty="0"/>
          </a:p>
        </p:txBody>
      </p:sp>
      <p:graphicFrame>
        <p:nvGraphicFramePr>
          <p:cNvPr id="3" name="对象 2"/>
          <p:cNvGraphicFramePr>
            <a:graphicFrameLocks noChangeAspect="1"/>
          </p:cNvGraphicFramePr>
          <p:nvPr/>
        </p:nvGraphicFramePr>
        <p:xfrm>
          <a:off x="2332039" y="3543810"/>
          <a:ext cx="1207027" cy="334226"/>
        </p:xfrm>
        <a:graphic>
          <a:graphicData uri="http://schemas.openxmlformats.org/presentationml/2006/ole">
            <mc:AlternateContent xmlns:mc="http://schemas.openxmlformats.org/markup-compatibility/2006">
              <mc:Choice xmlns:v="urn:schemas-microsoft-com:vml" Requires="v">
                <p:oleObj name="Formula" r:id="rId3" imgW="679680" imgH="186840" progId="Equation.Ribbit">
                  <p:embed/>
                </p:oleObj>
              </mc:Choice>
              <mc:Fallback>
                <p:oleObj name="Formula" r:id="rId3" imgW="679680" imgH="186840" progId="Equation.Ribbit">
                  <p:embed/>
                  <p:pic>
                    <p:nvPicPr>
                      <p:cNvPr id="3" name="对象 2"/>
                      <p:cNvPicPr/>
                      <p:nvPr/>
                    </p:nvPicPr>
                    <p:blipFill>
                      <a:blip r:embed="rId4"/>
                      <a:stretch>
                        <a:fillRect/>
                      </a:stretch>
                    </p:blipFill>
                    <p:spPr>
                      <a:xfrm>
                        <a:off x="2332039" y="3543810"/>
                        <a:ext cx="1207027" cy="334226"/>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7234059" y="3616680"/>
          <a:ext cx="306387" cy="247650"/>
        </p:xfrm>
        <a:graphic>
          <a:graphicData uri="http://schemas.openxmlformats.org/presentationml/2006/ole">
            <mc:AlternateContent xmlns:mc="http://schemas.openxmlformats.org/markup-compatibility/2006">
              <mc:Choice xmlns:v="urn:schemas-microsoft-com:vml" Requires="v">
                <p:oleObj name="Formula" r:id="rId5" imgW="207360" imgH="167760" progId="Equation.Ribbit">
                  <p:embed/>
                </p:oleObj>
              </mc:Choice>
              <mc:Fallback>
                <p:oleObj name="Formula" r:id="rId5" imgW="207360" imgH="167760" progId="Equation.Ribbit">
                  <p:embed/>
                  <p:pic>
                    <p:nvPicPr>
                      <p:cNvPr id="4" name="对象 3"/>
                      <p:cNvPicPr/>
                      <p:nvPr/>
                    </p:nvPicPr>
                    <p:blipFill>
                      <a:blip r:embed="rId6"/>
                      <a:stretch>
                        <a:fillRect/>
                      </a:stretch>
                    </p:blipFill>
                    <p:spPr>
                      <a:xfrm>
                        <a:off x="7234059" y="3616680"/>
                        <a:ext cx="306387" cy="2476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832725" y="3586516"/>
          <a:ext cx="309563" cy="280988"/>
        </p:xfrm>
        <a:graphic>
          <a:graphicData uri="http://schemas.openxmlformats.org/presentationml/2006/ole">
            <mc:AlternateContent xmlns:mc="http://schemas.openxmlformats.org/markup-compatibility/2006">
              <mc:Choice xmlns:v="urn:schemas-microsoft-com:vml" Requires="v">
                <p:oleObj name="Formula" r:id="rId7" imgW="209880" imgH="188280" progId="Equation.Ribbit">
                  <p:embed/>
                </p:oleObj>
              </mc:Choice>
              <mc:Fallback>
                <p:oleObj name="Formula" r:id="rId7" imgW="209880" imgH="188280" progId="Equation.Ribbit">
                  <p:embed/>
                  <p:pic>
                    <p:nvPicPr>
                      <p:cNvPr id="11" name="对象 10"/>
                      <p:cNvPicPr/>
                      <p:nvPr/>
                    </p:nvPicPr>
                    <p:blipFill>
                      <a:blip r:embed="rId8"/>
                      <a:stretch>
                        <a:fillRect/>
                      </a:stretch>
                    </p:blipFill>
                    <p:spPr>
                      <a:xfrm>
                        <a:off x="7832725" y="3586516"/>
                        <a:ext cx="309563" cy="28098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308100" y="4011683"/>
          <a:ext cx="306388" cy="249237"/>
        </p:xfrm>
        <a:graphic>
          <a:graphicData uri="http://schemas.openxmlformats.org/presentationml/2006/ole">
            <mc:AlternateContent xmlns:mc="http://schemas.openxmlformats.org/markup-compatibility/2006">
              <mc:Choice xmlns:v="urn:schemas-microsoft-com:vml" Requires="v">
                <p:oleObj name="Formula" r:id="rId5" imgW="207360" imgH="167760" progId="Equation.Ribbit">
                  <p:embed/>
                </p:oleObj>
              </mc:Choice>
              <mc:Fallback>
                <p:oleObj name="Formula" r:id="rId5" imgW="207360" imgH="167760" progId="Equation.Ribbit">
                  <p:embed/>
                  <p:pic>
                    <p:nvPicPr>
                      <p:cNvPr id="12" name="对象 11"/>
                      <p:cNvPicPr/>
                      <p:nvPr/>
                    </p:nvPicPr>
                    <p:blipFill>
                      <a:blip r:embed="rId6"/>
                      <a:stretch>
                        <a:fillRect/>
                      </a:stretch>
                    </p:blipFill>
                    <p:spPr>
                      <a:xfrm>
                        <a:off x="1308100" y="4011683"/>
                        <a:ext cx="306388" cy="2492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6284876" y="3967032"/>
          <a:ext cx="309562" cy="279400"/>
        </p:xfrm>
        <a:graphic>
          <a:graphicData uri="http://schemas.openxmlformats.org/presentationml/2006/ole">
            <mc:AlternateContent xmlns:mc="http://schemas.openxmlformats.org/markup-compatibility/2006">
              <mc:Choice xmlns:v="urn:schemas-microsoft-com:vml" Requires="v">
                <p:oleObj name="Formula" r:id="rId7" imgW="209880" imgH="188280" progId="Equation.Ribbit">
                  <p:embed/>
                </p:oleObj>
              </mc:Choice>
              <mc:Fallback>
                <p:oleObj name="Formula" r:id="rId7" imgW="209880" imgH="188280" progId="Equation.Ribbit">
                  <p:embed/>
                  <p:pic>
                    <p:nvPicPr>
                      <p:cNvPr id="14" name="对象 13"/>
                      <p:cNvPicPr/>
                      <p:nvPr/>
                    </p:nvPicPr>
                    <p:blipFill>
                      <a:blip r:embed="rId8"/>
                      <a:stretch>
                        <a:fillRect/>
                      </a:stretch>
                    </p:blipFill>
                    <p:spPr>
                      <a:xfrm>
                        <a:off x="6284876" y="3967032"/>
                        <a:ext cx="309562" cy="2794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431256" y="4876876"/>
          <a:ext cx="4433887" cy="679450"/>
        </p:xfrm>
        <a:graphic>
          <a:graphicData uri="http://schemas.openxmlformats.org/presentationml/2006/ole">
            <mc:AlternateContent xmlns:mc="http://schemas.openxmlformats.org/markup-compatibility/2006">
              <mc:Choice xmlns:v="urn:schemas-microsoft-com:vml" Requires="v">
                <p:oleObj name="Formula" r:id="rId9" imgW="1974960" imgH="301320" progId="Equation.Ribbit">
                  <p:embed/>
                </p:oleObj>
              </mc:Choice>
              <mc:Fallback>
                <p:oleObj name="Formula" r:id="rId9" imgW="1974960" imgH="301320" progId="Equation.Ribbit">
                  <p:embed/>
                  <p:pic>
                    <p:nvPicPr>
                      <p:cNvPr id="5" name="对象 4"/>
                      <p:cNvPicPr/>
                      <p:nvPr/>
                    </p:nvPicPr>
                    <p:blipFill>
                      <a:blip r:embed="rId10"/>
                      <a:stretch>
                        <a:fillRect/>
                      </a:stretch>
                    </p:blipFill>
                    <p:spPr>
                      <a:xfrm>
                        <a:off x="2431256" y="4876876"/>
                        <a:ext cx="4433887" cy="67945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2087563" y="5849472"/>
          <a:ext cx="784225" cy="277812"/>
        </p:xfrm>
        <a:graphic>
          <a:graphicData uri="http://schemas.openxmlformats.org/presentationml/2006/ole">
            <mc:AlternateContent xmlns:mc="http://schemas.openxmlformats.org/markup-compatibility/2006">
              <mc:Choice xmlns:v="urn:schemas-microsoft-com:vml" Requires="v">
                <p:oleObj name="Formula" r:id="rId11" imgW="524520" imgH="185760" progId="Equation.Ribbit">
                  <p:embed/>
                </p:oleObj>
              </mc:Choice>
              <mc:Fallback>
                <p:oleObj name="Formula" r:id="rId11" imgW="524520" imgH="185760" progId="Equation.Ribbit">
                  <p:embed/>
                  <p:pic>
                    <p:nvPicPr>
                      <p:cNvPr id="15" name="对象 14"/>
                      <p:cNvPicPr/>
                      <p:nvPr/>
                    </p:nvPicPr>
                    <p:blipFill>
                      <a:blip r:embed="rId12"/>
                      <a:stretch>
                        <a:fillRect/>
                      </a:stretch>
                    </p:blipFill>
                    <p:spPr>
                      <a:xfrm>
                        <a:off x="2087563" y="5849472"/>
                        <a:ext cx="784225" cy="277812"/>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006850" y="5801489"/>
          <a:ext cx="641350" cy="344487"/>
        </p:xfrm>
        <a:graphic>
          <a:graphicData uri="http://schemas.openxmlformats.org/presentationml/2006/ole">
            <mc:AlternateContent xmlns:mc="http://schemas.openxmlformats.org/markup-compatibility/2006">
              <mc:Choice xmlns:v="urn:schemas-microsoft-com:vml" Requires="v">
                <p:oleObj name="Formula" r:id="rId13" imgW="414360" imgH="222480" progId="Equation.Ribbit">
                  <p:embed/>
                </p:oleObj>
              </mc:Choice>
              <mc:Fallback>
                <p:oleObj name="Formula" r:id="rId13" imgW="414360" imgH="222480" progId="Equation.Ribbit">
                  <p:embed/>
                  <p:pic>
                    <p:nvPicPr>
                      <p:cNvPr id="16" name="对象 15"/>
                      <p:cNvPicPr/>
                      <p:nvPr/>
                    </p:nvPicPr>
                    <p:blipFill>
                      <a:blip r:embed="rId14"/>
                      <a:stretch>
                        <a:fillRect/>
                      </a:stretch>
                    </p:blipFill>
                    <p:spPr>
                      <a:xfrm>
                        <a:off x="4006850" y="5801489"/>
                        <a:ext cx="641350" cy="34448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562350" y="3201041"/>
          <a:ext cx="188913" cy="306388"/>
        </p:xfrm>
        <a:graphic>
          <a:graphicData uri="http://schemas.openxmlformats.org/presentationml/2006/ole">
            <mc:AlternateContent xmlns:mc="http://schemas.openxmlformats.org/markup-compatibility/2006">
              <mc:Choice xmlns:v="urn:schemas-microsoft-com:vml" Requires="v">
                <p:oleObj name="Formula" r:id="rId15" imgW="80280" imgH="129600" progId="Equation.Ribbit">
                  <p:embed/>
                </p:oleObj>
              </mc:Choice>
              <mc:Fallback>
                <p:oleObj name="Formula" r:id="rId15" imgW="80280" imgH="129600" progId="Equation.Ribbit">
                  <p:embed/>
                  <p:pic>
                    <p:nvPicPr>
                      <p:cNvPr id="13" name="对象 12"/>
                      <p:cNvPicPr/>
                      <p:nvPr/>
                    </p:nvPicPr>
                    <p:blipFill>
                      <a:blip r:embed="rId16"/>
                      <a:stretch>
                        <a:fillRect/>
                      </a:stretch>
                    </p:blipFill>
                    <p:spPr>
                      <a:xfrm>
                        <a:off x="3562350" y="3201041"/>
                        <a:ext cx="188913" cy="3063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767263" y="3205804"/>
          <a:ext cx="200025" cy="268287"/>
        </p:xfrm>
        <a:graphic>
          <a:graphicData uri="http://schemas.openxmlformats.org/presentationml/2006/ole">
            <mc:AlternateContent xmlns:mc="http://schemas.openxmlformats.org/markup-compatibility/2006">
              <mc:Choice xmlns:v="urn:schemas-microsoft-com:vml" Requires="v">
                <p:oleObj name="Formula" r:id="rId17" imgW="124560" imgH="166680" progId="Equation.Ribbit">
                  <p:embed/>
                </p:oleObj>
              </mc:Choice>
              <mc:Fallback>
                <p:oleObj name="Formula" r:id="rId17" imgW="124560" imgH="166680" progId="Equation.Ribbit">
                  <p:embed/>
                  <p:pic>
                    <p:nvPicPr>
                      <p:cNvPr id="17" name="对象 16"/>
                      <p:cNvPicPr/>
                      <p:nvPr/>
                    </p:nvPicPr>
                    <p:blipFill>
                      <a:blip r:embed="rId18"/>
                      <a:stretch>
                        <a:fillRect/>
                      </a:stretch>
                    </p:blipFill>
                    <p:spPr>
                      <a:xfrm>
                        <a:off x="4767263" y="3205804"/>
                        <a:ext cx="200025" cy="2682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5697538" y="3199454"/>
          <a:ext cx="209550" cy="290512"/>
        </p:xfrm>
        <a:graphic>
          <a:graphicData uri="http://schemas.openxmlformats.org/presentationml/2006/ole">
            <mc:AlternateContent xmlns:mc="http://schemas.openxmlformats.org/markup-compatibility/2006">
              <mc:Choice xmlns:v="urn:schemas-microsoft-com:vml" Requires="v">
                <p:oleObj name="Formula" r:id="rId19" imgW="92880" imgH="129600" progId="Equation.Ribbit">
                  <p:embed/>
                </p:oleObj>
              </mc:Choice>
              <mc:Fallback>
                <p:oleObj name="Formula" r:id="rId19" imgW="92880" imgH="129600" progId="Equation.Ribbit">
                  <p:embed/>
                  <p:pic>
                    <p:nvPicPr>
                      <p:cNvPr id="7" name="对象 6"/>
                      <p:cNvPicPr/>
                      <p:nvPr/>
                    </p:nvPicPr>
                    <p:blipFill>
                      <a:blip r:embed="rId20"/>
                      <a:stretch>
                        <a:fillRect/>
                      </a:stretch>
                    </p:blipFill>
                    <p:spPr>
                      <a:xfrm>
                        <a:off x="5697538" y="3199454"/>
                        <a:ext cx="209550" cy="2905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148463" y="3973016"/>
          <a:ext cx="112712" cy="311150"/>
        </p:xfrm>
        <a:graphic>
          <a:graphicData uri="http://schemas.openxmlformats.org/presentationml/2006/ole">
            <mc:AlternateContent xmlns:mc="http://schemas.openxmlformats.org/markup-compatibility/2006">
              <mc:Choice xmlns:v="urn:schemas-microsoft-com:vml" Requires="v">
                <p:oleObj name="Formula" r:id="rId21" imgW="57240" imgH="157680" progId="Equation.Ribbit">
                  <p:embed/>
                </p:oleObj>
              </mc:Choice>
              <mc:Fallback>
                <p:oleObj name="Formula" r:id="rId21" imgW="57240" imgH="157680" progId="Equation.Ribbit">
                  <p:embed/>
                  <p:pic>
                    <p:nvPicPr>
                      <p:cNvPr id="8" name="对象 7"/>
                      <p:cNvPicPr/>
                      <p:nvPr/>
                    </p:nvPicPr>
                    <p:blipFill>
                      <a:blip r:embed="rId22"/>
                      <a:stretch>
                        <a:fillRect/>
                      </a:stretch>
                    </p:blipFill>
                    <p:spPr>
                      <a:xfrm>
                        <a:off x="5148463" y="3973016"/>
                        <a:ext cx="112712" cy="31115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6013629" y="3597630"/>
          <a:ext cx="198438" cy="268287"/>
        </p:xfrm>
        <a:graphic>
          <a:graphicData uri="http://schemas.openxmlformats.org/presentationml/2006/ole">
            <mc:AlternateContent xmlns:mc="http://schemas.openxmlformats.org/markup-compatibility/2006">
              <mc:Choice xmlns:v="urn:schemas-microsoft-com:vml" Requires="v">
                <p:oleObj name="Formula" r:id="rId17" imgW="124560" imgH="166680" progId="Equation.Ribbit">
                  <p:embed/>
                </p:oleObj>
              </mc:Choice>
              <mc:Fallback>
                <p:oleObj name="Formula" r:id="rId17" imgW="124560" imgH="166680" progId="Equation.Ribbit">
                  <p:embed/>
                  <p:pic>
                    <p:nvPicPr>
                      <p:cNvPr id="18" name="对象 17"/>
                      <p:cNvPicPr/>
                      <p:nvPr/>
                    </p:nvPicPr>
                    <p:blipFill>
                      <a:blip r:embed="rId18"/>
                      <a:stretch>
                        <a:fillRect/>
                      </a:stretch>
                    </p:blipFill>
                    <p:spPr>
                      <a:xfrm>
                        <a:off x="6013629" y="3597630"/>
                        <a:ext cx="198438" cy="268287"/>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3441700" y="3989256"/>
          <a:ext cx="190500" cy="304800"/>
        </p:xfrm>
        <a:graphic>
          <a:graphicData uri="http://schemas.openxmlformats.org/presentationml/2006/ole">
            <mc:AlternateContent xmlns:mc="http://schemas.openxmlformats.org/markup-compatibility/2006">
              <mc:Choice xmlns:v="urn:schemas-microsoft-com:vml" Requires="v">
                <p:oleObj name="Formula" r:id="rId15" imgW="80280" imgH="129600" progId="Equation.Ribbit">
                  <p:embed/>
                </p:oleObj>
              </mc:Choice>
              <mc:Fallback>
                <p:oleObj name="Formula" r:id="rId15" imgW="80280" imgH="129600" progId="Equation.Ribbit">
                  <p:embed/>
                  <p:pic>
                    <p:nvPicPr>
                      <p:cNvPr id="19" name="对象 18"/>
                      <p:cNvPicPr/>
                      <p:nvPr/>
                    </p:nvPicPr>
                    <p:blipFill>
                      <a:blip r:embed="rId16"/>
                      <a:stretch>
                        <a:fillRect/>
                      </a:stretch>
                    </p:blipFill>
                    <p:spPr>
                      <a:xfrm>
                        <a:off x="3441700" y="3989256"/>
                        <a:ext cx="190500" cy="3048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5109176" y="3577259"/>
          <a:ext cx="112713" cy="311150"/>
        </p:xfrm>
        <a:graphic>
          <a:graphicData uri="http://schemas.openxmlformats.org/presentationml/2006/ole">
            <mc:AlternateContent xmlns:mc="http://schemas.openxmlformats.org/markup-compatibility/2006">
              <mc:Choice xmlns:v="urn:schemas-microsoft-com:vml" Requires="v">
                <p:oleObj name="Formula" r:id="rId21" imgW="57240" imgH="157680" progId="Equation.Ribbit">
                  <p:embed/>
                </p:oleObj>
              </mc:Choice>
              <mc:Fallback>
                <p:oleObj name="Formula" r:id="rId21" imgW="57240" imgH="157680" progId="Equation.Ribbit">
                  <p:embed/>
                  <p:pic>
                    <p:nvPicPr>
                      <p:cNvPr id="20" name="对象 19"/>
                      <p:cNvPicPr/>
                      <p:nvPr/>
                    </p:nvPicPr>
                    <p:blipFill>
                      <a:blip r:embed="rId22"/>
                      <a:stretch>
                        <a:fillRect/>
                      </a:stretch>
                    </p:blipFill>
                    <p:spPr>
                      <a:xfrm>
                        <a:off x="5109176" y="3577259"/>
                        <a:ext cx="112713" cy="31115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8497888" y="3993184"/>
          <a:ext cx="188912" cy="303213"/>
        </p:xfrm>
        <a:graphic>
          <a:graphicData uri="http://schemas.openxmlformats.org/presentationml/2006/ole">
            <mc:AlternateContent xmlns:mc="http://schemas.openxmlformats.org/markup-compatibility/2006">
              <mc:Choice xmlns:v="urn:schemas-microsoft-com:vml" Requires="v">
                <p:oleObj name="Formula" r:id="rId15" imgW="80280" imgH="129600" progId="Equation.Ribbit">
                  <p:embed/>
                </p:oleObj>
              </mc:Choice>
              <mc:Fallback>
                <p:oleObj name="Formula" r:id="rId15" imgW="80280" imgH="129600" progId="Equation.Ribbit">
                  <p:embed/>
                  <p:pic>
                    <p:nvPicPr>
                      <p:cNvPr id="21" name="对象 20"/>
                      <p:cNvPicPr/>
                      <p:nvPr/>
                    </p:nvPicPr>
                    <p:blipFill>
                      <a:blip r:embed="rId16"/>
                      <a:stretch>
                        <a:fillRect/>
                      </a:stretch>
                    </p:blipFill>
                    <p:spPr>
                      <a:xfrm>
                        <a:off x="8497888" y="3993184"/>
                        <a:ext cx="188912" cy="30321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331051" y="4358959"/>
          <a:ext cx="112713" cy="311150"/>
        </p:xfrm>
        <a:graphic>
          <a:graphicData uri="http://schemas.openxmlformats.org/presentationml/2006/ole">
            <mc:AlternateContent xmlns:mc="http://schemas.openxmlformats.org/markup-compatibility/2006">
              <mc:Choice xmlns:v="urn:schemas-microsoft-com:vml" Requires="v">
                <p:oleObj name="Formula" r:id="rId21" imgW="57240" imgH="157680" progId="Equation.Ribbit">
                  <p:embed/>
                </p:oleObj>
              </mc:Choice>
              <mc:Fallback>
                <p:oleObj name="Formula" r:id="rId21" imgW="57240" imgH="157680" progId="Equation.Ribbit">
                  <p:embed/>
                  <p:pic>
                    <p:nvPicPr>
                      <p:cNvPr id="22" name="对象 21"/>
                      <p:cNvPicPr/>
                      <p:nvPr/>
                    </p:nvPicPr>
                    <p:blipFill>
                      <a:blip r:embed="rId22"/>
                      <a:stretch>
                        <a:fillRect/>
                      </a:stretch>
                    </p:blipFill>
                    <p:spPr>
                      <a:xfrm>
                        <a:off x="2331051" y="4358959"/>
                        <a:ext cx="112713" cy="3111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570412" y="4392195"/>
          <a:ext cx="554037" cy="262353"/>
        </p:xfrm>
        <a:graphic>
          <a:graphicData uri="http://schemas.openxmlformats.org/presentationml/2006/ole">
            <mc:AlternateContent xmlns:mc="http://schemas.openxmlformats.org/markup-compatibility/2006">
              <mc:Choice xmlns:v="urn:schemas-microsoft-com:vml" Requires="v">
                <p:oleObj name="Formula" r:id="rId23" imgW="345600" imgH="162720" progId="Equation.Ribbit">
                  <p:embed/>
                </p:oleObj>
              </mc:Choice>
              <mc:Fallback>
                <p:oleObj name="Formula" r:id="rId23" imgW="345600" imgH="162720" progId="Equation.Ribbit">
                  <p:embed/>
                  <p:pic>
                    <p:nvPicPr>
                      <p:cNvPr id="9" name="对象 8"/>
                      <p:cNvPicPr/>
                      <p:nvPr/>
                    </p:nvPicPr>
                    <p:blipFill>
                      <a:blip r:embed="rId24"/>
                      <a:stretch>
                        <a:fillRect/>
                      </a:stretch>
                    </p:blipFill>
                    <p:spPr>
                      <a:xfrm>
                        <a:off x="4570412" y="4392195"/>
                        <a:ext cx="554037" cy="262353"/>
                      </a:xfrm>
                      <a:prstGeom prst="rect">
                        <a:avLst/>
                      </a:prstGeom>
                    </p:spPr>
                  </p:pic>
                </p:oleObj>
              </mc:Fallback>
            </mc:AlternateContent>
          </a:graphicData>
        </a:graphic>
      </p:graphicFrame>
      <p:sp>
        <p:nvSpPr>
          <p:cNvPr id="10" name="内容占位符 2">
            <a:extLst>
              <a:ext uri="{FF2B5EF4-FFF2-40B4-BE49-F238E27FC236}">
                <a16:creationId xmlns:a16="http://schemas.microsoft.com/office/drawing/2014/main" id="{086CB908-24D1-6484-5762-BAF76F20009B}"/>
              </a:ext>
            </a:extLst>
          </p:cNvPr>
          <p:cNvSpPr txBox="1">
            <a:spLocks/>
          </p:cNvSpPr>
          <p:nvPr/>
        </p:nvSpPr>
        <p:spPr>
          <a:xfrm>
            <a:off x="266700" y="1040837"/>
            <a:ext cx="8616950" cy="5005946"/>
          </a:xfrm>
          <a:prstGeom prst="rect">
            <a:avLst/>
          </a:prstGeom>
        </p:spPr>
        <p:txBody>
          <a:bodyPr vert="horz" lIns="91440" tIns="46800" rIns="91440" bIns="45720" rtlCol="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现实任务中常会遇到连续属性，有必要讨论决策树中怎么使用连续属性。由于连续属性的可取值数目不再有限，因此不能直接根据连续属性的可取值来对结点进行划分，故采用连续属性离散化技术。</a:t>
            </a:r>
          </a:p>
          <a:p>
            <a:pPr marL="325800" lvl="1" indent="0">
              <a:buNone/>
            </a:pPr>
            <a:endParaRPr lang="zh-CN" altLang="en-US" dirty="0"/>
          </a:p>
          <a:p>
            <a:pPr lvl="1"/>
            <a:endParaRPr lang="zh-CN" altLang="en-US" dirty="0"/>
          </a:p>
          <a:p>
            <a:pPr marL="325800" lvl="1" indent="0">
              <a:buFont typeface="Wingdings" panose="05000000000000000000" pitchFamily="2" charset="2"/>
              <a:buNone/>
            </a:pPr>
            <a:endParaRPr lang="zh-CN" altLang="en-US" dirty="0"/>
          </a:p>
          <a:p>
            <a:pPr lvl="1"/>
            <a:endParaRPr lang="zh-CN" altLang="en-US" dirty="0"/>
          </a:p>
          <a:p>
            <a:pPr marL="325800" lvl="1" indent="0">
              <a:buFont typeface="Wingdings" panose="05000000000000000000" pitchFamily="2" charset="2"/>
              <a:buNone/>
            </a:pPr>
            <a:endParaRPr lang="zh-CN" altLang="en-US" dirty="0"/>
          </a:p>
        </p:txBody>
      </p:sp>
    </p:spTree>
    <p:extLst>
      <p:ext uri="{BB962C8B-B14F-4D97-AF65-F5344CB8AC3E}">
        <p14:creationId xmlns:p14="http://schemas.microsoft.com/office/powerpoint/2010/main" val="1102088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连续值处理</a:t>
            </a:r>
          </a:p>
        </p:txBody>
      </p:sp>
      <p:sp>
        <p:nvSpPr>
          <p:cNvPr id="3" name="内容占位符 2"/>
          <p:cNvSpPr>
            <a:spLocks noGrp="1"/>
          </p:cNvSpPr>
          <p:nvPr>
            <p:ph idx="1"/>
          </p:nvPr>
        </p:nvSpPr>
        <p:spPr>
          <a:xfrm>
            <a:off x="260350" y="1137684"/>
            <a:ext cx="8616950" cy="4951627"/>
          </a:xfrm>
        </p:spPr>
        <p:txBody>
          <a:bodyPr/>
          <a:lstStyle/>
          <a:p>
            <a:r>
              <a:rPr lang="zh-CN" altLang="en-US" dirty="0"/>
              <a:t>连续属性离散化</a:t>
            </a:r>
            <a:r>
              <a:rPr lang="en-US" altLang="zh-CN" dirty="0"/>
              <a:t>(</a:t>
            </a:r>
            <a:r>
              <a:rPr lang="zh-CN" altLang="en-US" dirty="0"/>
              <a:t>二分法</a:t>
            </a:r>
            <a:r>
              <a:rPr lang="en-US" altLang="zh-CN" dirty="0"/>
              <a:t>)</a:t>
            </a:r>
          </a:p>
          <a:p>
            <a:pPr>
              <a:lnSpc>
                <a:spcPts val="200"/>
              </a:lnSpc>
            </a:pPr>
            <a:endParaRPr lang="en-US" altLang="zh-CN" dirty="0"/>
          </a:p>
          <a:p>
            <a:pPr lvl="1">
              <a:lnSpc>
                <a:spcPct val="120000"/>
              </a:lnSpc>
            </a:pPr>
            <a:r>
              <a:rPr lang="zh-CN" altLang="en-US" dirty="0"/>
              <a:t>第二步：采用离散属性值方法，考察这些划分点，选取最优的划分点进行样本集合的划分</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marL="325800" lvl="1" indent="0">
              <a:buNone/>
            </a:pPr>
            <a:endParaRPr lang="en-US" altLang="zh-CN" dirty="0"/>
          </a:p>
          <a:p>
            <a:pPr marL="325800" lvl="1" indent="0">
              <a:lnSpc>
                <a:spcPct val="120000"/>
              </a:lnSpc>
              <a:buNone/>
            </a:pPr>
            <a:r>
              <a:rPr lang="en-US" altLang="zh-CN" dirty="0"/>
              <a:t>    </a:t>
            </a:r>
            <a:r>
              <a:rPr lang="zh-CN" altLang="en-US" dirty="0"/>
              <a:t>其中                 是样本集</a:t>
            </a:r>
            <a:r>
              <a:rPr lang="en-US" altLang="zh-CN" dirty="0"/>
              <a:t>   </a:t>
            </a:r>
            <a:r>
              <a:rPr lang="zh-CN" altLang="en-US" dirty="0"/>
              <a:t>基于划分点</a:t>
            </a:r>
            <a:r>
              <a:rPr lang="en-US" altLang="zh-CN" dirty="0"/>
              <a:t>  </a:t>
            </a:r>
            <a:r>
              <a:rPr lang="zh-CN" altLang="en-US" dirty="0"/>
              <a:t>二分后的信息增益，于是， 就可选择使                 最大化的划分点</a:t>
            </a:r>
            <a:endParaRPr lang="en-US" altLang="zh-CN" dirty="0"/>
          </a:p>
          <a:p>
            <a:pPr marL="783000" lvl="2"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887521809"/>
              </p:ext>
            </p:extLst>
          </p:nvPr>
        </p:nvGraphicFramePr>
        <p:xfrm>
          <a:off x="3278188" y="3357899"/>
          <a:ext cx="4219575" cy="782638"/>
        </p:xfrm>
        <a:graphic>
          <a:graphicData uri="http://schemas.openxmlformats.org/presentationml/2006/ole">
            <mc:AlternateContent xmlns:mc="http://schemas.openxmlformats.org/markup-compatibility/2006">
              <mc:Choice xmlns:v="urn:schemas-microsoft-com:vml" Requires="v">
                <p:oleObj name="Formula" r:id="rId3" imgW="2467800" imgH="457200" progId="Equation.Ribbit">
                  <p:embed/>
                </p:oleObj>
              </mc:Choice>
              <mc:Fallback>
                <p:oleObj name="Formula" r:id="rId3" imgW="2467800" imgH="457200" progId="Equation.Ribbit">
                  <p:embed/>
                  <p:pic>
                    <p:nvPicPr>
                      <p:cNvPr id="4" name="对象 3"/>
                      <p:cNvPicPr/>
                      <p:nvPr/>
                    </p:nvPicPr>
                    <p:blipFill>
                      <a:blip r:embed="rId4"/>
                      <a:stretch>
                        <a:fillRect/>
                      </a:stretch>
                    </p:blipFill>
                    <p:spPr>
                      <a:xfrm>
                        <a:off x="3278188" y="3357899"/>
                        <a:ext cx="4219575" cy="78263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14470038"/>
              </p:ext>
            </p:extLst>
          </p:nvPr>
        </p:nvGraphicFramePr>
        <p:xfrm>
          <a:off x="1906588" y="2887999"/>
          <a:ext cx="3571875" cy="419100"/>
        </p:xfrm>
        <a:graphic>
          <a:graphicData uri="http://schemas.openxmlformats.org/presentationml/2006/ole">
            <mc:AlternateContent xmlns:mc="http://schemas.openxmlformats.org/markup-compatibility/2006">
              <mc:Choice xmlns:v="urn:schemas-microsoft-com:vml" Requires="v">
                <p:oleObj name="Formula" r:id="rId5" imgW="2043720" imgH="240120" progId="Equation.Ribbit">
                  <p:embed/>
                </p:oleObj>
              </mc:Choice>
              <mc:Fallback>
                <p:oleObj name="Formula" r:id="rId5" imgW="2043720" imgH="240120" progId="Equation.Ribbit">
                  <p:embed/>
                  <p:pic>
                    <p:nvPicPr>
                      <p:cNvPr id="5" name="对象 4"/>
                      <p:cNvPicPr/>
                      <p:nvPr/>
                    </p:nvPicPr>
                    <p:blipFill>
                      <a:blip r:embed="rId6"/>
                      <a:stretch>
                        <a:fillRect/>
                      </a:stretch>
                    </p:blipFill>
                    <p:spPr>
                      <a:xfrm>
                        <a:off x="1906588" y="2887999"/>
                        <a:ext cx="3571875" cy="4191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603471179"/>
              </p:ext>
            </p:extLst>
          </p:nvPr>
        </p:nvGraphicFramePr>
        <p:xfrm>
          <a:off x="1693199" y="4574293"/>
          <a:ext cx="1306512" cy="285750"/>
        </p:xfrm>
        <a:graphic>
          <a:graphicData uri="http://schemas.openxmlformats.org/presentationml/2006/ole">
            <mc:AlternateContent xmlns:mc="http://schemas.openxmlformats.org/markup-compatibility/2006">
              <mc:Choice xmlns:v="urn:schemas-microsoft-com:vml" Requires="v">
                <p:oleObj name="Formula" r:id="rId7" imgW="812880" imgH="177840" progId="Equation.Ribbit">
                  <p:embed/>
                </p:oleObj>
              </mc:Choice>
              <mc:Fallback>
                <p:oleObj name="Formula" r:id="rId7" imgW="812880" imgH="177840" progId="Equation.Ribbit">
                  <p:embed/>
                  <p:pic>
                    <p:nvPicPr>
                      <p:cNvPr id="6" name="对象 5"/>
                      <p:cNvPicPr/>
                      <p:nvPr/>
                    </p:nvPicPr>
                    <p:blipFill>
                      <a:blip r:embed="rId8"/>
                      <a:stretch>
                        <a:fillRect/>
                      </a:stretch>
                    </p:blipFill>
                    <p:spPr>
                      <a:xfrm>
                        <a:off x="1693199" y="4574293"/>
                        <a:ext cx="1306512" cy="28575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1497146"/>
              </p:ext>
            </p:extLst>
          </p:nvPr>
        </p:nvGraphicFramePr>
        <p:xfrm>
          <a:off x="2024063" y="4941266"/>
          <a:ext cx="1306512" cy="285750"/>
        </p:xfrm>
        <a:graphic>
          <a:graphicData uri="http://schemas.openxmlformats.org/presentationml/2006/ole">
            <mc:AlternateContent xmlns:mc="http://schemas.openxmlformats.org/markup-compatibility/2006">
              <mc:Choice xmlns:v="urn:schemas-microsoft-com:vml" Requires="v">
                <p:oleObj name="Formula" r:id="rId7" imgW="812880" imgH="177840" progId="Equation.Ribbit">
                  <p:embed/>
                </p:oleObj>
              </mc:Choice>
              <mc:Fallback>
                <p:oleObj name="Formula" r:id="rId7" imgW="812880" imgH="177840" progId="Equation.Ribbit">
                  <p:embed/>
                  <p:pic>
                    <p:nvPicPr>
                      <p:cNvPr id="7" name="对象 6"/>
                      <p:cNvPicPr/>
                      <p:nvPr/>
                    </p:nvPicPr>
                    <p:blipFill>
                      <a:blip r:embed="rId8"/>
                      <a:stretch>
                        <a:fillRect/>
                      </a:stretch>
                    </p:blipFill>
                    <p:spPr>
                      <a:xfrm>
                        <a:off x="2024063" y="4941266"/>
                        <a:ext cx="1306512" cy="28575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724847843"/>
              </p:ext>
            </p:extLst>
          </p:nvPr>
        </p:nvGraphicFramePr>
        <p:xfrm>
          <a:off x="4101135" y="4605991"/>
          <a:ext cx="205130" cy="251284"/>
        </p:xfrm>
        <a:graphic>
          <a:graphicData uri="http://schemas.openxmlformats.org/presentationml/2006/ole">
            <mc:AlternateContent xmlns:mc="http://schemas.openxmlformats.org/markup-compatibility/2006">
              <mc:Choice xmlns:v="urn:schemas-microsoft-com:vml" Requires="v">
                <p:oleObj name="Formula" r:id="rId9" imgW="127080" imgH="155160" progId="Equation.Ribbit">
                  <p:embed/>
                </p:oleObj>
              </mc:Choice>
              <mc:Fallback>
                <p:oleObj name="Formula" r:id="rId9" imgW="127080" imgH="155160" progId="Equation.Ribbit">
                  <p:embed/>
                  <p:pic>
                    <p:nvPicPr>
                      <p:cNvPr id="8" name="对象 7"/>
                      <p:cNvPicPr/>
                      <p:nvPr/>
                    </p:nvPicPr>
                    <p:blipFill>
                      <a:blip r:embed="rId10"/>
                      <a:stretch>
                        <a:fillRect/>
                      </a:stretch>
                    </p:blipFill>
                    <p:spPr>
                      <a:xfrm>
                        <a:off x="4101135" y="4605991"/>
                        <a:ext cx="205130" cy="251284"/>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500871767"/>
              </p:ext>
            </p:extLst>
          </p:nvPr>
        </p:nvGraphicFramePr>
        <p:xfrm>
          <a:off x="5653051" y="4573770"/>
          <a:ext cx="112713" cy="311150"/>
        </p:xfrm>
        <a:graphic>
          <a:graphicData uri="http://schemas.openxmlformats.org/presentationml/2006/ole">
            <mc:AlternateContent xmlns:mc="http://schemas.openxmlformats.org/markup-compatibility/2006">
              <mc:Choice xmlns:v="urn:schemas-microsoft-com:vml" Requires="v">
                <p:oleObj name="Formula" r:id="rId11" imgW="57240" imgH="157680" progId="Equation.Ribbit">
                  <p:embed/>
                </p:oleObj>
              </mc:Choice>
              <mc:Fallback>
                <p:oleObj name="Formula" r:id="rId11" imgW="57240" imgH="157680" progId="Equation.Ribbit">
                  <p:embed/>
                  <p:pic>
                    <p:nvPicPr>
                      <p:cNvPr id="9" name="对象 8"/>
                      <p:cNvPicPr/>
                      <p:nvPr/>
                    </p:nvPicPr>
                    <p:blipFill>
                      <a:blip r:embed="rId12"/>
                      <a:stretch>
                        <a:fillRect/>
                      </a:stretch>
                    </p:blipFill>
                    <p:spPr>
                      <a:xfrm>
                        <a:off x="5653051" y="4573770"/>
                        <a:ext cx="112713" cy="311150"/>
                      </a:xfrm>
                      <a:prstGeom prst="rect">
                        <a:avLst/>
                      </a:prstGeom>
                    </p:spPr>
                  </p:pic>
                </p:oleObj>
              </mc:Fallback>
            </mc:AlternateContent>
          </a:graphicData>
        </a:graphic>
      </p:graphicFrame>
    </p:spTree>
    <p:extLst>
      <p:ext uri="{BB962C8B-B14F-4D97-AF65-F5344CB8AC3E}">
        <p14:creationId xmlns:p14="http://schemas.microsoft.com/office/powerpoint/2010/main" val="3156635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连续值处理</a:t>
            </a:r>
          </a:p>
        </p:txBody>
      </p:sp>
      <p:pic>
        <p:nvPicPr>
          <p:cNvPr id="4" name="内容占位符 3"/>
          <p:cNvPicPr>
            <a:picLocks noGrp="1" noChangeAspect="1"/>
          </p:cNvPicPr>
          <p:nvPr>
            <p:ph idx="1"/>
          </p:nvPr>
        </p:nvPicPr>
        <p:blipFill>
          <a:blip r:embed="rId2"/>
          <a:stretch>
            <a:fillRect/>
          </a:stretch>
        </p:blipFill>
        <p:spPr>
          <a:xfrm>
            <a:off x="185901" y="1446724"/>
            <a:ext cx="5701167" cy="3592023"/>
          </a:xfrm>
          <a:prstGeom prst="rect">
            <a:avLst/>
          </a:prstGeom>
        </p:spPr>
      </p:pic>
      <p:sp>
        <p:nvSpPr>
          <p:cNvPr id="5" name="文本框 4"/>
          <p:cNvSpPr txBox="1"/>
          <p:nvPr/>
        </p:nvSpPr>
        <p:spPr>
          <a:xfrm>
            <a:off x="5977476" y="1380962"/>
            <a:ext cx="2938072" cy="2806922"/>
          </a:xfrm>
          <a:prstGeom prst="rect">
            <a:avLst/>
          </a:prstGeom>
          <a:noFill/>
        </p:spPr>
        <p:txBody>
          <a:bodyPr wrap="square" rtlCol="0">
            <a:spAutoFit/>
          </a:bodyPr>
          <a:lstStyle/>
          <a:p>
            <a:pPr>
              <a:lnSpc>
                <a:spcPct val="120000"/>
              </a:lnSpc>
            </a:pPr>
            <a:r>
              <a:rPr lang="zh-CN" altLang="en-US" dirty="0"/>
              <a:t>对属性“密度”，其候选划分点集合包含</a:t>
            </a:r>
            <a:r>
              <a:rPr lang="en-US" altLang="zh-CN" dirty="0"/>
              <a:t>    </a:t>
            </a:r>
            <a:r>
              <a:rPr lang="zh-CN" altLang="en-US" dirty="0"/>
              <a:t>个候选值：</a:t>
            </a:r>
            <a:endParaRPr lang="en-US" altLang="zh-CN" dirty="0"/>
          </a:p>
          <a:p>
            <a:endParaRPr lang="en-US" altLang="zh-CN" dirty="0"/>
          </a:p>
          <a:p>
            <a:endParaRPr lang="en-US" altLang="zh-CN" dirty="0"/>
          </a:p>
          <a:p>
            <a:endParaRPr lang="en-US" altLang="zh-CN" dirty="0"/>
          </a:p>
          <a:p>
            <a:endParaRPr lang="en-US" altLang="zh-CN" dirty="0"/>
          </a:p>
          <a:p>
            <a:pPr>
              <a:lnSpc>
                <a:spcPct val="120000"/>
              </a:lnSpc>
            </a:pPr>
            <a:r>
              <a:rPr lang="zh-CN" altLang="en-US" dirty="0"/>
              <a:t>可计算其信息增益为       ，对应划分点为</a:t>
            </a:r>
            <a:endParaRPr lang="en-US" altLang="zh-CN" dirty="0"/>
          </a:p>
          <a:p>
            <a:r>
              <a:rPr lang="en-US" altLang="zh-CN" dirty="0"/>
              <a:t>      </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457118819"/>
              </p:ext>
            </p:extLst>
          </p:nvPr>
        </p:nvGraphicFramePr>
        <p:xfrm>
          <a:off x="6115836" y="2151445"/>
          <a:ext cx="2820988" cy="1004887"/>
        </p:xfrm>
        <a:graphic>
          <a:graphicData uri="http://schemas.openxmlformats.org/presentationml/2006/ole">
            <mc:AlternateContent xmlns:mc="http://schemas.openxmlformats.org/markup-compatibility/2006">
              <mc:Choice xmlns:v="urn:schemas-microsoft-com:vml" Requires="v">
                <p:oleObj name="Formula" r:id="rId3" imgW="1998000" imgH="727920" progId="Equation.Ribbit">
                  <p:embed/>
                </p:oleObj>
              </mc:Choice>
              <mc:Fallback>
                <p:oleObj name="Formula" r:id="rId3" imgW="1998000" imgH="727920" progId="Equation.Ribbit">
                  <p:embed/>
                  <p:pic>
                    <p:nvPicPr>
                      <p:cNvPr id="6" name="对象 5"/>
                      <p:cNvPicPr/>
                      <p:nvPr/>
                    </p:nvPicPr>
                    <p:blipFill>
                      <a:blip r:embed="rId4"/>
                      <a:stretch>
                        <a:fillRect/>
                      </a:stretch>
                    </p:blipFill>
                    <p:spPr>
                      <a:xfrm>
                        <a:off x="6115836" y="2151445"/>
                        <a:ext cx="2820988" cy="100488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71808456"/>
              </p:ext>
            </p:extLst>
          </p:nvPr>
        </p:nvGraphicFramePr>
        <p:xfrm>
          <a:off x="8148638" y="3239608"/>
          <a:ext cx="519112" cy="252413"/>
        </p:xfrm>
        <a:graphic>
          <a:graphicData uri="http://schemas.openxmlformats.org/presentationml/2006/ole">
            <mc:AlternateContent xmlns:mc="http://schemas.openxmlformats.org/markup-compatibility/2006">
              <mc:Choice xmlns:v="urn:schemas-microsoft-com:vml" Requires="v">
                <p:oleObj name="Formula" r:id="rId5" imgW="338040" imgH="162720" progId="Equation.Ribbit">
                  <p:embed/>
                </p:oleObj>
              </mc:Choice>
              <mc:Fallback>
                <p:oleObj name="Formula" r:id="rId5" imgW="338040" imgH="162720" progId="Equation.Ribbit">
                  <p:embed/>
                  <p:pic>
                    <p:nvPicPr>
                      <p:cNvPr id="8" name="对象 7"/>
                      <p:cNvPicPr/>
                      <p:nvPr/>
                    </p:nvPicPr>
                    <p:blipFill>
                      <a:blip r:embed="rId6"/>
                      <a:stretch>
                        <a:fillRect/>
                      </a:stretch>
                    </p:blipFill>
                    <p:spPr>
                      <a:xfrm>
                        <a:off x="8148638" y="3239608"/>
                        <a:ext cx="519112" cy="25241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72955745"/>
              </p:ext>
            </p:extLst>
          </p:nvPr>
        </p:nvGraphicFramePr>
        <p:xfrm>
          <a:off x="7469188" y="3561061"/>
          <a:ext cx="511175" cy="250825"/>
        </p:xfrm>
        <a:graphic>
          <a:graphicData uri="http://schemas.openxmlformats.org/presentationml/2006/ole">
            <mc:AlternateContent xmlns:mc="http://schemas.openxmlformats.org/markup-compatibility/2006">
              <mc:Choice xmlns:v="urn:schemas-microsoft-com:vml" Requires="v">
                <p:oleObj name="Formula" r:id="rId7" imgW="333000" imgH="162720" progId="Equation.Ribbit">
                  <p:embed/>
                </p:oleObj>
              </mc:Choice>
              <mc:Fallback>
                <p:oleObj name="Formula" r:id="rId7" imgW="333000" imgH="162720" progId="Equation.Ribbit">
                  <p:embed/>
                  <p:pic>
                    <p:nvPicPr>
                      <p:cNvPr id="9" name="对象 8"/>
                      <p:cNvPicPr/>
                      <p:nvPr/>
                    </p:nvPicPr>
                    <p:blipFill>
                      <a:blip r:embed="rId8"/>
                      <a:stretch>
                        <a:fillRect/>
                      </a:stretch>
                    </p:blipFill>
                    <p:spPr>
                      <a:xfrm>
                        <a:off x="7469188" y="3561061"/>
                        <a:ext cx="511175" cy="250825"/>
                      </a:xfrm>
                      <a:prstGeom prst="rect">
                        <a:avLst/>
                      </a:prstGeom>
                    </p:spPr>
                  </p:pic>
                </p:oleObj>
              </mc:Fallback>
            </mc:AlternateContent>
          </a:graphicData>
        </a:graphic>
      </p:graphicFrame>
      <p:sp>
        <p:nvSpPr>
          <p:cNvPr id="10" name="文本框 9"/>
          <p:cNvSpPr txBox="1"/>
          <p:nvPr/>
        </p:nvSpPr>
        <p:spPr>
          <a:xfrm>
            <a:off x="5977476" y="4102899"/>
            <a:ext cx="2980623" cy="720390"/>
          </a:xfrm>
          <a:prstGeom prst="rect">
            <a:avLst/>
          </a:prstGeom>
          <a:noFill/>
        </p:spPr>
        <p:txBody>
          <a:bodyPr wrap="square" rtlCol="0">
            <a:spAutoFit/>
          </a:bodyPr>
          <a:lstStyle/>
          <a:p>
            <a:pPr>
              <a:lnSpc>
                <a:spcPct val="120000"/>
              </a:lnSpc>
            </a:pPr>
            <a:r>
              <a:rPr lang="zh-CN" altLang="en-US" dirty="0"/>
              <a:t>对属性“含糖量”进行同样处理</a:t>
            </a:r>
          </a:p>
        </p:txBody>
      </p:sp>
      <p:sp>
        <p:nvSpPr>
          <p:cNvPr id="11" name="Rectangle 3"/>
          <p:cNvSpPr>
            <a:spLocks noChangeArrowheads="1"/>
          </p:cNvSpPr>
          <p:nvPr/>
        </p:nvSpPr>
        <p:spPr bwMode="auto">
          <a:xfrm>
            <a:off x="1698028" y="5255919"/>
            <a:ext cx="5881491" cy="1024736"/>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lgn="ctr">
              <a:lnSpc>
                <a:spcPts val="3200"/>
              </a:lnSpc>
              <a:buNone/>
            </a:pPr>
            <a:r>
              <a:rPr lang="zh-CN" altLang="en-US" sz="2200" dirty="0">
                <a:latin typeface="幼圆" panose="02010509060101010101" pitchFamily="49" charset="-122"/>
                <a:ea typeface="幼圆" panose="02010509060101010101" pitchFamily="49" charset="-122"/>
              </a:rPr>
              <a:t>与离散属性不同，若当前结点划分属性为连续属性，</a:t>
            </a:r>
            <a:r>
              <a:rPr lang="zh-CN" altLang="en-US" sz="2200" dirty="0">
                <a:solidFill>
                  <a:srgbClr val="C00000"/>
                </a:solidFill>
                <a:latin typeface="幼圆" panose="02010509060101010101" pitchFamily="49" charset="-122"/>
                <a:ea typeface="幼圆" panose="02010509060101010101" pitchFamily="49" charset="-122"/>
              </a:rPr>
              <a:t>该属性还可作为其后代结点的划分属性</a:t>
            </a:r>
            <a:endParaRPr lang="zh-CN" altLang="en-US" sz="2200" i="0" dirty="0">
              <a:solidFill>
                <a:srgbClr val="C00000"/>
              </a:solidFill>
              <a:latin typeface="幼圆" panose="02010509060101010101" pitchFamily="49" charset="-122"/>
              <a:ea typeface="幼圆" panose="02010509060101010101"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81880763"/>
              </p:ext>
            </p:extLst>
          </p:nvPr>
        </p:nvGraphicFramePr>
        <p:xfrm>
          <a:off x="7458075" y="1791510"/>
          <a:ext cx="242888" cy="282575"/>
        </p:xfrm>
        <a:graphic>
          <a:graphicData uri="http://schemas.openxmlformats.org/presentationml/2006/ole">
            <mc:AlternateContent xmlns:mc="http://schemas.openxmlformats.org/markup-compatibility/2006">
              <mc:Choice xmlns:v="urn:schemas-microsoft-com:vml" Requires="v">
                <p:oleObj name="Formula" r:id="rId9" imgW="141120" imgH="162720" progId="Equation.Ribbit">
                  <p:embed/>
                </p:oleObj>
              </mc:Choice>
              <mc:Fallback>
                <p:oleObj name="Formula" r:id="rId9" imgW="141120" imgH="162720" progId="Equation.Ribbit">
                  <p:embed/>
                  <p:pic>
                    <p:nvPicPr>
                      <p:cNvPr id="3" name="对象 2"/>
                      <p:cNvPicPr/>
                      <p:nvPr/>
                    </p:nvPicPr>
                    <p:blipFill>
                      <a:blip r:embed="rId10"/>
                      <a:stretch>
                        <a:fillRect/>
                      </a:stretch>
                    </p:blipFill>
                    <p:spPr>
                      <a:xfrm>
                        <a:off x="7458075" y="1791510"/>
                        <a:ext cx="242888" cy="282575"/>
                      </a:xfrm>
                      <a:prstGeom prst="rect">
                        <a:avLst/>
                      </a:prstGeom>
                    </p:spPr>
                  </p:pic>
                </p:oleObj>
              </mc:Fallback>
            </mc:AlternateContent>
          </a:graphicData>
        </a:graphic>
      </p:graphicFrame>
      <p:sp>
        <p:nvSpPr>
          <p:cNvPr id="12" name="文本占位符 2"/>
          <p:cNvSpPr txBox="1">
            <a:spLocks/>
          </p:cNvSpPr>
          <p:nvPr/>
        </p:nvSpPr>
        <p:spPr>
          <a:xfrm>
            <a:off x="260350" y="989524"/>
            <a:ext cx="8629650" cy="457200"/>
          </a:xfrm>
          <a:prstGeom prst="rect">
            <a:avLst/>
          </a:prstGeom>
        </p:spPr>
        <p:txBody>
          <a:bodyPr>
            <a:noAutofit/>
          </a:bodyPr>
          <a:lst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000" dirty="0">
                <a:solidFill>
                  <a:schemeClr val="tx2"/>
                </a:solidFill>
                <a:latin typeface="微软雅黑" panose="020B0503020204020204" pitchFamily="34" charset="-122"/>
                <a:ea typeface="微软雅黑" panose="020B0503020204020204" pitchFamily="34" charset="-122"/>
              </a:rPr>
              <a:t>连续值处理实例</a:t>
            </a:r>
          </a:p>
        </p:txBody>
      </p:sp>
    </p:spTree>
    <p:extLst>
      <p:ext uri="{BB962C8B-B14F-4D97-AF65-F5344CB8AC3E}">
        <p14:creationId xmlns:p14="http://schemas.microsoft.com/office/powerpoint/2010/main" val="130113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连续与缺失值 </a:t>
            </a:r>
            <a:r>
              <a:rPr lang="en-US" altLang="zh-CN" dirty="0"/>
              <a:t>– </a:t>
            </a:r>
            <a:r>
              <a:rPr lang="zh-CN" altLang="en-US" dirty="0"/>
              <a:t>缺失值处理</a:t>
            </a:r>
          </a:p>
        </p:txBody>
      </p:sp>
      <p:sp>
        <p:nvSpPr>
          <p:cNvPr id="3" name="内容占位符 2"/>
          <p:cNvSpPr>
            <a:spLocks noGrp="1"/>
          </p:cNvSpPr>
          <p:nvPr>
            <p:ph idx="1"/>
          </p:nvPr>
        </p:nvSpPr>
        <p:spPr>
          <a:xfrm>
            <a:off x="260350" y="1073888"/>
            <a:ext cx="8616950" cy="5015423"/>
          </a:xfrm>
        </p:spPr>
        <p:txBody>
          <a:bodyPr>
            <a:normAutofit/>
          </a:bodyPr>
          <a:lstStyle/>
          <a:p>
            <a:r>
              <a:rPr lang="zh-CN" altLang="en-US" dirty="0"/>
              <a:t>现实任务中常遇到不完整样本，即样本的某些属性值缺失</a:t>
            </a:r>
            <a:endParaRPr lang="en-US" altLang="zh-CN" dirty="0"/>
          </a:p>
          <a:p>
            <a:pPr>
              <a:lnSpc>
                <a:spcPts val="200"/>
              </a:lnSpc>
            </a:pPr>
            <a:endParaRPr lang="en-US" altLang="zh-CN" dirty="0"/>
          </a:p>
          <a:p>
            <a:r>
              <a:rPr lang="zh-CN" altLang="en-US" dirty="0"/>
              <a:t>简单地放弃不完整样本，仅使用无缺失的样本进行学习</a:t>
            </a:r>
            <a:r>
              <a:rPr lang="en-US" altLang="zh-CN" dirty="0"/>
              <a:t>? </a:t>
            </a:r>
          </a:p>
          <a:p>
            <a:pPr marL="0" indent="0">
              <a:buNone/>
            </a:pPr>
            <a:endParaRPr lang="en-US" altLang="zh-CN" dirty="0"/>
          </a:p>
          <a:p>
            <a:pPr marL="0" indent="0">
              <a:buNone/>
            </a:pPr>
            <a:endParaRPr lang="en-US" altLang="zh-CN" dirty="0"/>
          </a:p>
          <a:p>
            <a:pPr marL="0" indent="0">
              <a:lnSpc>
                <a:spcPct val="10000"/>
              </a:lnSpc>
              <a:buNone/>
            </a:pPr>
            <a:endParaRPr lang="en-US" altLang="zh-CN" dirty="0"/>
          </a:p>
          <a:p>
            <a:r>
              <a:rPr lang="en-US" altLang="zh-CN" dirty="0"/>
              <a:t> </a:t>
            </a:r>
            <a:r>
              <a:rPr lang="zh-CN" altLang="en-US" dirty="0"/>
              <a:t>使用有缺失值的样本，需要解决哪些问题？</a:t>
            </a:r>
            <a:endParaRPr lang="en-US" altLang="zh-CN" dirty="0"/>
          </a:p>
          <a:p>
            <a:endParaRPr lang="en-US" altLang="zh-CN" dirty="0"/>
          </a:p>
          <a:p>
            <a:pPr marL="0" indent="0">
              <a:buNone/>
            </a:pPr>
            <a:endParaRPr lang="en-US" altLang="zh-CN" dirty="0"/>
          </a:p>
          <a:p>
            <a:pPr marL="325800" lvl="1" indent="0">
              <a:buNone/>
            </a:pPr>
            <a:endParaRPr lang="en-US" altLang="zh-CN" dirty="0"/>
          </a:p>
        </p:txBody>
      </p:sp>
      <p:sp>
        <p:nvSpPr>
          <p:cNvPr id="4" name="Rectangle 3"/>
          <p:cNvSpPr>
            <a:spLocks noChangeArrowheads="1"/>
          </p:cNvSpPr>
          <p:nvPr/>
        </p:nvSpPr>
        <p:spPr bwMode="auto">
          <a:xfrm>
            <a:off x="2590216" y="2192120"/>
            <a:ext cx="3558017" cy="628677"/>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indent="0">
              <a:buNone/>
            </a:pPr>
            <a:r>
              <a:rPr lang="zh-CN" altLang="en-US" sz="2400" dirty="0"/>
              <a:t>  </a:t>
            </a:r>
            <a:r>
              <a:rPr lang="zh-CN" altLang="en-US" sz="2200" dirty="0">
                <a:latin typeface="幼圆" panose="02010509060101010101" pitchFamily="49" charset="-122"/>
                <a:ea typeface="幼圆" panose="02010509060101010101" pitchFamily="49" charset="-122"/>
              </a:rPr>
              <a:t>对数据信息极大的浪费</a:t>
            </a:r>
            <a:endParaRPr lang="en-US" altLang="zh-CN" sz="2200" dirty="0">
              <a:latin typeface="幼圆" panose="02010509060101010101" pitchFamily="49" charset="-122"/>
              <a:ea typeface="幼圆" panose="02010509060101010101" pitchFamily="49" charset="-122"/>
            </a:endParaRPr>
          </a:p>
        </p:txBody>
      </p:sp>
      <p:sp>
        <p:nvSpPr>
          <p:cNvPr id="6" name="Rectangle 3"/>
          <p:cNvSpPr>
            <a:spLocks noChangeArrowheads="1"/>
          </p:cNvSpPr>
          <p:nvPr/>
        </p:nvSpPr>
        <p:spPr bwMode="auto">
          <a:xfrm>
            <a:off x="1303676" y="3734108"/>
            <a:ext cx="6543152" cy="606192"/>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lvl="1" indent="0">
              <a:buNone/>
            </a:pPr>
            <a:r>
              <a:rPr lang="en-US" altLang="zh-CN" sz="2200" dirty="0">
                <a:latin typeface="幼圆" panose="02010509060101010101" pitchFamily="49" charset="-122"/>
                <a:ea typeface="幼圆" panose="02010509060101010101" pitchFamily="49" charset="-122"/>
              </a:rPr>
              <a:t>Q1</a:t>
            </a:r>
            <a:r>
              <a:rPr lang="zh-CN" altLang="en-US" sz="2200" dirty="0">
                <a:latin typeface="幼圆" panose="02010509060101010101" pitchFamily="49" charset="-122"/>
                <a:ea typeface="幼圆" panose="02010509060101010101" pitchFamily="49" charset="-122"/>
              </a:rPr>
              <a:t>：如何在属性值缺失的情况下进行划分属性选择？</a:t>
            </a:r>
            <a:endParaRPr lang="en-US" altLang="zh-CN" sz="2200" dirty="0">
              <a:latin typeface="幼圆" panose="02010509060101010101" pitchFamily="49" charset="-122"/>
              <a:ea typeface="幼圆" panose="02010509060101010101" pitchFamily="49" charset="-122"/>
            </a:endParaRPr>
          </a:p>
        </p:txBody>
      </p:sp>
      <p:sp>
        <p:nvSpPr>
          <p:cNvPr id="7" name="Rectangle 3"/>
          <p:cNvSpPr>
            <a:spLocks noChangeArrowheads="1"/>
          </p:cNvSpPr>
          <p:nvPr/>
        </p:nvSpPr>
        <p:spPr bwMode="auto">
          <a:xfrm>
            <a:off x="1303676" y="4593450"/>
            <a:ext cx="6543152" cy="831680"/>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0" lvl="1" indent="0">
              <a:buNone/>
            </a:pPr>
            <a:r>
              <a:rPr lang="en-US" altLang="zh-CN" sz="2200" dirty="0">
                <a:latin typeface="幼圆" panose="02010509060101010101" pitchFamily="49" charset="-122"/>
                <a:ea typeface="幼圆" panose="02010509060101010101" pitchFamily="49" charset="-122"/>
              </a:rPr>
              <a:t>Q2</a:t>
            </a:r>
            <a:r>
              <a:rPr lang="zh-CN" altLang="en-US" sz="2200" dirty="0">
                <a:latin typeface="幼圆" panose="02010509060101010101" pitchFamily="49" charset="-122"/>
                <a:ea typeface="幼圆" panose="02010509060101010101" pitchFamily="49" charset="-122"/>
              </a:rPr>
              <a:t>：给定划分属性</a:t>
            </a:r>
            <a:r>
              <a:rPr lang="en-US" altLang="zh-CN" sz="2200" dirty="0">
                <a:latin typeface="幼圆" panose="02010509060101010101" pitchFamily="49" charset="-122"/>
                <a:ea typeface="幼圆" panose="02010509060101010101" pitchFamily="49" charset="-122"/>
              </a:rPr>
              <a:t>,</a:t>
            </a:r>
            <a:r>
              <a:rPr lang="zh-CN" altLang="en-US" sz="2200" dirty="0">
                <a:latin typeface="幼圆" panose="02010509060101010101" pitchFamily="49" charset="-122"/>
                <a:ea typeface="幼圆" panose="02010509060101010101" pitchFamily="49" charset="-122"/>
              </a:rPr>
              <a:t>若样本在该属性上的值缺失，如何对样本进行划分？</a:t>
            </a:r>
            <a:endParaRPr lang="en-US" altLang="zh-CN" sz="220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48282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连续与缺失值 </a:t>
            </a:r>
            <a:r>
              <a:rPr lang="en-US" altLang="zh-CN" dirty="0"/>
              <a:t>– </a:t>
            </a:r>
            <a:r>
              <a:rPr lang="zh-CN" altLang="en-US" dirty="0"/>
              <a:t>缺失值处理</a:t>
            </a:r>
          </a:p>
        </p:txBody>
      </p:sp>
      <p:sp>
        <p:nvSpPr>
          <p:cNvPr id="5" name="内容占位符 2"/>
          <p:cNvSpPr>
            <a:spLocks noGrp="1"/>
          </p:cNvSpPr>
          <p:nvPr>
            <p:ph idx="1"/>
          </p:nvPr>
        </p:nvSpPr>
        <p:spPr>
          <a:xfrm>
            <a:off x="260350" y="1010094"/>
            <a:ext cx="8616950" cy="5433236"/>
          </a:xfrm>
        </p:spPr>
        <p:txBody>
          <a:bodyPr/>
          <a:lstStyle/>
          <a:p>
            <a:pPr marL="342900" indent="-342900">
              <a:lnSpc>
                <a:spcPct val="120000"/>
              </a:lnSpc>
            </a:pPr>
            <a:r>
              <a:rPr lang="zh-CN" altLang="en-US" dirty="0"/>
              <a:t>  表示</a:t>
            </a:r>
            <a:r>
              <a:rPr lang="en-US" altLang="zh-CN" dirty="0"/>
              <a:t>   </a:t>
            </a:r>
            <a:r>
              <a:rPr lang="zh-CN" altLang="en-US" dirty="0"/>
              <a:t>中在属性</a:t>
            </a:r>
            <a:r>
              <a:rPr lang="en-US" altLang="zh-CN" dirty="0"/>
              <a:t>  </a:t>
            </a:r>
            <a:r>
              <a:rPr lang="zh-CN" altLang="en-US" dirty="0"/>
              <a:t>上没有缺失值的样本子集，</a:t>
            </a:r>
            <a:r>
              <a:rPr lang="en-US" altLang="zh-CN" dirty="0"/>
              <a:t>  </a:t>
            </a:r>
            <a:r>
              <a:rPr lang="zh-CN" altLang="en-US" dirty="0"/>
              <a:t>表示    中在属性</a:t>
            </a:r>
            <a:r>
              <a:rPr lang="en-US" altLang="zh-CN" dirty="0"/>
              <a:t>  </a:t>
            </a:r>
            <a:r>
              <a:rPr lang="zh-CN" altLang="en-US" dirty="0"/>
              <a:t>上取值为   的样本子集，  表示   中属于第</a:t>
            </a:r>
            <a:r>
              <a:rPr lang="en-US" altLang="zh-CN" dirty="0"/>
              <a:t>  </a:t>
            </a:r>
            <a:r>
              <a:rPr lang="zh-CN" altLang="en-US" dirty="0"/>
              <a:t>类的样本子集</a:t>
            </a:r>
            <a:endParaRPr lang="en-US" altLang="zh-CN" dirty="0"/>
          </a:p>
          <a:p>
            <a:pPr marL="342900" indent="-342900">
              <a:lnSpc>
                <a:spcPts val="200"/>
              </a:lnSpc>
            </a:pPr>
            <a:endParaRPr lang="en-US" altLang="zh-CN" dirty="0"/>
          </a:p>
          <a:p>
            <a:pPr marL="0" indent="0">
              <a:buNone/>
            </a:pPr>
            <a:r>
              <a:rPr lang="zh-CN" altLang="en-US" dirty="0"/>
              <a:t>   为每个样本</a:t>
            </a:r>
            <a:r>
              <a:rPr lang="en-US" altLang="zh-CN" dirty="0"/>
              <a:t>   </a:t>
            </a:r>
            <a:r>
              <a:rPr lang="zh-CN" altLang="en-US" dirty="0"/>
              <a:t>赋予一个权重    ，并定义：</a:t>
            </a:r>
            <a:endParaRPr lang="en-US" altLang="zh-CN" dirty="0"/>
          </a:p>
          <a:p>
            <a:pPr marL="0" indent="0">
              <a:lnSpc>
                <a:spcPct val="10000"/>
              </a:lnSpc>
              <a:buNone/>
            </a:pPr>
            <a:endParaRPr lang="en-US" altLang="zh-CN" dirty="0"/>
          </a:p>
          <a:p>
            <a:pPr marL="800100" lvl="1" indent="-342900"/>
            <a:r>
              <a:rPr lang="en-US" altLang="zh-CN" dirty="0"/>
              <a:t>	</a:t>
            </a:r>
            <a:r>
              <a:rPr lang="zh-CN" altLang="en-US" dirty="0"/>
              <a:t>无缺失值样本所占的比例</a:t>
            </a:r>
          </a:p>
          <a:p>
            <a:pPr marL="800100" lvl="1" indent="-342900"/>
            <a:endParaRPr lang="en-US" altLang="zh-CN" dirty="0"/>
          </a:p>
          <a:p>
            <a:pPr marL="800100" lvl="1" indent="-342900"/>
            <a:endParaRPr lang="en-US" altLang="zh-CN" dirty="0"/>
          </a:p>
          <a:p>
            <a:pPr marL="800100" lvl="1" indent="-342900">
              <a:lnSpc>
                <a:spcPct val="80000"/>
              </a:lnSpc>
            </a:pPr>
            <a:endParaRPr lang="en-US" altLang="zh-CN" dirty="0"/>
          </a:p>
          <a:p>
            <a:pPr marL="800100" lvl="1" indent="-342900"/>
            <a:r>
              <a:rPr lang="zh-CN" altLang="en-US" dirty="0"/>
              <a:t>无缺失值样本中第</a:t>
            </a:r>
            <a:r>
              <a:rPr lang="en-US" altLang="zh-CN" dirty="0"/>
              <a:t>   </a:t>
            </a:r>
            <a:r>
              <a:rPr lang="zh-CN" altLang="en-US" dirty="0"/>
              <a:t>类所占比例</a:t>
            </a:r>
            <a:endParaRPr lang="en-US" altLang="zh-CN" dirty="0"/>
          </a:p>
          <a:p>
            <a:pPr marL="800100" lvl="1" indent="-342900"/>
            <a:endParaRPr lang="zh-CN" altLang="en-US" dirty="0"/>
          </a:p>
          <a:p>
            <a:pPr marL="800100" lvl="1" indent="-342900"/>
            <a:endParaRPr lang="en-US" altLang="zh-CN" dirty="0"/>
          </a:p>
          <a:p>
            <a:pPr marL="800100" lvl="1" indent="-342900">
              <a:lnSpc>
                <a:spcPct val="80000"/>
              </a:lnSpc>
            </a:pPr>
            <a:endParaRPr lang="en-US" altLang="zh-CN" dirty="0"/>
          </a:p>
          <a:p>
            <a:pPr marL="800100" lvl="1" indent="-342900"/>
            <a:r>
              <a:rPr lang="zh-CN" altLang="en-US" dirty="0"/>
              <a:t>无缺失值样本中在属性</a:t>
            </a:r>
            <a:r>
              <a:rPr lang="en-US" altLang="zh-CN" dirty="0"/>
              <a:t>  </a:t>
            </a:r>
            <a:r>
              <a:rPr lang="zh-CN" altLang="en-US" dirty="0"/>
              <a:t>上取值    的样本所占比例</a:t>
            </a:r>
          </a:p>
          <a:p>
            <a:pPr marL="800100" lvl="1" indent="-342900"/>
            <a:endParaRPr lang="en-US" altLang="zh-CN" dirty="0"/>
          </a:p>
          <a:p>
            <a:pPr marL="0" indent="0">
              <a:buNone/>
            </a:pPr>
            <a:endParaRPr lang="en-US" altLang="zh-CN" dirty="0"/>
          </a:p>
          <a:p>
            <a:pPr lvl="1">
              <a:buFont typeface="Wingdings" panose="05000000000000000000" pitchFamily="2" charset="2"/>
              <a:buChar char="p"/>
            </a:pPr>
            <a:endParaRPr lang="en-US" altLang="zh-CN" dirty="0"/>
          </a:p>
          <a:p>
            <a:pPr marL="0" indent="0">
              <a:buNone/>
            </a:pPr>
            <a:endParaRPr lang="en-US" altLang="zh-CN" dirty="0"/>
          </a:p>
          <a:p>
            <a:pPr lvl="1"/>
            <a:endParaRPr lang="en-US" altLang="zh-CN" dirty="0"/>
          </a:p>
          <a:p>
            <a:pPr marL="325800" lvl="1" indent="0">
              <a:buNone/>
            </a:pPr>
            <a:endParaRPr lang="en-US" altLang="zh-CN" dirty="0"/>
          </a:p>
          <a:p>
            <a:pPr marL="325800" lvl="1" indent="0">
              <a:buNone/>
            </a:pPr>
            <a:endParaRPr lang="en-US" altLang="zh-CN" dirty="0"/>
          </a:p>
        </p:txBody>
      </p:sp>
      <p:graphicFrame>
        <p:nvGraphicFramePr>
          <p:cNvPr id="4" name="对象 3"/>
          <p:cNvGraphicFramePr>
            <a:graphicFrameLocks noChangeAspect="1"/>
          </p:cNvGraphicFramePr>
          <p:nvPr>
            <p:extLst>
              <p:ext uri="{D42A27DB-BD31-4B8C-83A1-F6EECF244321}">
                <p14:modId xmlns:p14="http://schemas.microsoft.com/office/powerpoint/2010/main" val="1135186183"/>
              </p:ext>
            </p:extLst>
          </p:nvPr>
        </p:nvGraphicFramePr>
        <p:xfrm>
          <a:off x="625475" y="1094449"/>
          <a:ext cx="222250" cy="360362"/>
        </p:xfrm>
        <a:graphic>
          <a:graphicData uri="http://schemas.openxmlformats.org/presentationml/2006/ole">
            <mc:AlternateContent xmlns:mc="http://schemas.openxmlformats.org/markup-compatibility/2006">
              <mc:Choice xmlns:v="urn:schemas-microsoft-com:vml" Requires="v">
                <p:oleObj name="Formula" r:id="rId2" imgW="124560" imgH="201960" progId="Equation.Ribbit">
                  <p:embed/>
                </p:oleObj>
              </mc:Choice>
              <mc:Fallback>
                <p:oleObj name="Formula" r:id="rId2" imgW="124560" imgH="201960" progId="Equation.Ribbit">
                  <p:embed/>
                  <p:pic>
                    <p:nvPicPr>
                      <p:cNvPr id="4" name="对象 3"/>
                      <p:cNvPicPr/>
                      <p:nvPr/>
                    </p:nvPicPr>
                    <p:blipFill>
                      <a:blip r:embed="rId3"/>
                      <a:stretch>
                        <a:fillRect/>
                      </a:stretch>
                    </p:blipFill>
                    <p:spPr>
                      <a:xfrm>
                        <a:off x="625475" y="1094449"/>
                        <a:ext cx="222250" cy="36036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59520107"/>
              </p:ext>
            </p:extLst>
          </p:nvPr>
        </p:nvGraphicFramePr>
        <p:xfrm>
          <a:off x="1476375" y="1135095"/>
          <a:ext cx="219075" cy="296863"/>
        </p:xfrm>
        <a:graphic>
          <a:graphicData uri="http://schemas.openxmlformats.org/presentationml/2006/ole">
            <mc:AlternateContent xmlns:mc="http://schemas.openxmlformats.org/markup-compatibility/2006">
              <mc:Choice xmlns:v="urn:schemas-microsoft-com:vml" Requires="v">
                <p:oleObj name="Formula" r:id="rId4" imgW="124560" imgH="166680" progId="Equation.Ribbit">
                  <p:embed/>
                </p:oleObj>
              </mc:Choice>
              <mc:Fallback>
                <p:oleObj name="Formula" r:id="rId4" imgW="124560" imgH="166680" progId="Equation.Ribbit">
                  <p:embed/>
                  <p:pic>
                    <p:nvPicPr>
                      <p:cNvPr id="6" name="对象 5"/>
                      <p:cNvPicPr/>
                      <p:nvPr/>
                    </p:nvPicPr>
                    <p:blipFill>
                      <a:blip r:embed="rId5"/>
                      <a:stretch>
                        <a:fillRect/>
                      </a:stretch>
                    </p:blipFill>
                    <p:spPr>
                      <a:xfrm>
                        <a:off x="1476375" y="1135095"/>
                        <a:ext cx="219075" cy="296863"/>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020157778"/>
              </p:ext>
            </p:extLst>
          </p:nvPr>
        </p:nvGraphicFramePr>
        <p:xfrm>
          <a:off x="6272213" y="1083820"/>
          <a:ext cx="323850" cy="360362"/>
        </p:xfrm>
        <a:graphic>
          <a:graphicData uri="http://schemas.openxmlformats.org/presentationml/2006/ole">
            <mc:AlternateContent xmlns:mc="http://schemas.openxmlformats.org/markup-compatibility/2006">
              <mc:Choice xmlns:v="urn:schemas-microsoft-com:vml" Requires="v">
                <p:oleObj name="Formula" r:id="rId6" imgW="182880" imgH="201960" progId="Equation.Ribbit">
                  <p:embed/>
                </p:oleObj>
              </mc:Choice>
              <mc:Fallback>
                <p:oleObj name="Formula" r:id="rId6" imgW="182880" imgH="201960" progId="Equation.Ribbit">
                  <p:embed/>
                  <p:pic>
                    <p:nvPicPr>
                      <p:cNvPr id="13" name="对象 12"/>
                      <p:cNvPicPr/>
                      <p:nvPr/>
                    </p:nvPicPr>
                    <p:blipFill>
                      <a:blip r:embed="rId7"/>
                      <a:stretch>
                        <a:fillRect/>
                      </a:stretch>
                    </p:blipFill>
                    <p:spPr>
                      <a:xfrm>
                        <a:off x="6272213" y="1083820"/>
                        <a:ext cx="323850" cy="360362"/>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233715133"/>
              </p:ext>
            </p:extLst>
          </p:nvPr>
        </p:nvGraphicFramePr>
        <p:xfrm>
          <a:off x="7219950" y="1083820"/>
          <a:ext cx="220663" cy="360362"/>
        </p:xfrm>
        <a:graphic>
          <a:graphicData uri="http://schemas.openxmlformats.org/presentationml/2006/ole">
            <mc:AlternateContent xmlns:mc="http://schemas.openxmlformats.org/markup-compatibility/2006">
              <mc:Choice xmlns:v="urn:schemas-microsoft-com:vml" Requires="v">
                <p:oleObj name="Formula" r:id="rId2" imgW="124560" imgH="201960" progId="Equation.Ribbit">
                  <p:embed/>
                </p:oleObj>
              </mc:Choice>
              <mc:Fallback>
                <p:oleObj name="Formula" r:id="rId2" imgW="124560" imgH="201960" progId="Equation.Ribbit">
                  <p:embed/>
                  <p:pic>
                    <p:nvPicPr>
                      <p:cNvPr id="18" name="对象 17"/>
                      <p:cNvPicPr/>
                      <p:nvPr/>
                    </p:nvPicPr>
                    <p:blipFill>
                      <a:blip r:embed="rId3"/>
                      <a:stretch>
                        <a:fillRect/>
                      </a:stretch>
                    </p:blipFill>
                    <p:spPr>
                      <a:xfrm>
                        <a:off x="7219950" y="1083820"/>
                        <a:ext cx="220663" cy="36036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498410485"/>
              </p:ext>
            </p:extLst>
          </p:nvPr>
        </p:nvGraphicFramePr>
        <p:xfrm>
          <a:off x="1809750" y="1497013"/>
          <a:ext cx="288925" cy="349250"/>
        </p:xfrm>
        <a:graphic>
          <a:graphicData uri="http://schemas.openxmlformats.org/presentationml/2006/ole">
            <mc:AlternateContent xmlns:mc="http://schemas.openxmlformats.org/markup-compatibility/2006">
              <mc:Choice xmlns:v="urn:schemas-microsoft-com:vml" Requires="v">
                <p:oleObj name="Formula" r:id="rId8" imgW="134640" imgH="162720" progId="Equation.Ribbit">
                  <p:embed/>
                </p:oleObj>
              </mc:Choice>
              <mc:Fallback>
                <p:oleObj name="Formula" r:id="rId8" imgW="134640" imgH="162720" progId="Equation.Ribbit">
                  <p:embed/>
                  <p:pic>
                    <p:nvPicPr>
                      <p:cNvPr id="14" name="对象 13"/>
                      <p:cNvPicPr/>
                      <p:nvPr/>
                    </p:nvPicPr>
                    <p:blipFill>
                      <a:blip r:embed="rId9"/>
                      <a:stretch>
                        <a:fillRect/>
                      </a:stretch>
                    </p:blipFill>
                    <p:spPr>
                      <a:xfrm>
                        <a:off x="1809750" y="1497013"/>
                        <a:ext cx="288925" cy="349250"/>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72927474"/>
              </p:ext>
            </p:extLst>
          </p:nvPr>
        </p:nvGraphicFramePr>
        <p:xfrm>
          <a:off x="3635375" y="1479550"/>
          <a:ext cx="325438" cy="360363"/>
        </p:xfrm>
        <a:graphic>
          <a:graphicData uri="http://schemas.openxmlformats.org/presentationml/2006/ole">
            <mc:AlternateContent xmlns:mc="http://schemas.openxmlformats.org/markup-compatibility/2006">
              <mc:Choice xmlns:v="urn:schemas-microsoft-com:vml" Requires="v">
                <p:oleObj name="Formula" r:id="rId10" imgW="182880" imgH="203400" progId="Equation.Ribbit">
                  <p:embed/>
                </p:oleObj>
              </mc:Choice>
              <mc:Fallback>
                <p:oleObj name="Formula" r:id="rId10" imgW="182880" imgH="203400" progId="Equation.Ribbit">
                  <p:embed/>
                  <p:pic>
                    <p:nvPicPr>
                      <p:cNvPr id="20" name="对象 19"/>
                      <p:cNvPicPr/>
                      <p:nvPr/>
                    </p:nvPicPr>
                    <p:blipFill>
                      <a:blip r:embed="rId11"/>
                      <a:stretch>
                        <a:fillRect/>
                      </a:stretch>
                    </p:blipFill>
                    <p:spPr>
                      <a:xfrm>
                        <a:off x="3635375" y="1479550"/>
                        <a:ext cx="325438" cy="36036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585841649"/>
              </p:ext>
            </p:extLst>
          </p:nvPr>
        </p:nvGraphicFramePr>
        <p:xfrm>
          <a:off x="4570413" y="1477963"/>
          <a:ext cx="220662" cy="358775"/>
        </p:xfrm>
        <a:graphic>
          <a:graphicData uri="http://schemas.openxmlformats.org/presentationml/2006/ole">
            <mc:AlternateContent xmlns:mc="http://schemas.openxmlformats.org/markup-compatibility/2006">
              <mc:Choice xmlns:v="urn:schemas-microsoft-com:vml" Requires="v">
                <p:oleObj name="Formula" r:id="rId2" imgW="124560" imgH="201960" progId="Equation.Ribbit">
                  <p:embed/>
                </p:oleObj>
              </mc:Choice>
              <mc:Fallback>
                <p:oleObj name="Formula" r:id="rId2" imgW="124560" imgH="201960" progId="Equation.Ribbit">
                  <p:embed/>
                  <p:pic>
                    <p:nvPicPr>
                      <p:cNvPr id="21" name="对象 20"/>
                      <p:cNvPicPr/>
                      <p:nvPr/>
                    </p:nvPicPr>
                    <p:blipFill>
                      <a:blip r:embed="rId3"/>
                      <a:stretch>
                        <a:fillRect/>
                      </a:stretch>
                    </p:blipFill>
                    <p:spPr>
                      <a:xfrm>
                        <a:off x="4570413" y="1477963"/>
                        <a:ext cx="220662" cy="358775"/>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214511205"/>
              </p:ext>
            </p:extLst>
          </p:nvPr>
        </p:nvGraphicFramePr>
        <p:xfrm>
          <a:off x="4084638" y="2207288"/>
          <a:ext cx="334962" cy="257175"/>
        </p:xfrm>
        <a:graphic>
          <a:graphicData uri="http://schemas.openxmlformats.org/presentationml/2006/ole">
            <mc:AlternateContent xmlns:mc="http://schemas.openxmlformats.org/markup-compatibility/2006">
              <mc:Choice xmlns:v="urn:schemas-microsoft-com:vml" Requires="v">
                <p:oleObj name="Formula" r:id="rId12" imgW="171720" imgH="131040" progId="Equation.Ribbit">
                  <p:embed/>
                </p:oleObj>
              </mc:Choice>
              <mc:Fallback>
                <p:oleObj name="Formula" r:id="rId12" imgW="171720" imgH="131040" progId="Equation.Ribbit">
                  <p:embed/>
                  <p:pic>
                    <p:nvPicPr>
                      <p:cNvPr id="22" name="对象 21"/>
                      <p:cNvPicPr/>
                      <p:nvPr/>
                    </p:nvPicPr>
                    <p:blipFill>
                      <a:blip r:embed="rId13"/>
                      <a:stretch>
                        <a:fillRect/>
                      </a:stretch>
                    </p:blipFill>
                    <p:spPr>
                      <a:xfrm>
                        <a:off x="4084638" y="2207288"/>
                        <a:ext cx="334962" cy="257175"/>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821410337"/>
              </p:ext>
            </p:extLst>
          </p:nvPr>
        </p:nvGraphicFramePr>
        <p:xfrm>
          <a:off x="2501174" y="3114447"/>
          <a:ext cx="1655762" cy="601662"/>
        </p:xfrm>
        <a:graphic>
          <a:graphicData uri="http://schemas.openxmlformats.org/presentationml/2006/ole">
            <mc:AlternateContent xmlns:mc="http://schemas.openxmlformats.org/markup-compatibility/2006">
              <mc:Choice xmlns:v="urn:schemas-microsoft-com:vml" Requires="v">
                <p:oleObj name="Formula" r:id="rId14" imgW="773640" imgH="280800" progId="Equation.Ribbit">
                  <p:embed/>
                </p:oleObj>
              </mc:Choice>
              <mc:Fallback>
                <p:oleObj name="Formula" r:id="rId14" imgW="773640" imgH="280800" progId="Equation.Ribbit">
                  <p:embed/>
                  <p:pic>
                    <p:nvPicPr>
                      <p:cNvPr id="23" name="对象 22"/>
                      <p:cNvPicPr/>
                      <p:nvPr/>
                    </p:nvPicPr>
                    <p:blipFill>
                      <a:blip r:embed="rId15"/>
                      <a:stretch>
                        <a:fillRect/>
                      </a:stretch>
                    </p:blipFill>
                    <p:spPr>
                      <a:xfrm>
                        <a:off x="2501174" y="3114447"/>
                        <a:ext cx="1655762" cy="601662"/>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487477837"/>
              </p:ext>
            </p:extLst>
          </p:nvPr>
        </p:nvGraphicFramePr>
        <p:xfrm>
          <a:off x="2144713" y="4432302"/>
          <a:ext cx="3819525" cy="592138"/>
        </p:xfrm>
        <a:graphic>
          <a:graphicData uri="http://schemas.openxmlformats.org/presentationml/2006/ole">
            <mc:AlternateContent xmlns:mc="http://schemas.openxmlformats.org/markup-compatibility/2006">
              <mc:Choice xmlns:v="urn:schemas-microsoft-com:vml" Requires="v">
                <p:oleObj name="Formula" r:id="rId16" imgW="1921680" imgH="298800" progId="Equation.Ribbit">
                  <p:embed/>
                </p:oleObj>
              </mc:Choice>
              <mc:Fallback>
                <p:oleObj name="Formula" r:id="rId16" imgW="1921680" imgH="298800" progId="Equation.Ribbit">
                  <p:embed/>
                  <p:pic>
                    <p:nvPicPr>
                      <p:cNvPr id="25" name="对象 24"/>
                      <p:cNvPicPr/>
                      <p:nvPr/>
                    </p:nvPicPr>
                    <p:blipFill>
                      <a:blip r:embed="rId17"/>
                      <a:stretch>
                        <a:fillRect/>
                      </a:stretch>
                    </p:blipFill>
                    <p:spPr>
                      <a:xfrm>
                        <a:off x="2144713" y="4432302"/>
                        <a:ext cx="3819525" cy="592138"/>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3520990374"/>
              </p:ext>
            </p:extLst>
          </p:nvPr>
        </p:nvGraphicFramePr>
        <p:xfrm>
          <a:off x="1958445" y="5728030"/>
          <a:ext cx="3900488" cy="596900"/>
        </p:xfrm>
        <a:graphic>
          <a:graphicData uri="http://schemas.openxmlformats.org/presentationml/2006/ole">
            <mc:AlternateContent xmlns:mc="http://schemas.openxmlformats.org/markup-compatibility/2006">
              <mc:Choice xmlns:v="urn:schemas-microsoft-com:vml" Requires="v">
                <p:oleObj name="Formula" r:id="rId18" imgW="1820160" imgH="279720" progId="Equation.Ribbit">
                  <p:embed/>
                </p:oleObj>
              </mc:Choice>
              <mc:Fallback>
                <p:oleObj name="Formula" r:id="rId18" imgW="1820160" imgH="279720" progId="Equation.Ribbit">
                  <p:embed/>
                  <p:pic>
                    <p:nvPicPr>
                      <p:cNvPr id="26" name="对象 25"/>
                      <p:cNvPicPr/>
                      <p:nvPr/>
                    </p:nvPicPr>
                    <p:blipFill>
                      <a:blip r:embed="rId19"/>
                      <a:stretch>
                        <a:fillRect/>
                      </a:stretch>
                    </p:blipFill>
                    <p:spPr>
                      <a:xfrm>
                        <a:off x="1958445" y="5728030"/>
                        <a:ext cx="3900488" cy="596900"/>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2078604385"/>
              </p:ext>
            </p:extLst>
          </p:nvPr>
        </p:nvGraphicFramePr>
        <p:xfrm>
          <a:off x="4666298" y="5302357"/>
          <a:ext cx="271462" cy="330960"/>
        </p:xfrm>
        <a:graphic>
          <a:graphicData uri="http://schemas.openxmlformats.org/presentationml/2006/ole">
            <mc:AlternateContent xmlns:mc="http://schemas.openxmlformats.org/markup-compatibility/2006">
              <mc:Choice xmlns:v="urn:schemas-microsoft-com:vml" Requires="v">
                <p:oleObj name="Formula" r:id="rId20" imgW="134640" imgH="162720" progId="Equation.Ribbit">
                  <p:embed/>
                </p:oleObj>
              </mc:Choice>
              <mc:Fallback>
                <p:oleObj name="Formula" r:id="rId20" imgW="134640" imgH="162720" progId="Equation.Ribbit">
                  <p:embed/>
                  <p:pic>
                    <p:nvPicPr>
                      <p:cNvPr id="27" name="对象 26"/>
                      <p:cNvPicPr/>
                      <p:nvPr/>
                    </p:nvPicPr>
                    <p:blipFill>
                      <a:blip r:embed="rId9"/>
                      <a:stretch>
                        <a:fillRect/>
                      </a:stretch>
                    </p:blipFill>
                    <p:spPr>
                      <a:xfrm>
                        <a:off x="4666298" y="5302357"/>
                        <a:ext cx="271462" cy="330960"/>
                      </a:xfrm>
                      <a:prstGeom prst="rect">
                        <a:avLst/>
                      </a:prstGeom>
                    </p:spPr>
                  </p:pic>
                </p:oleObj>
              </mc:Fallback>
            </mc:AlternateContent>
          </a:graphicData>
        </a:graphic>
      </p:graphicFrame>
      <p:sp>
        <p:nvSpPr>
          <p:cNvPr id="31" name="Rectangle 3"/>
          <p:cNvSpPr>
            <a:spLocks noChangeArrowheads="1"/>
          </p:cNvSpPr>
          <p:nvPr/>
        </p:nvSpPr>
        <p:spPr bwMode="auto">
          <a:xfrm>
            <a:off x="4987066" y="2561000"/>
            <a:ext cx="3686700" cy="125932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457200" lvl="1" indent="0">
              <a:buNone/>
            </a:pPr>
            <a:r>
              <a:rPr lang="en-US" altLang="zh-CN" sz="2400" dirty="0"/>
              <a:t>Q1</a:t>
            </a:r>
            <a:r>
              <a:rPr lang="zh-CN" altLang="en-US" sz="2400" dirty="0"/>
              <a:t>：如何在属性缺失的情况下进行划分属性选择？</a:t>
            </a:r>
            <a:endParaRPr lang="en-US" altLang="zh-CN" sz="2400" dirty="0"/>
          </a:p>
        </p:txBody>
      </p:sp>
      <p:cxnSp>
        <p:nvCxnSpPr>
          <p:cNvPr id="33" name="直接连接符 32"/>
          <p:cNvCxnSpPr/>
          <p:nvPr/>
        </p:nvCxnSpPr>
        <p:spPr>
          <a:xfrm>
            <a:off x="6636521" y="3308929"/>
            <a:ext cx="401827" cy="511395"/>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7068511" y="2808488"/>
            <a:ext cx="1543987" cy="1011836"/>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19" name="对象 18"/>
          <p:cNvGraphicFramePr>
            <a:graphicFrameLocks noChangeAspect="1"/>
          </p:cNvGraphicFramePr>
          <p:nvPr>
            <p:extLst>
              <p:ext uri="{D42A27DB-BD31-4B8C-83A1-F6EECF244321}">
                <p14:modId xmlns:p14="http://schemas.microsoft.com/office/powerpoint/2010/main" val="658297529"/>
              </p:ext>
            </p:extLst>
          </p:nvPr>
        </p:nvGraphicFramePr>
        <p:xfrm>
          <a:off x="2882900" y="1167116"/>
          <a:ext cx="188913" cy="306387"/>
        </p:xfrm>
        <a:graphic>
          <a:graphicData uri="http://schemas.openxmlformats.org/presentationml/2006/ole">
            <mc:AlternateContent xmlns:mc="http://schemas.openxmlformats.org/markup-compatibility/2006">
              <mc:Choice xmlns:v="urn:schemas-microsoft-com:vml" Requires="v">
                <p:oleObj name="Formula" r:id="rId21" imgW="80280" imgH="129600" progId="Equation.Ribbit">
                  <p:embed/>
                </p:oleObj>
              </mc:Choice>
              <mc:Fallback>
                <p:oleObj name="Formula" r:id="rId21" imgW="80280" imgH="129600" progId="Equation.Ribbit">
                  <p:embed/>
                  <p:pic>
                    <p:nvPicPr>
                      <p:cNvPr id="19" name="对象 18"/>
                      <p:cNvPicPr/>
                      <p:nvPr/>
                    </p:nvPicPr>
                    <p:blipFill>
                      <a:blip r:embed="rId22"/>
                      <a:stretch>
                        <a:fillRect/>
                      </a:stretch>
                    </p:blipFill>
                    <p:spPr>
                      <a:xfrm>
                        <a:off x="2882900" y="1167116"/>
                        <a:ext cx="188913" cy="306387"/>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3795557354"/>
              </p:ext>
            </p:extLst>
          </p:nvPr>
        </p:nvGraphicFramePr>
        <p:xfrm>
          <a:off x="8716963" y="1142553"/>
          <a:ext cx="190500" cy="303213"/>
        </p:xfrm>
        <a:graphic>
          <a:graphicData uri="http://schemas.openxmlformats.org/presentationml/2006/ole">
            <mc:AlternateContent xmlns:mc="http://schemas.openxmlformats.org/markup-compatibility/2006">
              <mc:Choice xmlns:v="urn:schemas-microsoft-com:vml" Requires="v">
                <p:oleObj name="Formula" r:id="rId21" imgW="80280" imgH="129600" progId="Equation.Ribbit">
                  <p:embed/>
                </p:oleObj>
              </mc:Choice>
              <mc:Fallback>
                <p:oleObj name="Formula" r:id="rId21" imgW="80280" imgH="129600" progId="Equation.Ribbit">
                  <p:embed/>
                  <p:pic>
                    <p:nvPicPr>
                      <p:cNvPr id="28" name="对象 27"/>
                      <p:cNvPicPr/>
                      <p:nvPr/>
                    </p:nvPicPr>
                    <p:blipFill>
                      <a:blip r:embed="rId22"/>
                      <a:stretch>
                        <a:fillRect/>
                      </a:stretch>
                    </p:blipFill>
                    <p:spPr>
                      <a:xfrm>
                        <a:off x="8716963" y="1142553"/>
                        <a:ext cx="190500" cy="30321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010692370"/>
              </p:ext>
            </p:extLst>
          </p:nvPr>
        </p:nvGraphicFramePr>
        <p:xfrm>
          <a:off x="5972175" y="1484313"/>
          <a:ext cx="174625" cy="360362"/>
        </p:xfrm>
        <a:graphic>
          <a:graphicData uri="http://schemas.openxmlformats.org/presentationml/2006/ole">
            <mc:AlternateContent xmlns:mc="http://schemas.openxmlformats.org/markup-compatibility/2006">
              <mc:Choice xmlns:v="urn:schemas-microsoft-com:vml" Requires="v">
                <p:oleObj name="Formula" r:id="rId23" imgW="80280" imgH="167760" progId="Equation.Ribbit">
                  <p:embed/>
                </p:oleObj>
              </mc:Choice>
              <mc:Fallback>
                <p:oleObj name="Formula" r:id="rId23" imgW="80280" imgH="167760" progId="Equation.Ribbit">
                  <p:embed/>
                  <p:pic>
                    <p:nvPicPr>
                      <p:cNvPr id="3" name="对象 2"/>
                      <p:cNvPicPr/>
                      <p:nvPr/>
                    </p:nvPicPr>
                    <p:blipFill>
                      <a:blip r:embed="rId24"/>
                      <a:stretch>
                        <a:fillRect/>
                      </a:stretch>
                    </p:blipFill>
                    <p:spPr>
                      <a:xfrm>
                        <a:off x="5972175" y="1484313"/>
                        <a:ext cx="174625" cy="360362"/>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523062103"/>
              </p:ext>
            </p:extLst>
          </p:nvPr>
        </p:nvGraphicFramePr>
        <p:xfrm>
          <a:off x="3703638" y="5353791"/>
          <a:ext cx="190500" cy="303213"/>
        </p:xfrm>
        <a:graphic>
          <a:graphicData uri="http://schemas.openxmlformats.org/presentationml/2006/ole">
            <mc:AlternateContent xmlns:mc="http://schemas.openxmlformats.org/markup-compatibility/2006">
              <mc:Choice xmlns:v="urn:schemas-microsoft-com:vml" Requires="v">
                <p:oleObj name="Formula" r:id="rId21" imgW="80280" imgH="129600" progId="Equation.Ribbit">
                  <p:embed/>
                </p:oleObj>
              </mc:Choice>
              <mc:Fallback>
                <p:oleObj name="Formula" r:id="rId21" imgW="80280" imgH="129600" progId="Equation.Ribbit">
                  <p:embed/>
                  <p:pic>
                    <p:nvPicPr>
                      <p:cNvPr id="29" name="对象 28"/>
                      <p:cNvPicPr/>
                      <p:nvPr/>
                    </p:nvPicPr>
                    <p:blipFill>
                      <a:blip r:embed="rId22"/>
                      <a:stretch>
                        <a:fillRect/>
                      </a:stretch>
                    </p:blipFill>
                    <p:spPr>
                      <a:xfrm>
                        <a:off x="3703638" y="5353791"/>
                        <a:ext cx="190500" cy="303213"/>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2034747411"/>
              </p:ext>
            </p:extLst>
          </p:nvPr>
        </p:nvGraphicFramePr>
        <p:xfrm>
          <a:off x="3253396" y="3994612"/>
          <a:ext cx="151318" cy="310890"/>
        </p:xfrm>
        <a:graphic>
          <a:graphicData uri="http://schemas.openxmlformats.org/presentationml/2006/ole">
            <mc:AlternateContent xmlns:mc="http://schemas.openxmlformats.org/markup-compatibility/2006">
              <mc:Choice xmlns:v="urn:schemas-microsoft-com:vml" Requires="v">
                <p:oleObj name="Formula" r:id="rId23" imgW="80280" imgH="167760" progId="Equation.Ribbit">
                  <p:embed/>
                </p:oleObj>
              </mc:Choice>
              <mc:Fallback>
                <p:oleObj name="Formula" r:id="rId23" imgW="80280" imgH="167760" progId="Equation.Ribbit">
                  <p:embed/>
                  <p:pic>
                    <p:nvPicPr>
                      <p:cNvPr id="30" name="对象 29"/>
                      <p:cNvPicPr/>
                      <p:nvPr/>
                    </p:nvPicPr>
                    <p:blipFill>
                      <a:blip r:embed="rId24"/>
                      <a:stretch>
                        <a:fillRect/>
                      </a:stretch>
                    </p:blipFill>
                    <p:spPr>
                      <a:xfrm>
                        <a:off x="3253396" y="3994612"/>
                        <a:ext cx="151318" cy="31089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420242277"/>
              </p:ext>
            </p:extLst>
          </p:nvPr>
        </p:nvGraphicFramePr>
        <p:xfrm>
          <a:off x="2098675" y="2196175"/>
          <a:ext cx="201612" cy="268288"/>
        </p:xfrm>
        <a:graphic>
          <a:graphicData uri="http://schemas.openxmlformats.org/presentationml/2006/ole">
            <mc:AlternateContent xmlns:mc="http://schemas.openxmlformats.org/markup-compatibility/2006">
              <mc:Choice xmlns:v="urn:schemas-microsoft-com:vml" Requires="v">
                <p:oleObj name="Formula" r:id="rId25" imgW="97920" imgH="131040" progId="Equation.Ribbit">
                  <p:embed/>
                </p:oleObj>
              </mc:Choice>
              <mc:Fallback>
                <p:oleObj name="Formula" r:id="rId25" imgW="97920" imgH="131040" progId="Equation.Ribbit">
                  <p:embed/>
                  <p:pic>
                    <p:nvPicPr>
                      <p:cNvPr id="7" name="对象 6"/>
                      <p:cNvPicPr/>
                      <p:nvPr/>
                    </p:nvPicPr>
                    <p:blipFill>
                      <a:blip r:embed="rId26"/>
                      <a:stretch>
                        <a:fillRect/>
                      </a:stretch>
                    </p:blipFill>
                    <p:spPr>
                      <a:xfrm>
                        <a:off x="2098675" y="2196175"/>
                        <a:ext cx="201612" cy="268288"/>
                      </a:xfrm>
                      <a:prstGeom prst="rect">
                        <a:avLst/>
                      </a:prstGeom>
                    </p:spPr>
                  </p:pic>
                </p:oleObj>
              </mc:Fallback>
            </mc:AlternateContent>
          </a:graphicData>
        </a:graphic>
      </p:graphicFrame>
    </p:spTree>
    <p:extLst>
      <p:ext uri="{BB962C8B-B14F-4D97-AF65-F5344CB8AC3E}">
        <p14:creationId xmlns:p14="http://schemas.microsoft.com/office/powerpoint/2010/main" val="393851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p:cTn id="31" dur="500" fill="hold"/>
                                        <p:tgtEl>
                                          <p:spTgt spid="31"/>
                                        </p:tgtEl>
                                        <p:attrNameLst>
                                          <p:attrName>ppt_w</p:attrName>
                                        </p:attrNameLst>
                                      </p:cBhvr>
                                      <p:tavLst>
                                        <p:tav tm="0">
                                          <p:val>
                                            <p:fltVal val="0"/>
                                          </p:val>
                                        </p:tav>
                                        <p:tav tm="100000">
                                          <p:val>
                                            <p:strVal val="#ppt_w"/>
                                          </p:val>
                                        </p:tav>
                                      </p:tavLst>
                                    </p:anim>
                                    <p:anim calcmode="lin" valueType="num">
                                      <p:cBhvr>
                                        <p:cTn id="32" dur="500" fill="hold"/>
                                        <p:tgtEl>
                                          <p:spTgt spid="31"/>
                                        </p:tgtEl>
                                        <p:attrNameLst>
                                          <p:attrName>ppt_h</p:attrName>
                                        </p:attrNameLst>
                                      </p:cBhvr>
                                      <p:tavLst>
                                        <p:tav tm="0">
                                          <p:val>
                                            <p:fltVal val="0"/>
                                          </p:val>
                                        </p:tav>
                                        <p:tav tm="100000">
                                          <p:val>
                                            <p:strVal val="#ppt_h"/>
                                          </p:val>
                                        </p:tav>
                                      </p:tavLst>
                                    </p:anim>
                                    <p:animEffect transition="in" filter="fade">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缺失值处理</a:t>
            </a:r>
          </a:p>
        </p:txBody>
      </p:sp>
      <p:sp>
        <p:nvSpPr>
          <p:cNvPr id="3" name="内容占位符 2"/>
          <p:cNvSpPr>
            <a:spLocks noGrp="1"/>
          </p:cNvSpPr>
          <p:nvPr>
            <p:ph idx="1"/>
          </p:nvPr>
        </p:nvSpPr>
        <p:spPr>
          <a:xfrm>
            <a:off x="260350" y="1029904"/>
            <a:ext cx="8402387" cy="5265018"/>
          </a:xfrm>
        </p:spPr>
        <p:txBody>
          <a:bodyPr>
            <a:normAutofit/>
          </a:bodyPr>
          <a:lstStyle/>
          <a:p>
            <a:r>
              <a:rPr lang="en-US" altLang="zh-CN" dirty="0"/>
              <a:t> </a:t>
            </a:r>
            <a:r>
              <a:rPr lang="zh-CN" altLang="en-US" dirty="0"/>
              <a:t>基于上述定义，可将信息增益的计算公式推广为</a:t>
            </a:r>
            <a:endParaRPr lang="en-US" altLang="zh-CN" dirty="0"/>
          </a:p>
          <a:p>
            <a:endParaRPr lang="en-US" altLang="zh-CN" dirty="0"/>
          </a:p>
          <a:p>
            <a:pPr marL="0" indent="0">
              <a:buNone/>
            </a:pPr>
            <a:endParaRPr lang="en-US" altLang="zh-CN" dirty="0"/>
          </a:p>
          <a:p>
            <a:pPr marL="0" indent="0">
              <a:lnSpc>
                <a:spcPct val="40000"/>
              </a:lnSpc>
              <a:buNone/>
            </a:pPr>
            <a:endParaRPr lang="en-US" altLang="zh-CN" dirty="0"/>
          </a:p>
          <a:p>
            <a:pPr marL="0" indent="0">
              <a:buNone/>
            </a:pPr>
            <a:r>
              <a:rPr lang="en-US" altLang="zh-CN" dirty="0"/>
              <a:t>     </a:t>
            </a:r>
            <a:r>
              <a:rPr lang="zh-CN" altLang="en-US" dirty="0"/>
              <a:t>其中</a:t>
            </a:r>
            <a:endParaRPr lang="en-US" altLang="zh-CN" dirty="0"/>
          </a:p>
          <a:p>
            <a:pPr marL="0" indent="0">
              <a:lnSpc>
                <a:spcPct val="150000"/>
              </a:lnSpc>
              <a:buNone/>
            </a:pPr>
            <a:endParaRPr lang="en-US" altLang="zh-CN" dirty="0"/>
          </a:p>
          <a:p>
            <a:r>
              <a:rPr lang="en-US" altLang="zh-CN" dirty="0"/>
              <a:t> </a:t>
            </a:r>
            <a:r>
              <a:rPr lang="zh-CN" altLang="en-US" dirty="0"/>
              <a:t>对于</a:t>
            </a:r>
            <a:r>
              <a:rPr lang="en-US" altLang="zh-CN" dirty="0"/>
              <a:t>Q2</a:t>
            </a:r>
          </a:p>
          <a:p>
            <a:pPr>
              <a:lnSpc>
                <a:spcPts val="200"/>
              </a:lnSpc>
            </a:pPr>
            <a:endParaRPr lang="en-US" altLang="zh-CN" dirty="0"/>
          </a:p>
          <a:p>
            <a:pPr lvl="1">
              <a:lnSpc>
                <a:spcPct val="120000"/>
              </a:lnSpc>
            </a:pPr>
            <a:r>
              <a:rPr lang="zh-CN" altLang="en-US" dirty="0"/>
              <a:t>若样本   在划分属性</a:t>
            </a:r>
            <a:r>
              <a:rPr lang="en-US" altLang="zh-CN" dirty="0"/>
              <a:t>  </a:t>
            </a:r>
            <a:r>
              <a:rPr lang="zh-CN" altLang="en-US" dirty="0"/>
              <a:t>上的取值已知，则将</a:t>
            </a:r>
            <a:r>
              <a:rPr lang="en-US" altLang="zh-CN" dirty="0"/>
              <a:t>   </a:t>
            </a:r>
            <a:r>
              <a:rPr lang="zh-CN" altLang="en-US" dirty="0"/>
              <a:t>划入与其取值对应的子结点，且样本权值在子结点中保持为</a:t>
            </a:r>
            <a:endParaRPr lang="en-US" altLang="zh-CN" dirty="0"/>
          </a:p>
          <a:p>
            <a:pPr lvl="1">
              <a:lnSpc>
                <a:spcPts val="200"/>
              </a:lnSpc>
            </a:pPr>
            <a:endParaRPr lang="en-US" altLang="zh-CN" dirty="0"/>
          </a:p>
          <a:p>
            <a:pPr lvl="1">
              <a:lnSpc>
                <a:spcPct val="120000"/>
              </a:lnSpc>
            </a:pPr>
            <a:r>
              <a:rPr lang="zh-CN" altLang="en-US" dirty="0"/>
              <a:t>若样本   在划分属性  上的取值未知，则将</a:t>
            </a:r>
            <a:r>
              <a:rPr lang="en-US" altLang="zh-CN" dirty="0"/>
              <a:t>   </a:t>
            </a:r>
            <a:r>
              <a:rPr lang="zh-CN" altLang="en-US" dirty="0"/>
              <a:t>同时划入所有子结点，且样本权值在与属性值    对应的子结点中调整为          </a:t>
            </a:r>
            <a:r>
              <a:rPr lang="en-US" altLang="zh-CN" dirty="0"/>
              <a:t>(</a:t>
            </a:r>
            <a:r>
              <a:rPr lang="zh-CN" altLang="en-US" dirty="0"/>
              <a:t>直观来看，相当于让同一个样本以不同概率划入不同的子结点中去</a:t>
            </a:r>
            <a:r>
              <a:rPr lang="en-US" altLang="zh-CN" dirty="0"/>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861643168"/>
              </p:ext>
            </p:extLst>
          </p:nvPr>
        </p:nvGraphicFramePr>
        <p:xfrm>
          <a:off x="2557463" y="1631150"/>
          <a:ext cx="2754312" cy="300038"/>
        </p:xfrm>
        <a:graphic>
          <a:graphicData uri="http://schemas.openxmlformats.org/presentationml/2006/ole">
            <mc:AlternateContent xmlns:mc="http://schemas.openxmlformats.org/markup-compatibility/2006">
              <mc:Choice xmlns:v="urn:schemas-microsoft-com:vml" Requires="v">
                <p:oleObj name="Formula" r:id="rId2" imgW="1858320" imgH="201960" progId="Equation.Ribbit">
                  <p:embed/>
                </p:oleObj>
              </mc:Choice>
              <mc:Fallback>
                <p:oleObj name="Formula" r:id="rId2" imgW="1858320" imgH="201960" progId="Equation.Ribbit">
                  <p:embed/>
                  <p:pic>
                    <p:nvPicPr>
                      <p:cNvPr id="4" name="对象 3"/>
                      <p:cNvPicPr/>
                      <p:nvPr/>
                    </p:nvPicPr>
                    <p:blipFill>
                      <a:blip r:embed="rId3"/>
                      <a:stretch>
                        <a:fillRect/>
                      </a:stretch>
                    </p:blipFill>
                    <p:spPr>
                      <a:xfrm>
                        <a:off x="2557463" y="1631150"/>
                        <a:ext cx="2754312" cy="30003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31379018"/>
              </p:ext>
            </p:extLst>
          </p:nvPr>
        </p:nvGraphicFramePr>
        <p:xfrm>
          <a:off x="3600450" y="1916900"/>
          <a:ext cx="3154363" cy="660400"/>
        </p:xfrm>
        <a:graphic>
          <a:graphicData uri="http://schemas.openxmlformats.org/presentationml/2006/ole">
            <mc:AlternateContent xmlns:mc="http://schemas.openxmlformats.org/markup-compatibility/2006">
              <mc:Choice xmlns:v="urn:schemas-microsoft-com:vml" Requires="v">
                <p:oleObj name="Formula" r:id="rId4" imgW="2199960" imgH="462600" progId="Equation.Ribbit">
                  <p:embed/>
                </p:oleObj>
              </mc:Choice>
              <mc:Fallback>
                <p:oleObj name="Formula" r:id="rId4" imgW="2199960" imgH="462600" progId="Equation.Ribbit">
                  <p:embed/>
                  <p:pic>
                    <p:nvPicPr>
                      <p:cNvPr id="5" name="对象 4"/>
                      <p:cNvPicPr/>
                      <p:nvPr/>
                    </p:nvPicPr>
                    <p:blipFill>
                      <a:blip r:embed="rId5"/>
                      <a:stretch>
                        <a:fillRect/>
                      </a:stretch>
                    </p:blipFill>
                    <p:spPr>
                      <a:xfrm>
                        <a:off x="3600450" y="1916900"/>
                        <a:ext cx="3154363" cy="6604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48230702"/>
              </p:ext>
            </p:extLst>
          </p:nvPr>
        </p:nvGraphicFramePr>
        <p:xfrm>
          <a:off x="2932906" y="2853932"/>
          <a:ext cx="2541587" cy="744537"/>
        </p:xfrm>
        <a:graphic>
          <a:graphicData uri="http://schemas.openxmlformats.org/presentationml/2006/ole">
            <mc:AlternateContent xmlns:mc="http://schemas.openxmlformats.org/markup-compatibility/2006">
              <mc:Choice xmlns:v="urn:schemas-microsoft-com:vml" Requires="v">
                <p:oleObj name="Formula" r:id="rId6" imgW="1644840" imgH="480240" progId="Equation.Ribbit">
                  <p:embed/>
                </p:oleObj>
              </mc:Choice>
              <mc:Fallback>
                <p:oleObj name="Formula" r:id="rId6" imgW="1644840" imgH="480240" progId="Equation.Ribbit">
                  <p:embed/>
                  <p:pic>
                    <p:nvPicPr>
                      <p:cNvPr id="6" name="对象 5"/>
                      <p:cNvPicPr/>
                      <p:nvPr/>
                    </p:nvPicPr>
                    <p:blipFill>
                      <a:blip r:embed="rId7"/>
                      <a:stretch>
                        <a:fillRect/>
                      </a:stretch>
                    </p:blipFill>
                    <p:spPr>
                      <a:xfrm>
                        <a:off x="2932906" y="2853932"/>
                        <a:ext cx="2541587" cy="74453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43971344"/>
              </p:ext>
            </p:extLst>
          </p:nvPr>
        </p:nvGraphicFramePr>
        <p:xfrm>
          <a:off x="5356227" y="4645711"/>
          <a:ext cx="355600" cy="271462"/>
        </p:xfrm>
        <a:graphic>
          <a:graphicData uri="http://schemas.openxmlformats.org/presentationml/2006/ole">
            <mc:AlternateContent xmlns:mc="http://schemas.openxmlformats.org/markup-compatibility/2006">
              <mc:Choice xmlns:v="urn:schemas-microsoft-com:vml" Requires="v">
                <p:oleObj name="Formula" r:id="rId8" imgW="171720" imgH="131040" progId="Equation.Ribbit">
                  <p:embed/>
                </p:oleObj>
              </mc:Choice>
              <mc:Fallback>
                <p:oleObj name="Formula" r:id="rId8" imgW="171720" imgH="131040" progId="Equation.Ribbit">
                  <p:embed/>
                  <p:pic>
                    <p:nvPicPr>
                      <p:cNvPr id="7" name="对象 6"/>
                      <p:cNvPicPr/>
                      <p:nvPr/>
                    </p:nvPicPr>
                    <p:blipFill>
                      <a:blip r:embed="rId9"/>
                      <a:stretch>
                        <a:fillRect/>
                      </a:stretch>
                    </p:blipFill>
                    <p:spPr>
                      <a:xfrm>
                        <a:off x="5356227" y="4645711"/>
                        <a:ext cx="355600" cy="27146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042197592"/>
              </p:ext>
            </p:extLst>
          </p:nvPr>
        </p:nvGraphicFramePr>
        <p:xfrm>
          <a:off x="3636295" y="5519819"/>
          <a:ext cx="268288" cy="325437"/>
        </p:xfrm>
        <a:graphic>
          <a:graphicData uri="http://schemas.openxmlformats.org/presentationml/2006/ole">
            <mc:AlternateContent xmlns:mc="http://schemas.openxmlformats.org/markup-compatibility/2006">
              <mc:Choice xmlns:v="urn:schemas-microsoft-com:vml" Requires="v">
                <p:oleObj name="Formula" r:id="rId10" imgW="134640" imgH="162720" progId="Equation.Ribbit">
                  <p:embed/>
                </p:oleObj>
              </mc:Choice>
              <mc:Fallback>
                <p:oleObj name="Formula" r:id="rId10" imgW="134640" imgH="162720" progId="Equation.Ribbit">
                  <p:embed/>
                  <p:pic>
                    <p:nvPicPr>
                      <p:cNvPr id="8" name="对象 7"/>
                      <p:cNvPicPr/>
                      <p:nvPr/>
                    </p:nvPicPr>
                    <p:blipFill>
                      <a:blip r:embed="rId11"/>
                      <a:stretch>
                        <a:fillRect/>
                      </a:stretch>
                    </p:blipFill>
                    <p:spPr>
                      <a:xfrm>
                        <a:off x="3636295" y="5519819"/>
                        <a:ext cx="268288" cy="32543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628668018"/>
              </p:ext>
            </p:extLst>
          </p:nvPr>
        </p:nvGraphicFramePr>
        <p:xfrm>
          <a:off x="6506228" y="5521406"/>
          <a:ext cx="812800" cy="323850"/>
        </p:xfrm>
        <a:graphic>
          <a:graphicData uri="http://schemas.openxmlformats.org/presentationml/2006/ole">
            <mc:AlternateContent xmlns:mc="http://schemas.openxmlformats.org/markup-compatibility/2006">
              <mc:Choice xmlns:v="urn:schemas-microsoft-com:vml" Requires="v">
                <p:oleObj name="Formula" r:id="rId12" imgW="410400" imgH="164160" progId="Equation.Ribbit">
                  <p:embed/>
                </p:oleObj>
              </mc:Choice>
              <mc:Fallback>
                <p:oleObj name="Formula" r:id="rId12" imgW="410400" imgH="164160" progId="Equation.Ribbit">
                  <p:embed/>
                  <p:pic>
                    <p:nvPicPr>
                      <p:cNvPr id="9" name="对象 8"/>
                      <p:cNvPicPr/>
                      <p:nvPr/>
                    </p:nvPicPr>
                    <p:blipFill>
                      <a:blip r:embed="rId13"/>
                      <a:stretch>
                        <a:fillRect/>
                      </a:stretch>
                    </p:blipFill>
                    <p:spPr>
                      <a:xfrm>
                        <a:off x="6506228" y="5521406"/>
                        <a:ext cx="812800" cy="32385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222623627"/>
              </p:ext>
            </p:extLst>
          </p:nvPr>
        </p:nvGraphicFramePr>
        <p:xfrm>
          <a:off x="5817970" y="4287151"/>
          <a:ext cx="200025" cy="271463"/>
        </p:xfrm>
        <a:graphic>
          <a:graphicData uri="http://schemas.openxmlformats.org/presentationml/2006/ole">
            <mc:AlternateContent xmlns:mc="http://schemas.openxmlformats.org/markup-compatibility/2006">
              <mc:Choice xmlns:v="urn:schemas-microsoft-com:vml" Requires="v">
                <p:oleObj name="Formula" r:id="rId14" imgW="97920" imgH="131040" progId="Equation.Ribbit">
                  <p:embed/>
                </p:oleObj>
              </mc:Choice>
              <mc:Fallback>
                <p:oleObj name="Formula" r:id="rId14" imgW="97920" imgH="131040" progId="Equation.Ribbit">
                  <p:embed/>
                  <p:pic>
                    <p:nvPicPr>
                      <p:cNvPr id="11" name="对象 10"/>
                      <p:cNvPicPr/>
                      <p:nvPr/>
                    </p:nvPicPr>
                    <p:blipFill>
                      <a:blip r:embed="rId15"/>
                      <a:stretch>
                        <a:fillRect/>
                      </a:stretch>
                    </p:blipFill>
                    <p:spPr>
                      <a:xfrm>
                        <a:off x="5817970" y="4287151"/>
                        <a:ext cx="200025" cy="27146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934686434"/>
              </p:ext>
            </p:extLst>
          </p:nvPr>
        </p:nvGraphicFramePr>
        <p:xfrm>
          <a:off x="5836979" y="5187731"/>
          <a:ext cx="200025" cy="271463"/>
        </p:xfrm>
        <a:graphic>
          <a:graphicData uri="http://schemas.openxmlformats.org/presentationml/2006/ole">
            <mc:AlternateContent xmlns:mc="http://schemas.openxmlformats.org/markup-compatibility/2006">
              <mc:Choice xmlns:v="urn:schemas-microsoft-com:vml" Requires="v">
                <p:oleObj name="Formula" r:id="rId14" imgW="97920" imgH="131040" progId="Equation.Ribbit">
                  <p:embed/>
                </p:oleObj>
              </mc:Choice>
              <mc:Fallback>
                <p:oleObj name="Formula" r:id="rId14" imgW="97920" imgH="131040" progId="Equation.Ribbit">
                  <p:embed/>
                  <p:pic>
                    <p:nvPicPr>
                      <p:cNvPr id="12" name="对象 11"/>
                      <p:cNvPicPr/>
                      <p:nvPr/>
                    </p:nvPicPr>
                    <p:blipFill>
                      <a:blip r:embed="rId15"/>
                      <a:stretch>
                        <a:fillRect/>
                      </a:stretch>
                    </p:blipFill>
                    <p:spPr>
                      <a:xfrm>
                        <a:off x="5836979" y="5187731"/>
                        <a:ext cx="200025" cy="271463"/>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253208292"/>
              </p:ext>
            </p:extLst>
          </p:nvPr>
        </p:nvGraphicFramePr>
        <p:xfrm>
          <a:off x="3344278" y="4263439"/>
          <a:ext cx="190500" cy="304800"/>
        </p:xfrm>
        <a:graphic>
          <a:graphicData uri="http://schemas.openxmlformats.org/presentationml/2006/ole">
            <mc:AlternateContent xmlns:mc="http://schemas.openxmlformats.org/markup-compatibility/2006">
              <mc:Choice xmlns:v="urn:schemas-microsoft-com:vml" Requires="v">
                <p:oleObj name="Formula" r:id="rId16" imgW="80280" imgH="129600" progId="Equation.Ribbit">
                  <p:embed/>
                </p:oleObj>
              </mc:Choice>
              <mc:Fallback>
                <p:oleObj name="Formula" r:id="rId16" imgW="80280" imgH="129600" progId="Equation.Ribbit">
                  <p:embed/>
                  <p:pic>
                    <p:nvPicPr>
                      <p:cNvPr id="13" name="对象 12"/>
                      <p:cNvPicPr/>
                      <p:nvPr/>
                    </p:nvPicPr>
                    <p:blipFill>
                      <a:blip r:embed="rId17"/>
                      <a:stretch>
                        <a:fillRect/>
                      </a:stretch>
                    </p:blipFill>
                    <p:spPr>
                      <a:xfrm>
                        <a:off x="3344278" y="4263439"/>
                        <a:ext cx="190500" cy="3048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094996820"/>
              </p:ext>
            </p:extLst>
          </p:nvPr>
        </p:nvGraphicFramePr>
        <p:xfrm>
          <a:off x="3344278" y="5168481"/>
          <a:ext cx="190500" cy="303213"/>
        </p:xfrm>
        <a:graphic>
          <a:graphicData uri="http://schemas.openxmlformats.org/presentationml/2006/ole">
            <mc:AlternateContent xmlns:mc="http://schemas.openxmlformats.org/markup-compatibility/2006">
              <mc:Choice xmlns:v="urn:schemas-microsoft-com:vml" Requires="v">
                <p:oleObj name="Formula" r:id="rId16" imgW="80280" imgH="129600" progId="Equation.Ribbit">
                  <p:embed/>
                </p:oleObj>
              </mc:Choice>
              <mc:Fallback>
                <p:oleObj name="Formula" r:id="rId16" imgW="80280" imgH="129600" progId="Equation.Ribbit">
                  <p:embed/>
                  <p:pic>
                    <p:nvPicPr>
                      <p:cNvPr id="14" name="对象 13"/>
                      <p:cNvPicPr/>
                      <p:nvPr/>
                    </p:nvPicPr>
                    <p:blipFill>
                      <a:blip r:embed="rId17"/>
                      <a:stretch>
                        <a:fillRect/>
                      </a:stretch>
                    </p:blipFill>
                    <p:spPr>
                      <a:xfrm>
                        <a:off x="3344278" y="5168481"/>
                        <a:ext cx="190500" cy="303213"/>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107392893"/>
              </p:ext>
            </p:extLst>
          </p:nvPr>
        </p:nvGraphicFramePr>
        <p:xfrm>
          <a:off x="1826816" y="4281001"/>
          <a:ext cx="200025" cy="271463"/>
        </p:xfrm>
        <a:graphic>
          <a:graphicData uri="http://schemas.openxmlformats.org/presentationml/2006/ole">
            <mc:AlternateContent xmlns:mc="http://schemas.openxmlformats.org/markup-compatibility/2006">
              <mc:Choice xmlns:v="urn:schemas-microsoft-com:vml" Requires="v">
                <p:oleObj name="Formula" r:id="rId14" imgW="97920" imgH="131040" progId="Equation.Ribbit">
                  <p:embed/>
                </p:oleObj>
              </mc:Choice>
              <mc:Fallback>
                <p:oleObj name="Formula" r:id="rId14" imgW="97920" imgH="131040" progId="Equation.Ribbit">
                  <p:embed/>
                  <p:pic>
                    <p:nvPicPr>
                      <p:cNvPr id="16" name="对象 15"/>
                      <p:cNvPicPr/>
                      <p:nvPr/>
                    </p:nvPicPr>
                    <p:blipFill>
                      <a:blip r:embed="rId15"/>
                      <a:stretch>
                        <a:fillRect/>
                      </a:stretch>
                    </p:blipFill>
                    <p:spPr>
                      <a:xfrm>
                        <a:off x="1826816" y="4281001"/>
                        <a:ext cx="200025" cy="27146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578046342"/>
              </p:ext>
            </p:extLst>
          </p:nvPr>
        </p:nvGraphicFramePr>
        <p:xfrm>
          <a:off x="1826816" y="5190273"/>
          <a:ext cx="200025" cy="271463"/>
        </p:xfrm>
        <a:graphic>
          <a:graphicData uri="http://schemas.openxmlformats.org/presentationml/2006/ole">
            <mc:AlternateContent xmlns:mc="http://schemas.openxmlformats.org/markup-compatibility/2006">
              <mc:Choice xmlns:v="urn:schemas-microsoft-com:vml" Requires="v">
                <p:oleObj name="Formula" r:id="rId14" imgW="97920" imgH="131040" progId="Equation.Ribbit">
                  <p:embed/>
                </p:oleObj>
              </mc:Choice>
              <mc:Fallback>
                <p:oleObj name="Formula" r:id="rId14" imgW="97920" imgH="131040" progId="Equation.Ribbit">
                  <p:embed/>
                  <p:pic>
                    <p:nvPicPr>
                      <p:cNvPr id="17" name="对象 16"/>
                      <p:cNvPicPr/>
                      <p:nvPr/>
                    </p:nvPicPr>
                    <p:blipFill>
                      <a:blip r:embed="rId15"/>
                      <a:stretch>
                        <a:fillRect/>
                      </a:stretch>
                    </p:blipFill>
                    <p:spPr>
                      <a:xfrm>
                        <a:off x="1826816" y="5190273"/>
                        <a:ext cx="200025" cy="271463"/>
                      </a:xfrm>
                      <a:prstGeom prst="rect">
                        <a:avLst/>
                      </a:prstGeom>
                    </p:spPr>
                  </p:pic>
                </p:oleObj>
              </mc:Fallback>
            </mc:AlternateContent>
          </a:graphicData>
        </a:graphic>
      </p:graphicFrame>
    </p:spTree>
    <p:extLst>
      <p:ext uri="{BB962C8B-B14F-4D97-AF65-F5344CB8AC3E}">
        <p14:creationId xmlns:p14="http://schemas.microsoft.com/office/powerpoint/2010/main" val="80367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缺失值处理</a:t>
            </a:r>
          </a:p>
        </p:txBody>
      </p:sp>
      <p:sp>
        <p:nvSpPr>
          <p:cNvPr id="3" name="内容占位符 2"/>
          <p:cNvSpPr>
            <a:spLocks noGrp="1"/>
          </p:cNvSpPr>
          <p:nvPr>
            <p:ph idx="1"/>
          </p:nvPr>
        </p:nvSpPr>
        <p:spPr>
          <a:xfrm>
            <a:off x="5445211" y="1480272"/>
            <a:ext cx="3616411" cy="4930775"/>
          </a:xfrm>
        </p:spPr>
        <p:txBody>
          <a:bodyPr>
            <a:normAutofit lnSpcReduction="10000"/>
          </a:bodyPr>
          <a:lstStyle/>
          <a:p>
            <a:pPr marL="0" indent="0">
              <a:buNone/>
            </a:pPr>
            <a:endParaRPr lang="en-US" altLang="zh-CN" dirty="0"/>
          </a:p>
          <a:p>
            <a:pPr marL="342900" indent="-342900">
              <a:lnSpc>
                <a:spcPct val="120000"/>
              </a:lnSpc>
              <a:buFont typeface="Wingdings" panose="05000000000000000000" pitchFamily="2" charset="2"/>
              <a:buChar char="l"/>
            </a:pPr>
            <a:r>
              <a:rPr lang="zh-CN" altLang="en-US" dirty="0"/>
              <a:t>学习开始时，根结点包含样本集</a:t>
            </a:r>
            <a:r>
              <a:rPr lang="en-US" altLang="zh-CN" dirty="0"/>
              <a:t>  </a:t>
            </a:r>
            <a:r>
              <a:rPr lang="zh-CN" altLang="en-US" dirty="0"/>
              <a:t>中全部</a:t>
            </a:r>
            <a:r>
              <a:rPr lang="en-US" altLang="zh-CN" dirty="0"/>
              <a:t>   </a:t>
            </a:r>
            <a:r>
              <a:rPr lang="zh-CN" altLang="en-US" dirty="0"/>
              <a:t>个样例，各样例的权值均为</a:t>
            </a:r>
            <a:endParaRPr lang="en-US" altLang="zh-CN" dirty="0"/>
          </a:p>
          <a:p>
            <a:pPr marL="342900" indent="-342900">
              <a:lnSpc>
                <a:spcPts val="200"/>
              </a:lnSpc>
              <a:buFont typeface="Wingdings" panose="05000000000000000000" pitchFamily="2" charset="2"/>
              <a:buChar char="l"/>
            </a:pPr>
            <a:endParaRPr lang="zh-CN" altLang="en-US" dirty="0"/>
          </a:p>
          <a:p>
            <a:pPr marL="342900" indent="-342900">
              <a:lnSpc>
                <a:spcPct val="120000"/>
              </a:lnSpc>
              <a:buFont typeface="Wingdings" panose="05000000000000000000" pitchFamily="2" charset="2"/>
              <a:buChar char="l"/>
            </a:pPr>
            <a:r>
              <a:rPr lang="zh-CN" altLang="en-US" dirty="0"/>
              <a:t>以属性“色泽”为例，该属性上无缺失值的样例子集   包含</a:t>
            </a:r>
            <a:r>
              <a:rPr lang="en-US" altLang="zh-CN" dirty="0"/>
              <a:t>   </a:t>
            </a:r>
            <a:r>
              <a:rPr lang="zh-CN" altLang="en-US" dirty="0"/>
              <a:t>个样例， 的信息熵为</a:t>
            </a:r>
            <a:endParaRPr lang="en-US" altLang="zh-CN" dirty="0"/>
          </a:p>
          <a:p>
            <a:pPr marL="342900" indent="-342900">
              <a:buFont typeface="Wingdings" panose="05000000000000000000" pitchFamily="2" charset="2"/>
              <a:buChar char="l"/>
            </a:pPr>
            <a:endParaRPr lang="en-US" altLang="zh-CN" dirty="0"/>
          </a:p>
          <a:p>
            <a:pPr marL="0" indent="0">
              <a:buNone/>
            </a:pPr>
            <a:endParaRPr lang="en-US" altLang="zh-CN" dirty="0"/>
          </a:p>
          <a:p>
            <a:pPr marL="0" indent="0">
              <a:buNone/>
            </a:pPr>
            <a:r>
              <a:rPr lang="en-US" altLang="zh-CN" dirty="0"/>
              <a:t>    </a:t>
            </a:r>
          </a:p>
          <a:p>
            <a:pPr marL="0" indent="0">
              <a:buNone/>
            </a:pPr>
            <a:r>
              <a:rPr lang="en-US" altLang="zh-CN" dirty="0"/>
              <a:t>                                           </a:t>
            </a:r>
            <a:endParaRPr lang="zh-CN" altLang="en-US" dirty="0"/>
          </a:p>
        </p:txBody>
      </p:sp>
      <p:pic>
        <p:nvPicPr>
          <p:cNvPr id="4" name="内容占位符 3"/>
          <p:cNvPicPr>
            <a:picLocks noChangeAspect="1"/>
          </p:cNvPicPr>
          <p:nvPr/>
        </p:nvPicPr>
        <p:blipFill>
          <a:blip r:embed="rId2"/>
          <a:stretch>
            <a:fillRect/>
          </a:stretch>
        </p:blipFill>
        <p:spPr>
          <a:xfrm>
            <a:off x="74645" y="1623267"/>
            <a:ext cx="5433284" cy="3837614"/>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3793289286"/>
              </p:ext>
            </p:extLst>
          </p:nvPr>
        </p:nvGraphicFramePr>
        <p:xfrm>
          <a:off x="6716713" y="2354587"/>
          <a:ext cx="211137" cy="282575"/>
        </p:xfrm>
        <a:graphic>
          <a:graphicData uri="http://schemas.openxmlformats.org/presentationml/2006/ole">
            <mc:AlternateContent xmlns:mc="http://schemas.openxmlformats.org/markup-compatibility/2006">
              <mc:Choice xmlns:v="urn:schemas-microsoft-com:vml" Requires="v">
                <p:oleObj name="Formula" r:id="rId3" imgW="124560" imgH="166680" progId="Equation.Ribbit">
                  <p:embed/>
                </p:oleObj>
              </mc:Choice>
              <mc:Fallback>
                <p:oleObj name="Formula" r:id="rId3" imgW="124560" imgH="166680" progId="Equation.Ribbit">
                  <p:embed/>
                  <p:pic>
                    <p:nvPicPr>
                      <p:cNvPr id="5" name="对象 4"/>
                      <p:cNvPicPr/>
                      <p:nvPr/>
                    </p:nvPicPr>
                    <p:blipFill>
                      <a:blip r:embed="rId4"/>
                      <a:stretch>
                        <a:fillRect/>
                      </a:stretch>
                    </p:blipFill>
                    <p:spPr>
                      <a:xfrm>
                        <a:off x="6716713" y="2354587"/>
                        <a:ext cx="211137" cy="28257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32655756"/>
              </p:ext>
            </p:extLst>
          </p:nvPr>
        </p:nvGraphicFramePr>
        <p:xfrm>
          <a:off x="6197958" y="4063818"/>
          <a:ext cx="187767" cy="304800"/>
        </p:xfrm>
        <a:graphic>
          <a:graphicData uri="http://schemas.openxmlformats.org/presentationml/2006/ole">
            <mc:AlternateContent xmlns:mc="http://schemas.openxmlformats.org/markup-compatibility/2006">
              <mc:Choice xmlns:v="urn:schemas-microsoft-com:vml" Requires="v">
                <p:oleObj name="Formula" r:id="rId5" imgW="124560" imgH="201960" progId="Equation.Ribbit">
                  <p:embed/>
                </p:oleObj>
              </mc:Choice>
              <mc:Fallback>
                <p:oleObj name="Formula" r:id="rId5" imgW="124560" imgH="201960" progId="Equation.Ribbit">
                  <p:embed/>
                  <p:pic>
                    <p:nvPicPr>
                      <p:cNvPr id="7" name="对象 6"/>
                      <p:cNvPicPr/>
                      <p:nvPr/>
                    </p:nvPicPr>
                    <p:blipFill>
                      <a:blip r:embed="rId6"/>
                      <a:stretch>
                        <a:fillRect/>
                      </a:stretch>
                    </p:blipFill>
                    <p:spPr>
                      <a:xfrm>
                        <a:off x="6197958" y="4063818"/>
                        <a:ext cx="187767" cy="3048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973469111"/>
              </p:ext>
            </p:extLst>
          </p:nvPr>
        </p:nvGraphicFramePr>
        <p:xfrm>
          <a:off x="5917535" y="4812585"/>
          <a:ext cx="2671762" cy="747712"/>
        </p:xfrm>
        <a:graphic>
          <a:graphicData uri="http://schemas.openxmlformats.org/presentationml/2006/ole">
            <mc:AlternateContent xmlns:mc="http://schemas.openxmlformats.org/markup-compatibility/2006">
              <mc:Choice xmlns:v="urn:schemas-microsoft-com:vml" Requires="v">
                <p:oleObj name="Formula" r:id="rId7" imgW="1644840" imgH="460080" progId="Equation.Ribbit">
                  <p:embed/>
                </p:oleObj>
              </mc:Choice>
              <mc:Fallback>
                <p:oleObj name="Formula" r:id="rId7" imgW="1644840" imgH="460080" progId="Equation.Ribbit">
                  <p:embed/>
                  <p:pic>
                    <p:nvPicPr>
                      <p:cNvPr id="8" name="对象 7"/>
                      <p:cNvPicPr/>
                      <p:nvPr/>
                    </p:nvPicPr>
                    <p:blipFill>
                      <a:blip r:embed="rId8"/>
                      <a:stretch>
                        <a:fillRect/>
                      </a:stretch>
                    </p:blipFill>
                    <p:spPr>
                      <a:xfrm>
                        <a:off x="5917535" y="4812585"/>
                        <a:ext cx="2671762" cy="74771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318725008"/>
              </p:ext>
            </p:extLst>
          </p:nvPr>
        </p:nvGraphicFramePr>
        <p:xfrm>
          <a:off x="4720431" y="5659712"/>
          <a:ext cx="3992563" cy="357188"/>
        </p:xfrm>
        <a:graphic>
          <a:graphicData uri="http://schemas.openxmlformats.org/presentationml/2006/ole">
            <mc:AlternateContent xmlns:mc="http://schemas.openxmlformats.org/markup-compatibility/2006">
              <mc:Choice xmlns:v="urn:schemas-microsoft-com:vml" Requires="v">
                <p:oleObj name="Formula" r:id="rId9" imgW="2263320" imgH="203400" progId="Equation.Ribbit">
                  <p:embed/>
                </p:oleObj>
              </mc:Choice>
              <mc:Fallback>
                <p:oleObj name="Formula" r:id="rId9" imgW="2263320" imgH="203400" progId="Equation.Ribbit">
                  <p:embed/>
                  <p:pic>
                    <p:nvPicPr>
                      <p:cNvPr id="9" name="对象 8"/>
                      <p:cNvPicPr/>
                      <p:nvPr/>
                    </p:nvPicPr>
                    <p:blipFill>
                      <a:blip r:embed="rId10"/>
                      <a:stretch>
                        <a:fillRect/>
                      </a:stretch>
                    </p:blipFill>
                    <p:spPr>
                      <a:xfrm>
                        <a:off x="4720431" y="5659712"/>
                        <a:ext cx="3992563" cy="357188"/>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911510804"/>
              </p:ext>
            </p:extLst>
          </p:nvPr>
        </p:nvGraphicFramePr>
        <p:xfrm>
          <a:off x="7786326" y="2335337"/>
          <a:ext cx="262820" cy="299004"/>
        </p:xfrm>
        <a:graphic>
          <a:graphicData uri="http://schemas.openxmlformats.org/presentationml/2006/ole">
            <mc:AlternateContent xmlns:mc="http://schemas.openxmlformats.org/markup-compatibility/2006">
              <mc:Choice xmlns:v="urn:schemas-microsoft-com:vml" Requires="v">
                <p:oleObj name="Formula" r:id="rId11" imgW="145080" imgH="165240" progId="Equation.Ribbit">
                  <p:embed/>
                </p:oleObj>
              </mc:Choice>
              <mc:Fallback>
                <p:oleObj name="Formula" r:id="rId11" imgW="145080" imgH="165240" progId="Equation.Ribbit">
                  <p:embed/>
                  <p:pic>
                    <p:nvPicPr>
                      <p:cNvPr id="10" name="对象 9"/>
                      <p:cNvPicPr/>
                      <p:nvPr/>
                    </p:nvPicPr>
                    <p:blipFill>
                      <a:blip r:embed="rId12"/>
                      <a:stretch>
                        <a:fillRect/>
                      </a:stretch>
                    </p:blipFill>
                    <p:spPr>
                      <a:xfrm>
                        <a:off x="7786326" y="2335337"/>
                        <a:ext cx="262820" cy="299004"/>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29664021"/>
              </p:ext>
            </p:extLst>
          </p:nvPr>
        </p:nvGraphicFramePr>
        <p:xfrm>
          <a:off x="8147050" y="2712261"/>
          <a:ext cx="93663" cy="304800"/>
        </p:xfrm>
        <a:graphic>
          <a:graphicData uri="http://schemas.openxmlformats.org/presentationml/2006/ole">
            <mc:AlternateContent xmlns:mc="http://schemas.openxmlformats.org/markup-compatibility/2006">
              <mc:Choice xmlns:v="urn:schemas-microsoft-com:vml" Requires="v">
                <p:oleObj name="Formula" r:id="rId13" imgW="61200" imgH="162720" progId="Equation.Ribbit">
                  <p:embed/>
                </p:oleObj>
              </mc:Choice>
              <mc:Fallback>
                <p:oleObj name="Formula" r:id="rId13" imgW="61200" imgH="162720" progId="Equation.Ribbit">
                  <p:embed/>
                  <p:pic>
                    <p:nvPicPr>
                      <p:cNvPr id="11" name="对象 10"/>
                      <p:cNvPicPr/>
                      <p:nvPr/>
                    </p:nvPicPr>
                    <p:blipFill>
                      <a:blip r:embed="rId14"/>
                      <a:stretch>
                        <a:fillRect/>
                      </a:stretch>
                    </p:blipFill>
                    <p:spPr>
                      <a:xfrm>
                        <a:off x="8147050" y="2712261"/>
                        <a:ext cx="93663" cy="3048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30892090"/>
              </p:ext>
            </p:extLst>
          </p:nvPr>
        </p:nvGraphicFramePr>
        <p:xfrm>
          <a:off x="7038184" y="4091837"/>
          <a:ext cx="251614" cy="304800"/>
        </p:xfrm>
        <a:graphic>
          <a:graphicData uri="http://schemas.openxmlformats.org/presentationml/2006/ole">
            <mc:AlternateContent xmlns:mc="http://schemas.openxmlformats.org/markup-compatibility/2006">
              <mc:Choice xmlns:v="urn:schemas-microsoft-com:vml" Requires="v">
                <p:oleObj name="Formula" r:id="rId15" imgW="143640" imgH="165240" progId="Equation.Ribbit">
                  <p:embed/>
                </p:oleObj>
              </mc:Choice>
              <mc:Fallback>
                <p:oleObj name="Formula" r:id="rId15" imgW="143640" imgH="165240" progId="Equation.Ribbit">
                  <p:embed/>
                  <p:pic>
                    <p:nvPicPr>
                      <p:cNvPr id="12" name="对象 11"/>
                      <p:cNvPicPr/>
                      <p:nvPr/>
                    </p:nvPicPr>
                    <p:blipFill>
                      <a:blip r:embed="rId16"/>
                      <a:stretch>
                        <a:fillRect/>
                      </a:stretch>
                    </p:blipFill>
                    <p:spPr>
                      <a:xfrm>
                        <a:off x="7038184" y="4091837"/>
                        <a:ext cx="251614" cy="304800"/>
                      </a:xfrm>
                      <a:prstGeom prst="rect">
                        <a:avLst/>
                      </a:prstGeom>
                    </p:spPr>
                  </p:pic>
                </p:oleObj>
              </mc:Fallback>
            </mc:AlternateContent>
          </a:graphicData>
        </a:graphic>
      </p:graphicFrame>
      <p:sp>
        <p:nvSpPr>
          <p:cNvPr id="13" name="文本占位符 2"/>
          <p:cNvSpPr txBox="1">
            <a:spLocks/>
          </p:cNvSpPr>
          <p:nvPr/>
        </p:nvSpPr>
        <p:spPr>
          <a:xfrm>
            <a:off x="260350" y="1014258"/>
            <a:ext cx="8629650" cy="457200"/>
          </a:xfrm>
          <a:prstGeom prst="rect">
            <a:avLst/>
          </a:prstGeom>
        </p:spPr>
        <p:txBody>
          <a:bodyPr>
            <a:noAutofit/>
          </a:bodyPr>
          <a:lst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000" dirty="0">
                <a:solidFill>
                  <a:schemeClr val="tx2"/>
                </a:solidFill>
                <a:latin typeface="微软雅黑" panose="020B0503020204020204" pitchFamily="34" charset="-122"/>
                <a:ea typeface="微软雅黑" panose="020B0503020204020204" pitchFamily="34" charset="-122"/>
              </a:rPr>
              <a:t>缺失值处理实例</a:t>
            </a:r>
          </a:p>
        </p:txBody>
      </p:sp>
      <p:graphicFrame>
        <p:nvGraphicFramePr>
          <p:cNvPr id="14" name="对象 13"/>
          <p:cNvGraphicFramePr>
            <a:graphicFrameLocks noChangeAspect="1"/>
          </p:cNvGraphicFramePr>
          <p:nvPr>
            <p:extLst>
              <p:ext uri="{D42A27DB-BD31-4B8C-83A1-F6EECF244321}">
                <p14:modId xmlns:p14="http://schemas.microsoft.com/office/powerpoint/2010/main" val="2750095727"/>
              </p:ext>
            </p:extLst>
          </p:nvPr>
        </p:nvGraphicFramePr>
        <p:xfrm>
          <a:off x="8280226" y="4063633"/>
          <a:ext cx="187767" cy="304800"/>
        </p:xfrm>
        <a:graphic>
          <a:graphicData uri="http://schemas.openxmlformats.org/presentationml/2006/ole">
            <mc:AlternateContent xmlns:mc="http://schemas.openxmlformats.org/markup-compatibility/2006">
              <mc:Choice xmlns:v="urn:schemas-microsoft-com:vml" Requires="v">
                <p:oleObj name="Formula" r:id="rId5" imgW="124560" imgH="201960" progId="Equation.Ribbit">
                  <p:embed/>
                </p:oleObj>
              </mc:Choice>
              <mc:Fallback>
                <p:oleObj name="Formula" r:id="rId5" imgW="124560" imgH="201960" progId="Equation.Ribbit">
                  <p:embed/>
                  <p:pic>
                    <p:nvPicPr>
                      <p:cNvPr id="14" name="对象 13"/>
                      <p:cNvPicPr/>
                      <p:nvPr/>
                    </p:nvPicPr>
                    <p:blipFill>
                      <a:blip r:embed="rId6"/>
                      <a:stretch>
                        <a:fillRect/>
                      </a:stretch>
                    </p:blipFill>
                    <p:spPr>
                      <a:xfrm>
                        <a:off x="8280226" y="4063633"/>
                        <a:ext cx="187767" cy="304800"/>
                      </a:xfrm>
                      <a:prstGeom prst="rect">
                        <a:avLst/>
                      </a:prstGeom>
                    </p:spPr>
                  </p:pic>
                </p:oleObj>
              </mc:Fallback>
            </mc:AlternateContent>
          </a:graphicData>
        </a:graphic>
      </p:graphicFrame>
    </p:spTree>
    <p:extLst>
      <p:ext uri="{BB962C8B-B14F-4D97-AF65-F5344CB8AC3E}">
        <p14:creationId xmlns:p14="http://schemas.microsoft.com/office/powerpoint/2010/main" val="118407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缺失值处理</a:t>
            </a:r>
          </a:p>
        </p:txBody>
      </p:sp>
      <p:sp>
        <p:nvSpPr>
          <p:cNvPr id="3" name="内容占位符 2"/>
          <p:cNvSpPr>
            <a:spLocks noGrp="1"/>
          </p:cNvSpPr>
          <p:nvPr>
            <p:ph idx="1"/>
          </p:nvPr>
        </p:nvSpPr>
        <p:spPr>
          <a:xfrm>
            <a:off x="260350" y="1014412"/>
            <a:ext cx="8616950" cy="5251634"/>
          </a:xfrm>
        </p:spPr>
        <p:txBody>
          <a:bodyPr>
            <a:normAutofit/>
          </a:bodyPr>
          <a:lstStyle/>
          <a:p>
            <a:pPr>
              <a:lnSpc>
                <a:spcPct val="120000"/>
              </a:lnSpc>
            </a:pPr>
            <a:r>
              <a:rPr lang="zh-CN" altLang="en-US" dirty="0"/>
              <a:t>令    ，   ，   分别表示在属性“色泽”上取值为“青绿”“乌黑”以及“浅白”的样本子集，有</a:t>
            </a:r>
            <a:endParaRPr lang="en-US" altLang="zh-CN" dirty="0"/>
          </a:p>
          <a:p>
            <a:endParaRPr lang="en-US" altLang="zh-CN" dirty="0"/>
          </a:p>
          <a:p>
            <a:pPr marL="0" indent="0">
              <a:buNone/>
            </a:pPr>
            <a:endParaRPr lang="en-US" altLang="zh-CN" dirty="0"/>
          </a:p>
          <a:p>
            <a:pPr marL="0" indent="0">
              <a:lnSpc>
                <a:spcPct val="50000"/>
              </a:lnSpc>
              <a:buNone/>
            </a:pPr>
            <a:endParaRPr lang="en-US" altLang="zh-CN" dirty="0"/>
          </a:p>
          <a:p>
            <a:r>
              <a:rPr lang="zh-CN" altLang="en-US" dirty="0"/>
              <a:t>因此，样本子集   上属性“色泽”的信息增益为</a:t>
            </a:r>
            <a:endParaRPr lang="en-US" altLang="zh-CN" dirty="0"/>
          </a:p>
          <a:p>
            <a:pPr marL="0" indent="0">
              <a:buNone/>
            </a:pPr>
            <a:endParaRPr lang="en-US" altLang="zh-CN" dirty="0"/>
          </a:p>
          <a:p>
            <a:pPr marL="0" indent="0">
              <a:buNone/>
            </a:pPr>
            <a:endParaRPr lang="en-US" altLang="zh-CN" dirty="0"/>
          </a:p>
          <a:p>
            <a:pPr marL="0" indent="0">
              <a:lnSpc>
                <a:spcPct val="160000"/>
              </a:lnSpc>
              <a:buNone/>
            </a:pPr>
            <a:endParaRPr lang="en-US" altLang="zh-CN" dirty="0"/>
          </a:p>
          <a:p>
            <a:r>
              <a:rPr lang="zh-CN" altLang="en-US" dirty="0"/>
              <a:t>于是，样本集</a:t>
            </a:r>
            <a:r>
              <a:rPr lang="en-US" altLang="zh-CN" dirty="0"/>
              <a:t>   </a:t>
            </a:r>
            <a:r>
              <a:rPr lang="zh-CN" altLang="en-US" dirty="0"/>
              <a:t>上属性“色泽”的信息增益为</a:t>
            </a:r>
            <a:endParaRPr lang="en-US" altLang="zh-CN" dirty="0"/>
          </a:p>
          <a:p>
            <a:pPr marL="0"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761439389"/>
              </p:ext>
            </p:extLst>
          </p:nvPr>
        </p:nvGraphicFramePr>
        <p:xfrm>
          <a:off x="1012825" y="1079782"/>
          <a:ext cx="311150" cy="352425"/>
        </p:xfrm>
        <a:graphic>
          <a:graphicData uri="http://schemas.openxmlformats.org/presentationml/2006/ole">
            <mc:AlternateContent xmlns:mc="http://schemas.openxmlformats.org/markup-compatibility/2006">
              <mc:Choice xmlns:v="urn:schemas-microsoft-com:vml" Requires="v">
                <p:oleObj name="Formula" r:id="rId2" imgW="177840" imgH="201960" progId="Equation.Ribbit">
                  <p:embed/>
                </p:oleObj>
              </mc:Choice>
              <mc:Fallback>
                <p:oleObj name="Formula" r:id="rId2" imgW="177840" imgH="201960" progId="Equation.Ribbit">
                  <p:embed/>
                  <p:pic>
                    <p:nvPicPr>
                      <p:cNvPr id="4" name="对象 3"/>
                      <p:cNvPicPr/>
                      <p:nvPr/>
                    </p:nvPicPr>
                    <p:blipFill>
                      <a:blip r:embed="rId3"/>
                      <a:stretch>
                        <a:fillRect/>
                      </a:stretch>
                    </p:blipFill>
                    <p:spPr>
                      <a:xfrm>
                        <a:off x="1012825" y="1079782"/>
                        <a:ext cx="311150" cy="35242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400958857"/>
              </p:ext>
            </p:extLst>
          </p:nvPr>
        </p:nvGraphicFramePr>
        <p:xfrm>
          <a:off x="1543050" y="1102007"/>
          <a:ext cx="315913" cy="350837"/>
        </p:xfrm>
        <a:graphic>
          <a:graphicData uri="http://schemas.openxmlformats.org/presentationml/2006/ole">
            <mc:AlternateContent xmlns:mc="http://schemas.openxmlformats.org/markup-compatibility/2006">
              <mc:Choice xmlns:v="urn:schemas-microsoft-com:vml" Requires="v">
                <p:oleObj name="Formula" r:id="rId4" imgW="180360" imgH="201960" progId="Equation.Ribbit">
                  <p:embed/>
                </p:oleObj>
              </mc:Choice>
              <mc:Fallback>
                <p:oleObj name="Formula" r:id="rId4" imgW="180360" imgH="201960" progId="Equation.Ribbit">
                  <p:embed/>
                  <p:pic>
                    <p:nvPicPr>
                      <p:cNvPr id="6" name="对象 5"/>
                      <p:cNvPicPr/>
                      <p:nvPr/>
                    </p:nvPicPr>
                    <p:blipFill>
                      <a:blip r:embed="rId5"/>
                      <a:stretch>
                        <a:fillRect/>
                      </a:stretch>
                    </p:blipFill>
                    <p:spPr>
                      <a:xfrm>
                        <a:off x="1543050" y="1102007"/>
                        <a:ext cx="315913" cy="35083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35548672"/>
              </p:ext>
            </p:extLst>
          </p:nvPr>
        </p:nvGraphicFramePr>
        <p:xfrm>
          <a:off x="2116138" y="1105182"/>
          <a:ext cx="319087" cy="349250"/>
        </p:xfrm>
        <a:graphic>
          <a:graphicData uri="http://schemas.openxmlformats.org/presentationml/2006/ole">
            <mc:AlternateContent xmlns:mc="http://schemas.openxmlformats.org/markup-compatibility/2006">
              <mc:Choice xmlns:v="urn:schemas-microsoft-com:vml" Requires="v">
                <p:oleObj name="Formula" r:id="rId6" imgW="181800" imgH="201960" progId="Equation.Ribbit">
                  <p:embed/>
                </p:oleObj>
              </mc:Choice>
              <mc:Fallback>
                <p:oleObj name="Formula" r:id="rId6" imgW="181800" imgH="201960" progId="Equation.Ribbit">
                  <p:embed/>
                  <p:pic>
                    <p:nvPicPr>
                      <p:cNvPr id="7" name="对象 6"/>
                      <p:cNvPicPr/>
                      <p:nvPr/>
                    </p:nvPicPr>
                    <p:blipFill>
                      <a:blip r:embed="rId7"/>
                      <a:stretch>
                        <a:fillRect/>
                      </a:stretch>
                    </p:blipFill>
                    <p:spPr>
                      <a:xfrm>
                        <a:off x="2116138" y="1105182"/>
                        <a:ext cx="319087" cy="34925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99299904"/>
              </p:ext>
            </p:extLst>
          </p:nvPr>
        </p:nvGraphicFramePr>
        <p:xfrm>
          <a:off x="553525" y="1985368"/>
          <a:ext cx="4020576" cy="456507"/>
        </p:xfrm>
        <a:graphic>
          <a:graphicData uri="http://schemas.openxmlformats.org/presentationml/2006/ole">
            <mc:AlternateContent xmlns:mc="http://schemas.openxmlformats.org/markup-compatibility/2006">
              <mc:Choice xmlns:v="urn:schemas-microsoft-com:vml" Requires="v">
                <p:oleObj name="Formula" r:id="rId8" imgW="2649240" imgH="301320" progId="Equation.Ribbit">
                  <p:embed/>
                </p:oleObj>
              </mc:Choice>
              <mc:Fallback>
                <p:oleObj name="Formula" r:id="rId8" imgW="2649240" imgH="301320" progId="Equation.Ribbit">
                  <p:embed/>
                  <p:pic>
                    <p:nvPicPr>
                      <p:cNvPr id="8" name="对象 7"/>
                      <p:cNvPicPr/>
                      <p:nvPr/>
                    </p:nvPicPr>
                    <p:blipFill>
                      <a:blip r:embed="rId9"/>
                      <a:stretch>
                        <a:fillRect/>
                      </a:stretch>
                    </p:blipFill>
                    <p:spPr>
                      <a:xfrm>
                        <a:off x="553525" y="1985368"/>
                        <a:ext cx="4020576" cy="45650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97925729"/>
              </p:ext>
            </p:extLst>
          </p:nvPr>
        </p:nvGraphicFramePr>
        <p:xfrm>
          <a:off x="4713604" y="1984538"/>
          <a:ext cx="4018916" cy="458166"/>
        </p:xfrm>
        <a:graphic>
          <a:graphicData uri="http://schemas.openxmlformats.org/presentationml/2006/ole">
            <mc:AlternateContent xmlns:mc="http://schemas.openxmlformats.org/markup-compatibility/2006">
              <mc:Choice xmlns:v="urn:schemas-microsoft-com:vml" Requires="v">
                <p:oleObj name="Formula" r:id="rId10" imgW="2649240" imgH="301320" progId="Equation.Ribbit">
                  <p:embed/>
                </p:oleObj>
              </mc:Choice>
              <mc:Fallback>
                <p:oleObj name="Formula" r:id="rId10" imgW="2649240" imgH="301320" progId="Equation.Ribbit">
                  <p:embed/>
                  <p:pic>
                    <p:nvPicPr>
                      <p:cNvPr id="9" name="对象 8"/>
                      <p:cNvPicPr/>
                      <p:nvPr/>
                    </p:nvPicPr>
                    <p:blipFill>
                      <a:blip r:embed="rId11"/>
                      <a:stretch>
                        <a:fillRect/>
                      </a:stretch>
                    </p:blipFill>
                    <p:spPr>
                      <a:xfrm>
                        <a:off x="4713604" y="1984538"/>
                        <a:ext cx="4018916" cy="458166"/>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40188061"/>
              </p:ext>
            </p:extLst>
          </p:nvPr>
        </p:nvGraphicFramePr>
        <p:xfrm>
          <a:off x="559869" y="2433316"/>
          <a:ext cx="4008956" cy="456506"/>
        </p:xfrm>
        <a:graphic>
          <a:graphicData uri="http://schemas.openxmlformats.org/presentationml/2006/ole">
            <mc:AlternateContent xmlns:mc="http://schemas.openxmlformats.org/markup-compatibility/2006">
              <mc:Choice xmlns:v="urn:schemas-microsoft-com:vml" Requires="v">
                <p:oleObj name="Formula" r:id="rId12" imgW="2649240" imgH="301320" progId="Equation.Ribbit">
                  <p:embed/>
                </p:oleObj>
              </mc:Choice>
              <mc:Fallback>
                <p:oleObj name="Formula" r:id="rId12" imgW="2649240" imgH="301320" progId="Equation.Ribbit">
                  <p:embed/>
                  <p:pic>
                    <p:nvPicPr>
                      <p:cNvPr id="10" name="对象 9"/>
                      <p:cNvPicPr/>
                      <p:nvPr/>
                    </p:nvPicPr>
                    <p:blipFill>
                      <a:blip r:embed="rId13"/>
                      <a:stretch>
                        <a:fillRect/>
                      </a:stretch>
                    </p:blipFill>
                    <p:spPr>
                      <a:xfrm>
                        <a:off x="559869" y="2433316"/>
                        <a:ext cx="4008956" cy="456506"/>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044385279"/>
              </p:ext>
            </p:extLst>
          </p:nvPr>
        </p:nvGraphicFramePr>
        <p:xfrm>
          <a:off x="1374775" y="3509260"/>
          <a:ext cx="3773488" cy="644525"/>
        </p:xfrm>
        <a:graphic>
          <a:graphicData uri="http://schemas.openxmlformats.org/presentationml/2006/ole">
            <mc:AlternateContent xmlns:mc="http://schemas.openxmlformats.org/markup-compatibility/2006">
              <mc:Choice xmlns:v="urn:schemas-microsoft-com:vml" Requires="v">
                <p:oleObj name="Formula" r:id="rId14" imgW="2701440" imgH="462600" progId="Equation.Ribbit">
                  <p:embed/>
                </p:oleObj>
              </mc:Choice>
              <mc:Fallback>
                <p:oleObj name="Formula" r:id="rId14" imgW="2701440" imgH="462600" progId="Equation.Ribbit">
                  <p:embed/>
                  <p:pic>
                    <p:nvPicPr>
                      <p:cNvPr id="11" name="对象 10"/>
                      <p:cNvPicPr/>
                      <p:nvPr/>
                    </p:nvPicPr>
                    <p:blipFill>
                      <a:blip r:embed="rId15"/>
                      <a:stretch>
                        <a:fillRect/>
                      </a:stretch>
                    </p:blipFill>
                    <p:spPr>
                      <a:xfrm>
                        <a:off x="1374775" y="3509260"/>
                        <a:ext cx="3773488" cy="6445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976283585"/>
              </p:ext>
            </p:extLst>
          </p:nvPr>
        </p:nvGraphicFramePr>
        <p:xfrm>
          <a:off x="2708275" y="4174422"/>
          <a:ext cx="4843463" cy="314325"/>
        </p:xfrm>
        <a:graphic>
          <a:graphicData uri="http://schemas.openxmlformats.org/presentationml/2006/ole">
            <mc:AlternateContent xmlns:mc="http://schemas.openxmlformats.org/markup-compatibility/2006">
              <mc:Choice xmlns:v="urn:schemas-microsoft-com:vml" Requires="v">
                <p:oleObj name="Formula" r:id="rId16" imgW="3156120" imgH="204480" progId="Equation.Ribbit">
                  <p:embed/>
                </p:oleObj>
              </mc:Choice>
              <mc:Fallback>
                <p:oleObj name="Formula" r:id="rId16" imgW="3156120" imgH="204480" progId="Equation.Ribbit">
                  <p:embed/>
                  <p:pic>
                    <p:nvPicPr>
                      <p:cNvPr id="12" name="对象 11"/>
                      <p:cNvPicPr/>
                      <p:nvPr/>
                    </p:nvPicPr>
                    <p:blipFill>
                      <a:blip r:embed="rId17"/>
                      <a:stretch>
                        <a:fillRect/>
                      </a:stretch>
                    </p:blipFill>
                    <p:spPr>
                      <a:xfrm>
                        <a:off x="2708275" y="4174422"/>
                        <a:ext cx="4843463" cy="31432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867732139"/>
              </p:ext>
            </p:extLst>
          </p:nvPr>
        </p:nvGraphicFramePr>
        <p:xfrm>
          <a:off x="2714625" y="4566535"/>
          <a:ext cx="754063" cy="249237"/>
        </p:xfrm>
        <a:graphic>
          <a:graphicData uri="http://schemas.openxmlformats.org/presentationml/2006/ole">
            <mc:AlternateContent xmlns:mc="http://schemas.openxmlformats.org/markup-compatibility/2006">
              <mc:Choice xmlns:v="urn:schemas-microsoft-com:vml" Requires="v">
                <p:oleObj name="Formula" r:id="rId18" imgW="495360" imgH="162720" progId="Equation.Ribbit">
                  <p:embed/>
                </p:oleObj>
              </mc:Choice>
              <mc:Fallback>
                <p:oleObj name="Formula" r:id="rId18" imgW="495360" imgH="162720" progId="Equation.Ribbit">
                  <p:embed/>
                  <p:pic>
                    <p:nvPicPr>
                      <p:cNvPr id="13" name="对象 12"/>
                      <p:cNvPicPr/>
                      <p:nvPr/>
                    </p:nvPicPr>
                    <p:blipFill>
                      <a:blip r:embed="rId19"/>
                      <a:stretch>
                        <a:fillRect/>
                      </a:stretch>
                    </p:blipFill>
                    <p:spPr>
                      <a:xfrm>
                        <a:off x="2714625" y="4566535"/>
                        <a:ext cx="754063" cy="24923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705143123"/>
              </p:ext>
            </p:extLst>
          </p:nvPr>
        </p:nvGraphicFramePr>
        <p:xfrm>
          <a:off x="2709863" y="3116650"/>
          <a:ext cx="222250" cy="360363"/>
        </p:xfrm>
        <a:graphic>
          <a:graphicData uri="http://schemas.openxmlformats.org/presentationml/2006/ole">
            <mc:AlternateContent xmlns:mc="http://schemas.openxmlformats.org/markup-compatibility/2006">
              <mc:Choice xmlns:v="urn:schemas-microsoft-com:vml" Requires="v">
                <p:oleObj name="Formula" r:id="rId20" imgW="124560" imgH="201960" progId="Equation.Ribbit">
                  <p:embed/>
                </p:oleObj>
              </mc:Choice>
              <mc:Fallback>
                <p:oleObj name="Formula" r:id="rId20" imgW="124560" imgH="201960" progId="Equation.Ribbit">
                  <p:embed/>
                  <p:pic>
                    <p:nvPicPr>
                      <p:cNvPr id="14" name="对象 13"/>
                      <p:cNvPicPr/>
                      <p:nvPr/>
                    </p:nvPicPr>
                    <p:blipFill>
                      <a:blip r:embed="rId21"/>
                      <a:stretch>
                        <a:fillRect/>
                      </a:stretch>
                    </p:blipFill>
                    <p:spPr>
                      <a:xfrm>
                        <a:off x="2709863" y="3116650"/>
                        <a:ext cx="222250" cy="360363"/>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218626299"/>
              </p:ext>
            </p:extLst>
          </p:nvPr>
        </p:nvGraphicFramePr>
        <p:xfrm>
          <a:off x="1323975" y="5601108"/>
          <a:ext cx="6227762" cy="363538"/>
        </p:xfrm>
        <a:graphic>
          <a:graphicData uri="http://schemas.openxmlformats.org/presentationml/2006/ole">
            <mc:AlternateContent xmlns:mc="http://schemas.openxmlformats.org/markup-compatibility/2006">
              <mc:Choice xmlns:v="urn:schemas-microsoft-com:vml" Requires="v">
                <p:oleObj name="Formula" r:id="rId22" imgW="3718800" imgH="217440" progId="Equation.Ribbit">
                  <p:embed/>
                </p:oleObj>
              </mc:Choice>
              <mc:Fallback>
                <p:oleObj name="Formula" r:id="rId22" imgW="3718800" imgH="217440" progId="Equation.Ribbit">
                  <p:embed/>
                  <p:pic>
                    <p:nvPicPr>
                      <p:cNvPr id="15" name="对象 14"/>
                      <p:cNvPicPr/>
                      <p:nvPr/>
                    </p:nvPicPr>
                    <p:blipFill>
                      <a:blip r:embed="rId23"/>
                      <a:stretch>
                        <a:fillRect/>
                      </a:stretch>
                    </p:blipFill>
                    <p:spPr>
                      <a:xfrm>
                        <a:off x="1323975" y="5601108"/>
                        <a:ext cx="6227762" cy="363538"/>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490590844"/>
              </p:ext>
            </p:extLst>
          </p:nvPr>
        </p:nvGraphicFramePr>
        <p:xfrm>
          <a:off x="2449916" y="5120890"/>
          <a:ext cx="211137" cy="280987"/>
        </p:xfrm>
        <a:graphic>
          <a:graphicData uri="http://schemas.openxmlformats.org/presentationml/2006/ole">
            <mc:AlternateContent xmlns:mc="http://schemas.openxmlformats.org/markup-compatibility/2006">
              <mc:Choice xmlns:v="urn:schemas-microsoft-com:vml" Requires="v">
                <p:oleObj name="Formula" r:id="rId24" imgW="124560" imgH="166680" progId="Equation.Ribbit">
                  <p:embed/>
                </p:oleObj>
              </mc:Choice>
              <mc:Fallback>
                <p:oleObj name="Formula" r:id="rId24" imgW="124560" imgH="166680" progId="Equation.Ribbit">
                  <p:embed/>
                  <p:pic>
                    <p:nvPicPr>
                      <p:cNvPr id="16" name="对象 15"/>
                      <p:cNvPicPr/>
                      <p:nvPr/>
                    </p:nvPicPr>
                    <p:blipFill>
                      <a:blip r:embed="rId25"/>
                      <a:stretch>
                        <a:fillRect/>
                      </a:stretch>
                    </p:blipFill>
                    <p:spPr>
                      <a:xfrm>
                        <a:off x="2449916" y="5120890"/>
                        <a:ext cx="211137" cy="280987"/>
                      </a:xfrm>
                      <a:prstGeom prst="rect">
                        <a:avLst/>
                      </a:prstGeom>
                    </p:spPr>
                  </p:pic>
                </p:oleObj>
              </mc:Fallback>
            </mc:AlternateContent>
          </a:graphicData>
        </a:graphic>
      </p:graphicFrame>
    </p:spTree>
    <p:extLst>
      <p:ext uri="{BB962C8B-B14F-4D97-AF65-F5344CB8AC3E}">
        <p14:creationId xmlns:p14="http://schemas.microsoft.com/office/powerpoint/2010/main" val="215798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a:spLocks noChangeArrowheads="1"/>
          </p:cNvSpPr>
          <p:nvPr/>
        </p:nvSpPr>
        <p:spPr bwMode="auto">
          <a:xfrm>
            <a:off x="4258962" y="1908593"/>
            <a:ext cx="3039762" cy="390182"/>
          </a:xfrm>
          <a:prstGeom prst="rect">
            <a:avLst/>
          </a:prstGeom>
          <a:ln w="38100">
            <a:solidFill>
              <a:srgbClr val="C00000"/>
            </a:solidFill>
          </a:ln>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marL="457200" lvl="1" indent="0">
              <a:buNone/>
            </a:pPr>
            <a:endParaRPr lang="en-US" altLang="zh-CN" sz="2400" dirty="0"/>
          </a:p>
        </p:txBody>
      </p:sp>
      <p:sp>
        <p:nvSpPr>
          <p:cNvPr id="2" name="标题 1"/>
          <p:cNvSpPr>
            <a:spLocks noGrp="1"/>
          </p:cNvSpPr>
          <p:nvPr>
            <p:ph type="title"/>
          </p:nvPr>
        </p:nvSpPr>
        <p:spPr/>
        <p:txBody>
          <a:bodyPr/>
          <a:lstStyle/>
          <a:p>
            <a:r>
              <a:rPr lang="zh-CN" altLang="en-US" dirty="0"/>
              <a:t>连续与缺失值 </a:t>
            </a:r>
            <a:r>
              <a:rPr lang="en-US" altLang="zh-CN" dirty="0"/>
              <a:t>– </a:t>
            </a:r>
            <a:r>
              <a:rPr lang="zh-CN" altLang="en-US" dirty="0"/>
              <a:t>缺失值处理</a:t>
            </a:r>
          </a:p>
        </p:txBody>
      </p:sp>
      <p:sp>
        <p:nvSpPr>
          <p:cNvPr id="3" name="内容占位符 2"/>
          <p:cNvSpPr>
            <a:spLocks noGrp="1"/>
          </p:cNvSpPr>
          <p:nvPr>
            <p:ph idx="1"/>
          </p:nvPr>
        </p:nvSpPr>
        <p:spPr>
          <a:xfrm>
            <a:off x="260350" y="1037322"/>
            <a:ext cx="8616950" cy="5051990"/>
          </a:xfrm>
        </p:spPr>
        <p:txBody>
          <a:bodyPr/>
          <a:lstStyle/>
          <a:p>
            <a:r>
              <a:rPr lang="zh-CN" altLang="en-US" dirty="0"/>
              <a:t>类似地可计算出所有属性在数据集上的信息增益</a:t>
            </a:r>
            <a:endParaRPr lang="en-US" altLang="zh-CN" dirty="0"/>
          </a:p>
          <a:p>
            <a:endParaRPr lang="en-US" altLang="zh-CN" dirty="0"/>
          </a:p>
          <a:p>
            <a:endParaRPr lang="en-US" altLang="zh-CN" dirty="0"/>
          </a:p>
          <a:p>
            <a:endParaRPr lang="en-US" altLang="zh-CN" dirty="0"/>
          </a:p>
          <a:p>
            <a:pPr marL="0" indent="0">
              <a:buNone/>
            </a:pPr>
            <a:r>
              <a:rPr lang="en-US" altLang="zh-CN" dirty="0"/>
              <a:t>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712552252"/>
              </p:ext>
            </p:extLst>
          </p:nvPr>
        </p:nvGraphicFramePr>
        <p:xfrm>
          <a:off x="1212850" y="1532623"/>
          <a:ext cx="2801938" cy="361950"/>
        </p:xfrm>
        <a:graphic>
          <a:graphicData uri="http://schemas.openxmlformats.org/presentationml/2006/ole">
            <mc:AlternateContent xmlns:mc="http://schemas.openxmlformats.org/markup-compatibility/2006">
              <mc:Choice xmlns:v="urn:schemas-microsoft-com:vml" Requires="v">
                <p:oleObj name="Formula" r:id="rId2" imgW="1464480" imgH="189360" progId="Equation.Ribbit">
                  <p:embed/>
                </p:oleObj>
              </mc:Choice>
              <mc:Fallback>
                <p:oleObj name="Formula" r:id="rId2" imgW="1464480" imgH="189360" progId="Equation.Ribbit">
                  <p:embed/>
                  <p:pic>
                    <p:nvPicPr>
                      <p:cNvPr id="4" name="对象 3"/>
                      <p:cNvPicPr/>
                      <p:nvPr/>
                    </p:nvPicPr>
                    <p:blipFill>
                      <a:blip r:embed="rId3"/>
                      <a:stretch>
                        <a:fillRect/>
                      </a:stretch>
                    </p:blipFill>
                    <p:spPr>
                      <a:xfrm>
                        <a:off x="1212850" y="1532623"/>
                        <a:ext cx="2801938" cy="3619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08184729"/>
              </p:ext>
            </p:extLst>
          </p:nvPr>
        </p:nvGraphicFramePr>
        <p:xfrm>
          <a:off x="4430713" y="1518336"/>
          <a:ext cx="2609850" cy="336550"/>
        </p:xfrm>
        <a:graphic>
          <a:graphicData uri="http://schemas.openxmlformats.org/presentationml/2006/ole">
            <mc:AlternateContent xmlns:mc="http://schemas.openxmlformats.org/markup-compatibility/2006">
              <mc:Choice xmlns:v="urn:schemas-microsoft-com:vml" Requires="v">
                <p:oleObj name="Formula" r:id="rId4" imgW="1459440" imgH="188280" progId="Equation.Ribbit">
                  <p:embed/>
                </p:oleObj>
              </mc:Choice>
              <mc:Fallback>
                <p:oleObj name="Formula" r:id="rId4" imgW="1459440" imgH="188280" progId="Equation.Ribbit">
                  <p:embed/>
                  <p:pic>
                    <p:nvPicPr>
                      <p:cNvPr id="5" name="对象 4"/>
                      <p:cNvPicPr/>
                      <p:nvPr/>
                    </p:nvPicPr>
                    <p:blipFill>
                      <a:blip r:embed="rId5"/>
                      <a:stretch>
                        <a:fillRect/>
                      </a:stretch>
                    </p:blipFill>
                    <p:spPr>
                      <a:xfrm>
                        <a:off x="4430713" y="1518336"/>
                        <a:ext cx="2609850" cy="3365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80573146"/>
              </p:ext>
            </p:extLst>
          </p:nvPr>
        </p:nvGraphicFramePr>
        <p:xfrm>
          <a:off x="1212850" y="1945373"/>
          <a:ext cx="2801938" cy="360363"/>
        </p:xfrm>
        <a:graphic>
          <a:graphicData uri="http://schemas.openxmlformats.org/presentationml/2006/ole">
            <mc:AlternateContent xmlns:mc="http://schemas.openxmlformats.org/markup-compatibility/2006">
              <mc:Choice xmlns:v="urn:schemas-microsoft-com:vml" Requires="v">
                <p:oleObj name="Formula" r:id="rId6" imgW="1464480" imgH="188280" progId="Equation.Ribbit">
                  <p:embed/>
                </p:oleObj>
              </mc:Choice>
              <mc:Fallback>
                <p:oleObj name="Formula" r:id="rId6" imgW="1464480" imgH="188280" progId="Equation.Ribbit">
                  <p:embed/>
                  <p:pic>
                    <p:nvPicPr>
                      <p:cNvPr id="6" name="对象 5"/>
                      <p:cNvPicPr/>
                      <p:nvPr/>
                    </p:nvPicPr>
                    <p:blipFill>
                      <a:blip r:embed="rId7"/>
                      <a:stretch>
                        <a:fillRect/>
                      </a:stretch>
                    </p:blipFill>
                    <p:spPr>
                      <a:xfrm>
                        <a:off x="1212850" y="1945373"/>
                        <a:ext cx="2801938" cy="36036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251589263"/>
              </p:ext>
            </p:extLst>
          </p:nvPr>
        </p:nvGraphicFramePr>
        <p:xfrm>
          <a:off x="4427538" y="1943786"/>
          <a:ext cx="2614612" cy="331787"/>
        </p:xfrm>
        <a:graphic>
          <a:graphicData uri="http://schemas.openxmlformats.org/presentationml/2006/ole">
            <mc:AlternateContent xmlns:mc="http://schemas.openxmlformats.org/markup-compatibility/2006">
              <mc:Choice xmlns:v="urn:schemas-microsoft-com:vml" Requires="v">
                <p:oleObj name="Formula" r:id="rId8" imgW="1468440" imgH="185760" progId="Equation.Ribbit">
                  <p:embed/>
                </p:oleObj>
              </mc:Choice>
              <mc:Fallback>
                <p:oleObj name="Formula" r:id="rId8" imgW="1468440" imgH="185760" progId="Equation.Ribbit">
                  <p:embed/>
                  <p:pic>
                    <p:nvPicPr>
                      <p:cNvPr id="7" name="对象 6"/>
                      <p:cNvPicPr/>
                      <p:nvPr/>
                    </p:nvPicPr>
                    <p:blipFill>
                      <a:blip r:embed="rId9"/>
                      <a:stretch>
                        <a:fillRect/>
                      </a:stretch>
                    </p:blipFill>
                    <p:spPr>
                      <a:xfrm>
                        <a:off x="4427538" y="1943786"/>
                        <a:ext cx="2614612" cy="33178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862177529"/>
              </p:ext>
            </p:extLst>
          </p:nvPr>
        </p:nvGraphicFramePr>
        <p:xfrm>
          <a:off x="1233488" y="2337486"/>
          <a:ext cx="2781300" cy="354012"/>
        </p:xfrm>
        <a:graphic>
          <a:graphicData uri="http://schemas.openxmlformats.org/presentationml/2006/ole">
            <mc:AlternateContent xmlns:mc="http://schemas.openxmlformats.org/markup-compatibility/2006">
              <mc:Choice xmlns:v="urn:schemas-microsoft-com:vml" Requires="v">
                <p:oleObj name="Formula" r:id="rId10" imgW="1465920" imgH="186840" progId="Equation.Ribbit">
                  <p:embed/>
                </p:oleObj>
              </mc:Choice>
              <mc:Fallback>
                <p:oleObj name="Formula" r:id="rId10" imgW="1465920" imgH="186840" progId="Equation.Ribbit">
                  <p:embed/>
                  <p:pic>
                    <p:nvPicPr>
                      <p:cNvPr id="8" name="对象 7"/>
                      <p:cNvPicPr/>
                      <p:nvPr/>
                    </p:nvPicPr>
                    <p:blipFill>
                      <a:blip r:embed="rId11"/>
                      <a:stretch>
                        <a:fillRect/>
                      </a:stretch>
                    </p:blipFill>
                    <p:spPr>
                      <a:xfrm>
                        <a:off x="1233488" y="2337486"/>
                        <a:ext cx="2781300" cy="35401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54263558"/>
              </p:ext>
            </p:extLst>
          </p:nvPr>
        </p:nvGraphicFramePr>
        <p:xfrm>
          <a:off x="4430713" y="2353361"/>
          <a:ext cx="2638425" cy="339725"/>
        </p:xfrm>
        <a:graphic>
          <a:graphicData uri="http://schemas.openxmlformats.org/presentationml/2006/ole">
            <mc:AlternateContent xmlns:mc="http://schemas.openxmlformats.org/markup-compatibility/2006">
              <mc:Choice xmlns:v="urn:schemas-microsoft-com:vml" Requires="v">
                <p:oleObj name="Formula" r:id="rId12" imgW="1465920" imgH="188280" progId="Equation.Ribbit">
                  <p:embed/>
                </p:oleObj>
              </mc:Choice>
              <mc:Fallback>
                <p:oleObj name="Formula" r:id="rId12" imgW="1465920" imgH="188280" progId="Equation.Ribbit">
                  <p:embed/>
                  <p:pic>
                    <p:nvPicPr>
                      <p:cNvPr id="9" name="对象 8"/>
                      <p:cNvPicPr/>
                      <p:nvPr/>
                    </p:nvPicPr>
                    <p:blipFill>
                      <a:blip r:embed="rId13"/>
                      <a:stretch>
                        <a:fillRect/>
                      </a:stretch>
                    </p:blipFill>
                    <p:spPr>
                      <a:xfrm>
                        <a:off x="4430713" y="2353361"/>
                        <a:ext cx="2638425" cy="339725"/>
                      </a:xfrm>
                      <a:prstGeom prst="rect">
                        <a:avLst/>
                      </a:prstGeom>
                    </p:spPr>
                  </p:pic>
                </p:oleObj>
              </mc:Fallback>
            </mc:AlternateContent>
          </a:graphicData>
        </a:graphic>
      </p:graphicFrame>
      <p:pic>
        <p:nvPicPr>
          <p:cNvPr id="10" name="内容占位符 3"/>
          <p:cNvPicPr>
            <a:picLocks noChangeAspect="1"/>
          </p:cNvPicPr>
          <p:nvPr/>
        </p:nvPicPr>
        <p:blipFill>
          <a:blip r:embed="rId14"/>
          <a:stretch>
            <a:fillRect/>
          </a:stretch>
        </p:blipFill>
        <p:spPr>
          <a:xfrm>
            <a:off x="3822184" y="2834493"/>
            <a:ext cx="4567023" cy="3225760"/>
          </a:xfrm>
          <a:prstGeom prst="rect">
            <a:avLst/>
          </a:prstGeom>
        </p:spPr>
      </p:pic>
      <p:sp>
        <p:nvSpPr>
          <p:cNvPr id="18" name="矩形 17"/>
          <p:cNvSpPr/>
          <p:nvPr/>
        </p:nvSpPr>
        <p:spPr>
          <a:xfrm>
            <a:off x="3871785" y="3141212"/>
            <a:ext cx="4448432" cy="985944"/>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880017" y="5503472"/>
            <a:ext cx="4423724" cy="161614"/>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194854" y="2891481"/>
            <a:ext cx="411892" cy="311390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98936" y="3039514"/>
            <a:ext cx="439693" cy="203396"/>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875901" y="4123034"/>
            <a:ext cx="4448432" cy="160642"/>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871779" y="4460790"/>
            <a:ext cx="4448432" cy="205950"/>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884139" y="5181600"/>
            <a:ext cx="4448432" cy="305396"/>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p:cNvSpPr/>
          <p:nvPr/>
        </p:nvSpPr>
        <p:spPr>
          <a:xfrm>
            <a:off x="3884133" y="5811796"/>
            <a:ext cx="4448432" cy="160642"/>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3875901" y="4843848"/>
            <a:ext cx="4448432" cy="321275"/>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884133" y="5684755"/>
            <a:ext cx="4448432" cy="135924"/>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88230" y="2943751"/>
            <a:ext cx="2864964" cy="369332"/>
          </a:xfrm>
          <a:prstGeom prst="rect">
            <a:avLst/>
          </a:prstGeom>
          <a:noFill/>
        </p:spPr>
        <p:txBody>
          <a:bodyPr wrap="square" rtlCol="0">
            <a:spAutoFit/>
          </a:bodyPr>
          <a:lstStyle/>
          <a:p>
            <a:r>
              <a:rPr lang="zh-CN" altLang="en-US" dirty="0">
                <a:solidFill>
                  <a:schemeClr val="accent1"/>
                </a:solidFill>
              </a:rPr>
              <a:t>进入“纹理</a:t>
            </a:r>
            <a:r>
              <a:rPr lang="en-US" altLang="zh-CN" dirty="0">
                <a:solidFill>
                  <a:schemeClr val="accent1"/>
                </a:solidFill>
              </a:rPr>
              <a:t>=</a:t>
            </a:r>
            <a:r>
              <a:rPr lang="zh-CN" altLang="en-US" dirty="0">
                <a:solidFill>
                  <a:schemeClr val="accent1"/>
                </a:solidFill>
              </a:rPr>
              <a:t>清晰”分支</a:t>
            </a:r>
          </a:p>
        </p:txBody>
      </p:sp>
      <p:sp>
        <p:nvSpPr>
          <p:cNvPr id="31" name="矩形 30"/>
          <p:cNvSpPr/>
          <p:nvPr/>
        </p:nvSpPr>
        <p:spPr>
          <a:xfrm>
            <a:off x="386576" y="3381388"/>
            <a:ext cx="439693" cy="203396"/>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84108" y="3285624"/>
            <a:ext cx="2864964" cy="369332"/>
          </a:xfrm>
          <a:prstGeom prst="rect">
            <a:avLst/>
          </a:prstGeom>
          <a:noFill/>
        </p:spPr>
        <p:txBody>
          <a:bodyPr wrap="square" rtlCol="0">
            <a:spAutoFit/>
          </a:bodyPr>
          <a:lstStyle/>
          <a:p>
            <a:r>
              <a:rPr lang="zh-CN" altLang="en-US" dirty="0">
                <a:solidFill>
                  <a:schemeClr val="accent3"/>
                </a:solidFill>
              </a:rPr>
              <a:t>进入“纹理</a:t>
            </a:r>
            <a:r>
              <a:rPr lang="en-US" altLang="zh-CN" dirty="0">
                <a:solidFill>
                  <a:schemeClr val="accent3"/>
                </a:solidFill>
              </a:rPr>
              <a:t>=</a:t>
            </a:r>
            <a:r>
              <a:rPr lang="zh-CN" altLang="en-US" dirty="0">
                <a:solidFill>
                  <a:schemeClr val="accent3"/>
                </a:solidFill>
              </a:rPr>
              <a:t>稍糊”分支</a:t>
            </a:r>
          </a:p>
        </p:txBody>
      </p:sp>
      <p:sp>
        <p:nvSpPr>
          <p:cNvPr id="33" name="矩形 32"/>
          <p:cNvSpPr/>
          <p:nvPr/>
        </p:nvSpPr>
        <p:spPr>
          <a:xfrm>
            <a:off x="382454" y="3731499"/>
            <a:ext cx="439693" cy="203396"/>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79986" y="3643972"/>
            <a:ext cx="2864964" cy="369332"/>
          </a:xfrm>
          <a:prstGeom prst="rect">
            <a:avLst/>
          </a:prstGeom>
          <a:noFill/>
        </p:spPr>
        <p:txBody>
          <a:bodyPr wrap="square" rtlCol="0">
            <a:spAutoFit/>
          </a:bodyPr>
          <a:lstStyle/>
          <a:p>
            <a:r>
              <a:rPr lang="zh-CN" altLang="en-US" dirty="0">
                <a:solidFill>
                  <a:schemeClr val="accent5"/>
                </a:solidFill>
              </a:rPr>
              <a:t>进入“纹理</a:t>
            </a:r>
            <a:r>
              <a:rPr lang="en-US" altLang="zh-CN" dirty="0">
                <a:solidFill>
                  <a:schemeClr val="accent5"/>
                </a:solidFill>
              </a:rPr>
              <a:t>=</a:t>
            </a:r>
            <a:r>
              <a:rPr lang="zh-CN" altLang="en-US" dirty="0">
                <a:solidFill>
                  <a:schemeClr val="accent5"/>
                </a:solidFill>
              </a:rPr>
              <a:t>模糊”分支</a:t>
            </a:r>
          </a:p>
        </p:txBody>
      </p:sp>
      <p:sp>
        <p:nvSpPr>
          <p:cNvPr id="35" name="矩形 34"/>
          <p:cNvSpPr/>
          <p:nvPr/>
        </p:nvSpPr>
        <p:spPr>
          <a:xfrm>
            <a:off x="358683" y="4755295"/>
            <a:ext cx="439693" cy="203396"/>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50556" y="4652718"/>
            <a:ext cx="2976947" cy="1717586"/>
          </a:xfrm>
          <a:prstGeom prst="rect">
            <a:avLst/>
          </a:prstGeom>
          <a:noFill/>
        </p:spPr>
        <p:txBody>
          <a:bodyPr wrap="square" rtlCol="0">
            <a:spAutoFit/>
          </a:bodyPr>
          <a:lstStyle/>
          <a:p>
            <a:pPr>
              <a:lnSpc>
                <a:spcPct val="120000"/>
              </a:lnSpc>
            </a:pPr>
            <a:r>
              <a:rPr lang="zh-CN" altLang="en-US" dirty="0">
                <a:solidFill>
                  <a:srgbClr val="C00000"/>
                </a:solidFill>
              </a:rPr>
              <a:t>在属性“纹理”上出现缺失值，样本</a:t>
            </a:r>
            <a:r>
              <a:rPr lang="en-US" altLang="zh-CN" dirty="0">
                <a:solidFill>
                  <a:srgbClr val="C00000"/>
                </a:solidFill>
              </a:rPr>
              <a:t>8</a:t>
            </a:r>
            <a:r>
              <a:rPr lang="zh-CN" altLang="en-US" dirty="0">
                <a:solidFill>
                  <a:srgbClr val="C00000"/>
                </a:solidFill>
              </a:rPr>
              <a:t>和</a:t>
            </a:r>
            <a:r>
              <a:rPr lang="en-US" altLang="zh-CN" dirty="0">
                <a:solidFill>
                  <a:srgbClr val="C00000"/>
                </a:solidFill>
              </a:rPr>
              <a:t>10</a:t>
            </a:r>
            <a:r>
              <a:rPr lang="zh-CN" altLang="en-US" dirty="0">
                <a:solidFill>
                  <a:srgbClr val="C00000"/>
                </a:solidFill>
              </a:rPr>
              <a:t>同时进入</a:t>
            </a:r>
            <a:r>
              <a:rPr lang="en-US" altLang="zh-CN" dirty="0">
                <a:solidFill>
                  <a:srgbClr val="C00000"/>
                </a:solidFill>
              </a:rPr>
              <a:t>3</a:t>
            </a:r>
            <a:r>
              <a:rPr lang="zh-CN" altLang="en-US" dirty="0">
                <a:solidFill>
                  <a:srgbClr val="C00000"/>
                </a:solidFill>
              </a:rPr>
              <a:t>个分支，调整</a:t>
            </a:r>
            <a:r>
              <a:rPr lang="en-US" altLang="zh-CN" dirty="0">
                <a:solidFill>
                  <a:srgbClr val="C00000"/>
                </a:solidFill>
              </a:rPr>
              <a:t>8</a:t>
            </a:r>
            <a:r>
              <a:rPr lang="zh-CN" altLang="en-US" dirty="0">
                <a:solidFill>
                  <a:srgbClr val="C00000"/>
                </a:solidFill>
              </a:rPr>
              <a:t>和</a:t>
            </a:r>
            <a:r>
              <a:rPr lang="en-US" altLang="zh-CN" dirty="0">
                <a:solidFill>
                  <a:srgbClr val="C00000"/>
                </a:solidFill>
              </a:rPr>
              <a:t>10</a:t>
            </a:r>
            <a:r>
              <a:rPr lang="zh-CN" altLang="en-US" dirty="0">
                <a:solidFill>
                  <a:srgbClr val="C00000"/>
                </a:solidFill>
              </a:rPr>
              <a:t>在</a:t>
            </a:r>
            <a:r>
              <a:rPr lang="en-US" altLang="zh-CN" dirty="0">
                <a:solidFill>
                  <a:srgbClr val="C00000"/>
                </a:solidFill>
              </a:rPr>
              <a:t>3</a:t>
            </a:r>
            <a:r>
              <a:rPr lang="zh-CN" altLang="en-US" dirty="0">
                <a:solidFill>
                  <a:srgbClr val="C00000"/>
                </a:solidFill>
              </a:rPr>
              <a:t>分分支权值分别为</a:t>
            </a:r>
            <a:r>
              <a:rPr lang="en-US" altLang="zh-CN" dirty="0">
                <a:solidFill>
                  <a:srgbClr val="C00000"/>
                </a:solidFill>
              </a:rPr>
              <a:t>7/15</a:t>
            </a:r>
            <a:r>
              <a:rPr lang="zh-CN" altLang="en-US" dirty="0">
                <a:solidFill>
                  <a:srgbClr val="C00000"/>
                </a:solidFill>
              </a:rPr>
              <a:t>，</a:t>
            </a:r>
            <a:r>
              <a:rPr lang="en-US" altLang="zh-CN" dirty="0">
                <a:solidFill>
                  <a:srgbClr val="C00000"/>
                </a:solidFill>
              </a:rPr>
              <a:t>5/15</a:t>
            </a:r>
            <a:r>
              <a:rPr lang="zh-CN" altLang="en-US" dirty="0">
                <a:solidFill>
                  <a:srgbClr val="C00000"/>
                </a:solidFill>
              </a:rPr>
              <a:t>，</a:t>
            </a:r>
            <a:r>
              <a:rPr lang="en-US" altLang="zh-CN" dirty="0">
                <a:solidFill>
                  <a:srgbClr val="C00000"/>
                </a:solidFill>
              </a:rPr>
              <a:t>3/15</a:t>
            </a:r>
            <a:endParaRPr lang="zh-CN" altLang="en-US" dirty="0">
              <a:solidFill>
                <a:srgbClr val="C00000"/>
              </a:solidFill>
            </a:endParaRPr>
          </a:p>
        </p:txBody>
      </p:sp>
      <p:sp>
        <p:nvSpPr>
          <p:cNvPr id="37" name="矩形 36"/>
          <p:cNvSpPr/>
          <p:nvPr/>
        </p:nvSpPr>
        <p:spPr>
          <a:xfrm>
            <a:off x="3875895" y="4674974"/>
            <a:ext cx="4448432" cy="160642"/>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871773" y="4300148"/>
            <a:ext cx="4448432" cy="160642"/>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260350" y="2891481"/>
            <a:ext cx="3484600" cy="1668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531853" y="4081610"/>
            <a:ext cx="3018829" cy="369332"/>
          </a:xfrm>
          <a:prstGeom prst="rect">
            <a:avLst/>
          </a:prstGeom>
          <a:noFill/>
        </p:spPr>
        <p:txBody>
          <a:bodyPr wrap="square" rtlCol="0">
            <a:spAutoFit/>
          </a:bodyPr>
          <a:lstStyle/>
          <a:p>
            <a:r>
              <a:rPr lang="zh-CN" altLang="en-US" dirty="0"/>
              <a:t>样本权重在各子结点仍为</a:t>
            </a:r>
            <a:r>
              <a:rPr lang="en-US" altLang="zh-CN" dirty="0"/>
              <a:t>1</a:t>
            </a:r>
            <a:endParaRPr lang="zh-CN" altLang="en-US" dirty="0"/>
          </a:p>
        </p:txBody>
      </p:sp>
      <p:sp>
        <p:nvSpPr>
          <p:cNvPr id="45" name="矩形 44"/>
          <p:cNvSpPr/>
          <p:nvPr/>
        </p:nvSpPr>
        <p:spPr>
          <a:xfrm>
            <a:off x="264466" y="4617312"/>
            <a:ext cx="3480484" cy="17175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048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19" grpId="0" animBg="1"/>
      <p:bldP spid="21" grpId="0" animBg="1"/>
      <p:bldP spid="22" grpId="0" animBg="1"/>
      <p:bldP spid="23" grpId="0" animBg="1"/>
      <p:bldP spid="25" grpId="0" animBg="1"/>
      <p:bldP spid="26" grpId="0" animBg="1"/>
      <p:bldP spid="27" grpId="0" animBg="1"/>
      <p:bldP spid="28" grpId="0" animBg="1"/>
      <p:bldP spid="29" grpId="0" animBg="1"/>
      <p:bldP spid="30" grpId="0"/>
      <p:bldP spid="31" grpId="0" animBg="1"/>
      <p:bldP spid="32" grpId="0"/>
      <p:bldP spid="33" grpId="0" animBg="1"/>
      <p:bldP spid="34" grpId="0"/>
      <p:bldP spid="35" grpId="0" animBg="1"/>
      <p:bldP spid="36" grpId="0"/>
      <p:bldP spid="37" grpId="0" animBg="1"/>
      <p:bldP spid="38" grpId="0" animBg="1"/>
      <p:bldP spid="39" grpId="0" animBg="1"/>
      <p:bldP spid="42" grpId="0"/>
      <p:bldP spid="4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t>多变量决策树</a:t>
            </a:r>
            <a:endParaRPr lang="en-US" altLang="zh-CN" dirty="0"/>
          </a:p>
          <a:p>
            <a:pPr marL="0" indent="0">
              <a:buNone/>
            </a:pPr>
            <a:endParaRPr lang="en-US" altLang="zh-CN" dirty="0">
              <a:solidFill>
                <a:schemeClr val="bg1">
                  <a:lumMod val="85000"/>
                </a:schemeClr>
              </a:solidFill>
            </a:endParaRPr>
          </a:p>
        </p:txBody>
      </p:sp>
    </p:spTree>
    <p:extLst>
      <p:ext uri="{BB962C8B-B14F-4D97-AF65-F5344CB8AC3E}">
        <p14:creationId xmlns:p14="http://schemas.microsoft.com/office/powerpoint/2010/main" val="838574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多变量决策树</a:t>
            </a:r>
          </a:p>
        </p:txBody>
      </p:sp>
      <p:sp>
        <p:nvSpPr>
          <p:cNvPr id="3" name="内容占位符 2"/>
          <p:cNvSpPr>
            <a:spLocks noGrp="1"/>
          </p:cNvSpPr>
          <p:nvPr>
            <p:ph idx="1"/>
          </p:nvPr>
        </p:nvSpPr>
        <p:spPr>
          <a:xfrm>
            <a:off x="260350" y="1087656"/>
            <a:ext cx="8267633" cy="5001656"/>
          </a:xfrm>
        </p:spPr>
        <p:txBody>
          <a:bodyPr/>
          <a:lstStyle/>
          <a:p>
            <a:pPr>
              <a:lnSpc>
                <a:spcPts val="2400"/>
              </a:lnSpc>
            </a:pPr>
            <a:r>
              <a:rPr lang="zh-CN" altLang="en-US" dirty="0"/>
              <a:t>若将</a:t>
            </a:r>
            <a:r>
              <a:rPr lang="en-US" altLang="zh-CN" dirty="0"/>
              <a:t>d</a:t>
            </a:r>
            <a:r>
              <a:rPr lang="zh-CN" altLang="en-US" dirty="0"/>
              <a:t>个属性描述的样本视为</a:t>
            </a:r>
            <a:endParaRPr lang="en-US" altLang="zh-CN" dirty="0"/>
          </a:p>
          <a:p>
            <a:pPr marL="0" indent="0">
              <a:lnSpc>
                <a:spcPts val="2400"/>
              </a:lnSpc>
              <a:buNone/>
            </a:pPr>
            <a:r>
              <a:rPr lang="en-US" altLang="zh-CN" dirty="0"/>
              <a:t>   d</a:t>
            </a:r>
            <a:r>
              <a:rPr lang="zh-CN" altLang="en-US" dirty="0"/>
              <a:t>维空间中的一个数据点，则</a:t>
            </a:r>
            <a:endParaRPr lang="en-US" altLang="zh-CN" dirty="0"/>
          </a:p>
          <a:p>
            <a:pPr marL="0" indent="0">
              <a:lnSpc>
                <a:spcPts val="2400"/>
              </a:lnSpc>
              <a:buNone/>
            </a:pPr>
            <a:r>
              <a:rPr lang="en-US" altLang="zh-CN" dirty="0"/>
              <a:t>   </a:t>
            </a:r>
            <a:r>
              <a:rPr lang="zh-CN" altLang="en-US" dirty="0"/>
              <a:t>对样本分类意味着在此空间中</a:t>
            </a:r>
            <a:endParaRPr lang="en-US" altLang="zh-CN" dirty="0"/>
          </a:p>
          <a:p>
            <a:pPr marL="0" indent="0">
              <a:lnSpc>
                <a:spcPts val="2400"/>
              </a:lnSpc>
              <a:buNone/>
            </a:pPr>
            <a:r>
              <a:rPr lang="en-US" altLang="zh-CN" dirty="0"/>
              <a:t>   </a:t>
            </a:r>
            <a:r>
              <a:rPr lang="zh-CN" altLang="en-US" dirty="0"/>
              <a:t>找不同类样本之间的分类边界。</a:t>
            </a:r>
            <a:endParaRPr lang="en-US" altLang="zh-CN" dirty="0"/>
          </a:p>
          <a:p>
            <a:pPr>
              <a:lnSpc>
                <a:spcPts val="1000"/>
              </a:lnSpc>
            </a:pPr>
            <a:endParaRPr lang="en-US" altLang="zh-CN" dirty="0"/>
          </a:p>
          <a:p>
            <a:pPr>
              <a:lnSpc>
                <a:spcPts val="2400"/>
              </a:lnSpc>
            </a:pPr>
            <a:r>
              <a:rPr lang="zh-CN" altLang="en-US" dirty="0"/>
              <a:t>决策树所形成的分类边界有</a:t>
            </a:r>
            <a:endParaRPr lang="en-US" altLang="zh-CN" dirty="0"/>
          </a:p>
          <a:p>
            <a:pPr marL="0" indent="0">
              <a:lnSpc>
                <a:spcPts val="2400"/>
              </a:lnSpc>
              <a:buNone/>
            </a:pPr>
            <a:r>
              <a:rPr lang="en-US" altLang="zh-CN" dirty="0"/>
              <a:t>   </a:t>
            </a:r>
            <a:r>
              <a:rPr lang="zh-CN" altLang="en-US" dirty="0"/>
              <a:t>一个明显的特点：轴平行，即</a:t>
            </a:r>
            <a:endParaRPr lang="en-US" altLang="zh-CN" dirty="0"/>
          </a:p>
          <a:p>
            <a:pPr marL="0" indent="0">
              <a:lnSpc>
                <a:spcPts val="2400"/>
              </a:lnSpc>
              <a:buNone/>
            </a:pPr>
            <a:r>
              <a:rPr lang="en-US" altLang="zh-CN" dirty="0"/>
              <a:t>   </a:t>
            </a:r>
            <a:r>
              <a:rPr lang="zh-CN" altLang="en-US" dirty="0"/>
              <a:t>它的分类边界由若干个与坐标</a:t>
            </a:r>
            <a:endParaRPr lang="en-US" altLang="zh-CN" dirty="0"/>
          </a:p>
          <a:p>
            <a:pPr marL="0" indent="0">
              <a:lnSpc>
                <a:spcPts val="2400"/>
              </a:lnSpc>
              <a:buNone/>
            </a:pPr>
            <a:r>
              <a:rPr lang="en-US" altLang="zh-CN" dirty="0"/>
              <a:t>   </a:t>
            </a:r>
            <a:r>
              <a:rPr lang="zh-CN" altLang="en-US" dirty="0"/>
              <a:t>轴平行的分段组成。</a:t>
            </a:r>
            <a:endParaRPr lang="en-US" altLang="zh-CN" dirty="0"/>
          </a:p>
        </p:txBody>
      </p:sp>
      <p:pic>
        <p:nvPicPr>
          <p:cNvPr id="111" name="图片 110">
            <a:extLst>
              <a:ext uri="{FF2B5EF4-FFF2-40B4-BE49-F238E27FC236}">
                <a16:creationId xmlns:a16="http://schemas.microsoft.com/office/drawing/2014/main" id="{DAC03A81-D365-C3C9-BEDE-75052A0EDA7C}"/>
              </a:ext>
            </a:extLst>
          </p:cNvPr>
          <p:cNvPicPr>
            <a:picLocks noChangeAspect="1"/>
          </p:cNvPicPr>
          <p:nvPr/>
        </p:nvPicPr>
        <p:blipFill>
          <a:blip r:embed="rId2"/>
          <a:stretch>
            <a:fillRect/>
          </a:stretch>
        </p:blipFill>
        <p:spPr>
          <a:xfrm>
            <a:off x="4759757" y="1026406"/>
            <a:ext cx="3248462" cy="5055225"/>
          </a:xfrm>
          <a:prstGeom prst="rect">
            <a:avLst/>
          </a:prstGeom>
        </p:spPr>
      </p:pic>
    </p:spTree>
    <p:extLst>
      <p:ext uri="{BB962C8B-B14F-4D97-AF65-F5344CB8AC3E}">
        <p14:creationId xmlns:p14="http://schemas.microsoft.com/office/powerpoint/2010/main" val="424991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多变量决策树</a:t>
            </a:r>
          </a:p>
        </p:txBody>
      </p:sp>
      <p:sp>
        <p:nvSpPr>
          <p:cNvPr id="5" name="右箭头 4"/>
          <p:cNvSpPr/>
          <p:nvPr/>
        </p:nvSpPr>
        <p:spPr>
          <a:xfrm>
            <a:off x="4737731" y="3287813"/>
            <a:ext cx="443884" cy="3334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箭头连接符 61"/>
          <p:cNvCxnSpPr/>
          <p:nvPr/>
        </p:nvCxnSpPr>
        <p:spPr>
          <a:xfrm flipH="1" flipV="1">
            <a:off x="5925837" y="2079729"/>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63" name="直接箭头连接符 62"/>
          <p:cNvCxnSpPr/>
          <p:nvPr/>
        </p:nvCxnSpPr>
        <p:spPr>
          <a:xfrm>
            <a:off x="5917640" y="4599789"/>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4" name="文本框 11"/>
          <p:cNvSpPr txBox="1"/>
          <p:nvPr/>
        </p:nvSpPr>
        <p:spPr>
          <a:xfrm>
            <a:off x="5735741" y="4518262"/>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65" name="直接连接符 64"/>
          <p:cNvCxnSpPr/>
          <p:nvPr/>
        </p:nvCxnSpPr>
        <p:spPr>
          <a:xfrm>
            <a:off x="655564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a:off x="717783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直接连接符 66"/>
          <p:cNvCxnSpPr/>
          <p:nvPr/>
        </p:nvCxnSpPr>
        <p:spPr>
          <a:xfrm>
            <a:off x="780002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接连接符 67"/>
          <p:cNvCxnSpPr/>
          <p:nvPr/>
        </p:nvCxnSpPr>
        <p:spPr>
          <a:xfrm>
            <a:off x="8422217" y="4528229"/>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69" name="文本框 40"/>
          <p:cNvSpPr txBox="1"/>
          <p:nvPr/>
        </p:nvSpPr>
        <p:spPr>
          <a:xfrm>
            <a:off x="6327050" y="4556804"/>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70" name="文本框 41"/>
          <p:cNvSpPr txBox="1"/>
          <p:nvPr/>
        </p:nvSpPr>
        <p:spPr>
          <a:xfrm>
            <a:off x="6949471" y="4556804"/>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71" name="文本框 42"/>
          <p:cNvSpPr txBox="1"/>
          <p:nvPr/>
        </p:nvSpPr>
        <p:spPr>
          <a:xfrm>
            <a:off x="7571892" y="4556804"/>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sp>
        <p:nvSpPr>
          <p:cNvPr id="72" name="文本框 43"/>
          <p:cNvSpPr txBox="1"/>
          <p:nvPr/>
        </p:nvSpPr>
        <p:spPr>
          <a:xfrm>
            <a:off x="8194313" y="4556804"/>
            <a:ext cx="453970" cy="307777"/>
          </a:xfrm>
          <a:prstGeom prst="rect">
            <a:avLst/>
          </a:prstGeom>
          <a:noFill/>
        </p:spPr>
        <p:txBody>
          <a:bodyPr wrap="none" rtlCol="0">
            <a:spAutoFit/>
          </a:bodyPr>
          <a:lstStyle/>
          <a:p>
            <a:r>
              <a:rPr lang="en-US" altLang="zh-CN" sz="1400" dirty="0">
                <a:latin typeface="Times "/>
              </a:rPr>
              <a:t>0.8</a:t>
            </a:r>
            <a:endParaRPr lang="zh-CN" altLang="en-US" sz="1400" dirty="0">
              <a:latin typeface="Times "/>
            </a:endParaRPr>
          </a:p>
        </p:txBody>
      </p:sp>
      <p:cxnSp>
        <p:nvCxnSpPr>
          <p:cNvPr id="73" name="直接连接符 72"/>
          <p:cNvCxnSpPr/>
          <p:nvPr/>
        </p:nvCxnSpPr>
        <p:spPr>
          <a:xfrm rot="5400000">
            <a:off x="5962197" y="2693060"/>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74" name="直接连接符 73"/>
          <p:cNvCxnSpPr/>
          <p:nvPr/>
        </p:nvCxnSpPr>
        <p:spPr>
          <a:xfrm rot="5400000">
            <a:off x="5962197" y="3316636"/>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rot="5400000">
            <a:off x="5962197" y="3940212"/>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76" name="文本框 52"/>
          <p:cNvSpPr txBox="1"/>
          <p:nvPr/>
        </p:nvSpPr>
        <p:spPr>
          <a:xfrm>
            <a:off x="5505240" y="3822323"/>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77" name="文本框 53"/>
          <p:cNvSpPr txBox="1"/>
          <p:nvPr/>
        </p:nvSpPr>
        <p:spPr>
          <a:xfrm>
            <a:off x="5505240" y="3198747"/>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78" name="文本框 54"/>
          <p:cNvSpPr txBox="1"/>
          <p:nvPr/>
        </p:nvSpPr>
        <p:spPr>
          <a:xfrm>
            <a:off x="5505240" y="2575171"/>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grpSp>
        <p:nvGrpSpPr>
          <p:cNvPr id="79" name="组合 78"/>
          <p:cNvGrpSpPr/>
          <p:nvPr/>
        </p:nvGrpSpPr>
        <p:grpSpPr>
          <a:xfrm>
            <a:off x="6026986" y="2316117"/>
            <a:ext cx="953322" cy="597182"/>
            <a:chOff x="2902949" y="2313167"/>
            <a:chExt cx="953322" cy="597182"/>
          </a:xfrm>
        </p:grpSpPr>
        <p:grpSp>
          <p:nvGrpSpPr>
            <p:cNvPr id="80" name="组合 79"/>
            <p:cNvGrpSpPr/>
            <p:nvPr/>
          </p:nvGrpSpPr>
          <p:grpSpPr>
            <a:xfrm>
              <a:off x="2902949" y="2313167"/>
              <a:ext cx="953322" cy="597182"/>
              <a:chOff x="5860991" y="1513622"/>
              <a:chExt cx="953322" cy="597182"/>
            </a:xfrm>
          </p:grpSpPr>
          <p:sp>
            <p:nvSpPr>
              <p:cNvPr id="84" name="矩形 83"/>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5" name="文本框 59"/>
              <p:cNvSpPr txBox="1"/>
              <p:nvPr/>
            </p:nvSpPr>
            <p:spPr>
              <a:xfrm>
                <a:off x="6219278" y="151362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好瓜</a:t>
                </a:r>
              </a:p>
            </p:txBody>
          </p:sp>
          <p:sp>
            <p:nvSpPr>
              <p:cNvPr id="86" name="文本框 60"/>
              <p:cNvSpPr txBox="1"/>
              <p:nvPr/>
            </p:nvSpPr>
            <p:spPr>
              <a:xfrm>
                <a:off x="6219278" y="177225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坏瓜</a:t>
                </a:r>
              </a:p>
            </p:txBody>
          </p:sp>
          <p:cxnSp>
            <p:nvCxnSpPr>
              <p:cNvPr id="87" name="直接连接符 86"/>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1" name="组合 80"/>
            <p:cNvGrpSpPr/>
            <p:nvPr/>
          </p:nvGrpSpPr>
          <p:grpSpPr>
            <a:xfrm>
              <a:off x="3043927" y="2444745"/>
              <a:ext cx="108000" cy="108000"/>
              <a:chOff x="5476803" y="2392530"/>
              <a:chExt cx="108000" cy="108000"/>
            </a:xfrm>
          </p:grpSpPr>
          <p:cxnSp>
            <p:nvCxnSpPr>
              <p:cNvPr id="82" name="直接连接符 8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88" name="组合 87"/>
          <p:cNvGrpSpPr/>
          <p:nvPr/>
        </p:nvGrpSpPr>
        <p:grpSpPr>
          <a:xfrm>
            <a:off x="8074715" y="3092607"/>
            <a:ext cx="108000" cy="108000"/>
            <a:chOff x="5476803" y="2392530"/>
            <a:chExt cx="108000" cy="108000"/>
          </a:xfrm>
        </p:grpSpPr>
        <p:cxnSp>
          <p:nvCxnSpPr>
            <p:cNvPr id="89" name="直接连接符 8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1" name="组合 90"/>
          <p:cNvGrpSpPr/>
          <p:nvPr/>
        </p:nvGrpSpPr>
        <p:grpSpPr>
          <a:xfrm>
            <a:off x="8265215" y="3454557"/>
            <a:ext cx="108000" cy="108000"/>
            <a:chOff x="5476803" y="2392530"/>
            <a:chExt cx="108000" cy="108000"/>
          </a:xfrm>
        </p:grpSpPr>
        <p:cxnSp>
          <p:nvCxnSpPr>
            <p:cNvPr id="92" name="直接连接符 9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4" name="组合 93"/>
          <p:cNvGrpSpPr/>
          <p:nvPr/>
        </p:nvGrpSpPr>
        <p:grpSpPr>
          <a:xfrm>
            <a:off x="7947915" y="3742456"/>
            <a:ext cx="108000" cy="108000"/>
            <a:chOff x="5476803" y="2392530"/>
            <a:chExt cx="108000" cy="108000"/>
          </a:xfrm>
        </p:grpSpPr>
        <p:cxnSp>
          <p:nvCxnSpPr>
            <p:cNvPr id="95" name="直接连接符 9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7" name="组合 96"/>
          <p:cNvGrpSpPr/>
          <p:nvPr/>
        </p:nvGrpSpPr>
        <p:grpSpPr>
          <a:xfrm>
            <a:off x="7773341" y="3584552"/>
            <a:ext cx="108000" cy="108000"/>
            <a:chOff x="5476803" y="2392530"/>
            <a:chExt cx="108000" cy="108000"/>
          </a:xfrm>
        </p:grpSpPr>
        <p:cxnSp>
          <p:nvCxnSpPr>
            <p:cNvPr id="98" name="直接连接符 9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0" name="组合 99"/>
          <p:cNvGrpSpPr/>
          <p:nvPr/>
        </p:nvGrpSpPr>
        <p:grpSpPr>
          <a:xfrm>
            <a:off x="7412414" y="3826901"/>
            <a:ext cx="108000" cy="108000"/>
            <a:chOff x="5476803" y="2392530"/>
            <a:chExt cx="108000" cy="108000"/>
          </a:xfrm>
        </p:grpSpPr>
        <p:cxnSp>
          <p:nvCxnSpPr>
            <p:cNvPr id="101" name="直接连接符 10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3" name="组合 102"/>
          <p:cNvGrpSpPr/>
          <p:nvPr/>
        </p:nvGrpSpPr>
        <p:grpSpPr>
          <a:xfrm>
            <a:off x="7131726" y="3744230"/>
            <a:ext cx="108000" cy="108000"/>
            <a:chOff x="5476803" y="2392530"/>
            <a:chExt cx="108000" cy="108000"/>
          </a:xfrm>
        </p:grpSpPr>
        <p:cxnSp>
          <p:nvCxnSpPr>
            <p:cNvPr id="104" name="直接连接符 10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6" name="组合 105"/>
          <p:cNvGrpSpPr/>
          <p:nvPr/>
        </p:nvGrpSpPr>
        <p:grpSpPr>
          <a:xfrm>
            <a:off x="7382519" y="4092869"/>
            <a:ext cx="108000" cy="108000"/>
            <a:chOff x="5476803" y="2392530"/>
            <a:chExt cx="108000" cy="108000"/>
          </a:xfrm>
        </p:grpSpPr>
        <p:cxnSp>
          <p:nvCxnSpPr>
            <p:cNvPr id="107" name="直接连接符 10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8" name="直接连接符 10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9" name="组合 108"/>
          <p:cNvGrpSpPr/>
          <p:nvPr/>
        </p:nvGrpSpPr>
        <p:grpSpPr>
          <a:xfrm>
            <a:off x="7239644" y="3837599"/>
            <a:ext cx="108000" cy="108000"/>
            <a:chOff x="5476803" y="2392530"/>
            <a:chExt cx="108000" cy="108000"/>
          </a:xfrm>
        </p:grpSpPr>
        <p:cxnSp>
          <p:nvCxnSpPr>
            <p:cNvPr id="110" name="直接连接符 10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12" name="直接连接符 111"/>
          <p:cNvCxnSpPr/>
          <p:nvPr/>
        </p:nvCxnSpPr>
        <p:spPr>
          <a:xfrm>
            <a:off x="8001915" y="430746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a:xfrm>
            <a:off x="6727020" y="377704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a:off x="6752445" y="44342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a:off x="6924706" y="427073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a:off x="7917862" y="41186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a:off x="7963565" y="3988241"/>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a:off x="6920896" y="359255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9" name="直接连接符 118"/>
          <p:cNvCxnSpPr/>
          <p:nvPr/>
        </p:nvCxnSpPr>
        <p:spPr>
          <a:xfrm>
            <a:off x="7736690" y="448189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a:off x="8084124" y="4262587"/>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文本框 104"/>
          <p:cNvSpPr txBox="1"/>
          <p:nvPr/>
        </p:nvSpPr>
        <p:spPr>
          <a:xfrm>
            <a:off x="7154901" y="475116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密度</a:t>
            </a:r>
          </a:p>
        </p:txBody>
      </p:sp>
      <p:sp>
        <p:nvSpPr>
          <p:cNvPr id="122" name="文本框 105"/>
          <p:cNvSpPr txBox="1"/>
          <p:nvPr/>
        </p:nvSpPr>
        <p:spPr>
          <a:xfrm>
            <a:off x="5249495" y="2765238"/>
            <a:ext cx="430887" cy="707886"/>
          </a:xfrm>
          <a:prstGeom prst="rect">
            <a:avLst/>
          </a:prstGeom>
          <a:noFill/>
        </p:spPr>
        <p:txBody>
          <a:bodyPr vert="eaVert" wrap="none" rtlCol="0">
            <a:spAutoFit/>
          </a:bodyPr>
          <a:lstStyle/>
          <a:p>
            <a:r>
              <a:rPr lang="zh-CN" altLang="en-US" sz="1600" dirty="0">
                <a:latin typeface="楷体" panose="02010609060101010101" pitchFamily="49" charset="-122"/>
                <a:ea typeface="楷体" panose="02010609060101010101" pitchFamily="49" charset="-122"/>
              </a:rPr>
              <a:t>含糖率</a:t>
            </a:r>
          </a:p>
        </p:txBody>
      </p:sp>
      <p:cxnSp>
        <p:nvCxnSpPr>
          <p:cNvPr id="123" name="直接连接符 122"/>
          <p:cNvCxnSpPr/>
          <p:nvPr/>
        </p:nvCxnSpPr>
        <p:spPr>
          <a:xfrm>
            <a:off x="7055091" y="4209221"/>
            <a:ext cx="468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57797" y="2746136"/>
            <a:ext cx="2194" cy="1476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504671" y="3927226"/>
            <a:ext cx="1152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7514616" y="3929007"/>
            <a:ext cx="2194" cy="288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1F8028B-A6D0-FCCA-2E98-41FF922A87DA}"/>
              </a:ext>
            </a:extLst>
          </p:cNvPr>
          <p:cNvPicPr>
            <a:picLocks noChangeAspect="1"/>
          </p:cNvPicPr>
          <p:nvPr/>
        </p:nvPicPr>
        <p:blipFill>
          <a:blip r:embed="rId2"/>
          <a:stretch>
            <a:fillRect/>
          </a:stretch>
        </p:blipFill>
        <p:spPr>
          <a:xfrm>
            <a:off x="135134" y="1243219"/>
            <a:ext cx="4543425" cy="4638675"/>
          </a:xfrm>
          <a:prstGeom prst="rect">
            <a:avLst/>
          </a:prstGeom>
        </p:spPr>
      </p:pic>
    </p:spTree>
    <p:extLst>
      <p:ext uri="{BB962C8B-B14F-4D97-AF65-F5344CB8AC3E}">
        <p14:creationId xmlns:p14="http://schemas.microsoft.com/office/powerpoint/2010/main" val="4259291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多变量决策树</a:t>
            </a:r>
          </a:p>
        </p:txBody>
      </p:sp>
      <p:sp>
        <p:nvSpPr>
          <p:cNvPr id="3" name="内容占位符 2"/>
          <p:cNvSpPr>
            <a:spLocks noGrp="1"/>
          </p:cNvSpPr>
          <p:nvPr>
            <p:ph idx="1"/>
          </p:nvPr>
        </p:nvSpPr>
        <p:spPr>
          <a:xfrm>
            <a:off x="260350" y="1123122"/>
            <a:ext cx="8616950" cy="4966190"/>
          </a:xfrm>
        </p:spPr>
        <p:txBody>
          <a:bodyPr/>
          <a:lstStyle/>
          <a:p>
            <a:pPr>
              <a:lnSpc>
                <a:spcPct val="120000"/>
              </a:lnSpc>
            </a:pPr>
            <a:r>
              <a:rPr lang="zh-CN" altLang="en-US" dirty="0"/>
              <a:t>但在学习任务的真实分类边界比较复杂时，必须使用很多段划分才能获得较好的近似，如下图。此时的决策树会相当复杂，由于要进行大量的属性测试，预测时间开销会很大。</a:t>
            </a:r>
            <a:endParaRPr lang="en-US" altLang="zh-CN" dirty="0"/>
          </a:p>
          <a:p>
            <a:pPr>
              <a:lnSpc>
                <a:spcPts val="300"/>
              </a:lnSpc>
            </a:pPr>
            <a:endParaRPr lang="en-US" altLang="zh-CN" dirty="0"/>
          </a:p>
          <a:p>
            <a:pPr>
              <a:lnSpc>
                <a:spcPct val="120000"/>
              </a:lnSpc>
            </a:pPr>
            <a:r>
              <a:rPr lang="zh-CN" altLang="en-US" dirty="0"/>
              <a:t>若能使用斜的划分边界，如下图红色线段所示，则决策树模型将大为简化。</a:t>
            </a:r>
            <a:endParaRPr lang="en-US" altLang="zh-CN" dirty="0"/>
          </a:p>
          <a:p>
            <a:pPr>
              <a:lnSpc>
                <a:spcPts val="1000"/>
              </a:lnSpc>
            </a:pPr>
            <a:endParaRPr lang="en-US" altLang="zh-CN" dirty="0"/>
          </a:p>
          <a:p>
            <a:pPr>
              <a:lnSpc>
                <a:spcPts val="2400"/>
              </a:lnSpc>
            </a:pPr>
            <a:r>
              <a:rPr lang="zh-CN" altLang="en-US" dirty="0"/>
              <a:t>“多变量决策树”就是能实现这样的</a:t>
            </a:r>
            <a:endParaRPr lang="en-US" altLang="zh-CN" dirty="0"/>
          </a:p>
          <a:p>
            <a:pPr marL="0" indent="0">
              <a:lnSpc>
                <a:spcPts val="2400"/>
              </a:lnSpc>
              <a:buNone/>
            </a:pPr>
            <a:r>
              <a:rPr lang="zh-CN" altLang="en-US" dirty="0"/>
              <a:t>“斜划分”甚至更复杂划分的决策树。</a:t>
            </a:r>
            <a:endParaRPr lang="en-US" altLang="zh-CN" dirty="0"/>
          </a:p>
        </p:txBody>
      </p:sp>
      <p:pic>
        <p:nvPicPr>
          <p:cNvPr id="7" name="图片 6">
            <a:extLst>
              <a:ext uri="{FF2B5EF4-FFF2-40B4-BE49-F238E27FC236}">
                <a16:creationId xmlns:a16="http://schemas.microsoft.com/office/drawing/2014/main" id="{669B7916-88E4-AD0E-8282-3403D5E6A23A}"/>
              </a:ext>
            </a:extLst>
          </p:cNvPr>
          <p:cNvPicPr>
            <a:picLocks noChangeAspect="1"/>
          </p:cNvPicPr>
          <p:nvPr/>
        </p:nvPicPr>
        <p:blipFill>
          <a:blip r:embed="rId2"/>
          <a:stretch>
            <a:fillRect/>
          </a:stretch>
        </p:blipFill>
        <p:spPr>
          <a:xfrm>
            <a:off x="5274910" y="3336587"/>
            <a:ext cx="3295650" cy="2752725"/>
          </a:xfrm>
          <a:prstGeom prst="rect">
            <a:avLst/>
          </a:prstGeom>
        </p:spPr>
      </p:pic>
    </p:spTree>
    <p:extLst>
      <p:ext uri="{BB962C8B-B14F-4D97-AF65-F5344CB8AC3E}">
        <p14:creationId xmlns:p14="http://schemas.microsoft.com/office/powerpoint/2010/main" val="86062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多变量决策树</a:t>
            </a:r>
          </a:p>
        </p:txBody>
      </p:sp>
      <p:sp>
        <p:nvSpPr>
          <p:cNvPr id="3" name="内容占位符 2"/>
          <p:cNvSpPr>
            <a:spLocks noGrp="1"/>
          </p:cNvSpPr>
          <p:nvPr>
            <p:ph idx="1"/>
          </p:nvPr>
        </p:nvSpPr>
        <p:spPr>
          <a:xfrm>
            <a:off x="260350" y="1123122"/>
            <a:ext cx="8616950" cy="5268052"/>
          </a:xfrm>
        </p:spPr>
        <p:txBody>
          <a:bodyPr>
            <a:normAutofit/>
          </a:bodyPr>
          <a:lstStyle/>
          <a:p>
            <a:pPr>
              <a:lnSpc>
                <a:spcPct val="120000"/>
              </a:lnSpc>
            </a:pPr>
            <a:r>
              <a:rPr lang="zh-CN" altLang="en-US" dirty="0"/>
              <a:t>以实现斜划分的多变量决策树为例，在此决策树中</a:t>
            </a: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342900" indent="-342900">
              <a:lnSpc>
                <a:spcPct val="120000"/>
              </a:lnSpc>
            </a:pPr>
            <a:r>
              <a:rPr lang="zh-CN" altLang="en-US" dirty="0"/>
              <a:t>与传统的“单变量决策树”不同，在多变量决策树的学习过程中，不是为每个非叶结点寻找一个最优划分属性，而是试图建立一个适合的线性分类器。</a:t>
            </a: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a:p>
            <a:pPr marL="0" indent="0">
              <a:lnSpc>
                <a:spcPts val="300"/>
              </a:lnSpc>
              <a:buNone/>
            </a:pPr>
            <a:endParaRPr lang="en-US" altLang="zh-CN" dirty="0"/>
          </a:p>
        </p:txBody>
      </p:sp>
      <p:sp>
        <p:nvSpPr>
          <p:cNvPr id="104" name="Rectangle 3"/>
          <p:cNvSpPr>
            <a:spLocks noChangeArrowheads="1"/>
          </p:cNvSpPr>
          <p:nvPr/>
        </p:nvSpPr>
        <p:spPr bwMode="auto">
          <a:xfrm>
            <a:off x="770630" y="2253660"/>
            <a:ext cx="2563127" cy="1541461"/>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r>
              <a:rPr lang="zh-CN" altLang="en-US" sz="2200" dirty="0">
                <a:latin typeface="+mn-ea"/>
                <a:ea typeface="+mn-ea"/>
              </a:rPr>
              <a:t>非叶节点不再是仅对某个属性</a:t>
            </a:r>
            <a:r>
              <a:rPr lang="en-US" altLang="zh-CN" sz="2200" dirty="0">
                <a:latin typeface="+mn-ea"/>
                <a:ea typeface="+mn-ea"/>
              </a:rPr>
              <a:t>,</a:t>
            </a:r>
            <a:r>
              <a:rPr lang="zh-CN" altLang="en-US" sz="2200" dirty="0">
                <a:latin typeface="+mn-ea"/>
                <a:ea typeface="+mn-ea"/>
              </a:rPr>
              <a:t>而是对属性的线性组合进行测试</a:t>
            </a:r>
          </a:p>
        </p:txBody>
      </p:sp>
      <p:sp>
        <p:nvSpPr>
          <p:cNvPr id="105" name="Rectangle 3"/>
          <p:cNvSpPr>
            <a:spLocks noChangeArrowheads="1"/>
          </p:cNvSpPr>
          <p:nvPr/>
        </p:nvSpPr>
        <p:spPr bwMode="auto">
          <a:xfrm>
            <a:off x="4736371" y="1981218"/>
            <a:ext cx="3558017" cy="2228579"/>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r>
              <a:rPr lang="zh-CN" altLang="en-US" sz="2200" dirty="0">
                <a:latin typeface="+mn-ea"/>
                <a:ea typeface="+mn-ea"/>
              </a:rPr>
              <a:t>每个非叶结点是一个形如          的线性分类器，其中  是属性  的权值，  和  可在该结点所含的样本集和属性集上学得</a:t>
            </a:r>
            <a:endParaRPr lang="en-US" altLang="zh-CN" sz="2200" dirty="0">
              <a:latin typeface="+mn-ea"/>
              <a:ea typeface="+mn-ea"/>
            </a:endParaRPr>
          </a:p>
          <a:p>
            <a:pPr marL="0" indent="0">
              <a:buNone/>
            </a:pPr>
            <a:r>
              <a:rPr lang="en-US" altLang="zh-CN" sz="2400" dirty="0"/>
              <a:t>         </a:t>
            </a:r>
          </a:p>
        </p:txBody>
      </p:sp>
      <p:sp>
        <p:nvSpPr>
          <p:cNvPr id="4" name="下箭头 3"/>
          <p:cNvSpPr/>
          <p:nvPr/>
        </p:nvSpPr>
        <p:spPr>
          <a:xfrm rot="16200000">
            <a:off x="3866767" y="2568683"/>
            <a:ext cx="323085" cy="9319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533811261"/>
              </p:ext>
            </p:extLst>
          </p:nvPr>
        </p:nvGraphicFramePr>
        <p:xfrm>
          <a:off x="5542813" y="2405605"/>
          <a:ext cx="1257570" cy="293658"/>
        </p:xfrm>
        <a:graphic>
          <a:graphicData uri="http://schemas.openxmlformats.org/presentationml/2006/ole">
            <mc:AlternateContent xmlns:mc="http://schemas.openxmlformats.org/markup-compatibility/2006">
              <mc:Choice xmlns:v="urn:schemas-microsoft-com:vml" Requires="v">
                <p:oleObj name="Formula" r:id="rId2" imgW="890280" imgH="208440" progId="Equation.Ribbit">
                  <p:embed/>
                </p:oleObj>
              </mc:Choice>
              <mc:Fallback>
                <p:oleObj name="Formula" r:id="rId2" imgW="890280" imgH="208440" progId="Equation.Ribbit">
                  <p:embed/>
                  <p:pic>
                    <p:nvPicPr>
                      <p:cNvPr id="5" name="对象 4"/>
                      <p:cNvPicPr/>
                      <p:nvPr/>
                    </p:nvPicPr>
                    <p:blipFill>
                      <a:blip r:embed="rId3"/>
                      <a:stretch>
                        <a:fillRect/>
                      </a:stretch>
                    </p:blipFill>
                    <p:spPr>
                      <a:xfrm>
                        <a:off x="5542813" y="2405605"/>
                        <a:ext cx="1257570" cy="293658"/>
                      </a:xfrm>
                      <a:prstGeom prst="rect">
                        <a:avLst/>
                      </a:prstGeom>
                    </p:spPr>
                  </p:pic>
                </p:oleObj>
              </mc:Fallback>
            </mc:AlternateContent>
          </a:graphicData>
        </a:graphic>
      </p:graphicFrame>
      <p:graphicFrame>
        <p:nvGraphicFramePr>
          <p:cNvPr id="106" name="对象 105"/>
          <p:cNvGraphicFramePr>
            <a:graphicFrameLocks noChangeAspect="1"/>
          </p:cNvGraphicFramePr>
          <p:nvPr>
            <p:extLst>
              <p:ext uri="{D42A27DB-BD31-4B8C-83A1-F6EECF244321}">
                <p14:modId xmlns:p14="http://schemas.microsoft.com/office/powerpoint/2010/main" val="1150749701"/>
              </p:ext>
            </p:extLst>
          </p:nvPr>
        </p:nvGraphicFramePr>
        <p:xfrm>
          <a:off x="6579704" y="2786695"/>
          <a:ext cx="297911" cy="237696"/>
        </p:xfrm>
        <a:graphic>
          <a:graphicData uri="http://schemas.openxmlformats.org/presentationml/2006/ole">
            <mc:AlternateContent xmlns:mc="http://schemas.openxmlformats.org/markup-compatibility/2006">
              <mc:Choice xmlns:v="urn:schemas-microsoft-com:vml" Requires="v">
                <p:oleObj name="Formula" r:id="rId4" imgW="148680" imgH="119520" progId="Equation.Ribbit">
                  <p:embed/>
                </p:oleObj>
              </mc:Choice>
              <mc:Fallback>
                <p:oleObj name="Formula" r:id="rId4" imgW="148680" imgH="119520" progId="Equation.Ribbit">
                  <p:embed/>
                  <p:pic>
                    <p:nvPicPr>
                      <p:cNvPr id="106" name="对象 105"/>
                      <p:cNvPicPr/>
                      <p:nvPr/>
                    </p:nvPicPr>
                    <p:blipFill>
                      <a:blip r:embed="rId5"/>
                      <a:stretch>
                        <a:fillRect/>
                      </a:stretch>
                    </p:blipFill>
                    <p:spPr>
                      <a:xfrm>
                        <a:off x="6579704" y="2786695"/>
                        <a:ext cx="297911" cy="237696"/>
                      </a:xfrm>
                      <a:prstGeom prst="rect">
                        <a:avLst/>
                      </a:prstGeom>
                    </p:spPr>
                  </p:pic>
                </p:oleObj>
              </mc:Fallback>
            </mc:AlternateContent>
          </a:graphicData>
        </a:graphic>
      </p:graphicFrame>
      <p:graphicFrame>
        <p:nvGraphicFramePr>
          <p:cNvPr id="107" name="对象 106"/>
          <p:cNvGraphicFramePr>
            <a:graphicFrameLocks noChangeAspect="1"/>
          </p:cNvGraphicFramePr>
          <p:nvPr>
            <p:extLst>
              <p:ext uri="{D42A27DB-BD31-4B8C-83A1-F6EECF244321}">
                <p14:modId xmlns:p14="http://schemas.microsoft.com/office/powerpoint/2010/main" val="2949924249"/>
              </p:ext>
            </p:extLst>
          </p:nvPr>
        </p:nvGraphicFramePr>
        <p:xfrm>
          <a:off x="6922910" y="3103811"/>
          <a:ext cx="114910" cy="284252"/>
        </p:xfrm>
        <a:graphic>
          <a:graphicData uri="http://schemas.openxmlformats.org/presentationml/2006/ole">
            <mc:AlternateContent xmlns:mc="http://schemas.openxmlformats.org/markup-compatibility/2006">
              <mc:Choice xmlns:v="urn:schemas-microsoft-com:vml" Requires="v">
                <p:oleObj name="Formula" r:id="rId6" imgW="59760" imgH="148680" progId="Equation.Ribbit">
                  <p:embed/>
                </p:oleObj>
              </mc:Choice>
              <mc:Fallback>
                <p:oleObj name="Formula" r:id="rId6" imgW="59760" imgH="148680" progId="Equation.Ribbit">
                  <p:embed/>
                  <p:pic>
                    <p:nvPicPr>
                      <p:cNvPr id="107" name="对象 106"/>
                      <p:cNvPicPr/>
                      <p:nvPr/>
                    </p:nvPicPr>
                    <p:blipFill>
                      <a:blip r:embed="rId7"/>
                      <a:stretch>
                        <a:fillRect/>
                      </a:stretch>
                    </p:blipFill>
                    <p:spPr>
                      <a:xfrm>
                        <a:off x="6922910" y="3103811"/>
                        <a:ext cx="114910" cy="284252"/>
                      </a:xfrm>
                      <a:prstGeom prst="rect">
                        <a:avLst/>
                      </a:prstGeom>
                    </p:spPr>
                  </p:pic>
                </p:oleObj>
              </mc:Fallback>
            </mc:AlternateContent>
          </a:graphicData>
        </a:graphic>
      </p:graphicFrame>
      <p:graphicFrame>
        <p:nvGraphicFramePr>
          <p:cNvPr id="108" name="对象 107"/>
          <p:cNvGraphicFramePr>
            <a:graphicFrameLocks noChangeAspect="1"/>
          </p:cNvGraphicFramePr>
          <p:nvPr>
            <p:extLst>
              <p:ext uri="{D42A27DB-BD31-4B8C-83A1-F6EECF244321}">
                <p14:modId xmlns:p14="http://schemas.microsoft.com/office/powerpoint/2010/main" val="2596439536"/>
              </p:ext>
            </p:extLst>
          </p:nvPr>
        </p:nvGraphicFramePr>
        <p:xfrm>
          <a:off x="7718945" y="2770386"/>
          <a:ext cx="264258" cy="264258"/>
        </p:xfrm>
        <a:graphic>
          <a:graphicData uri="http://schemas.openxmlformats.org/presentationml/2006/ole">
            <mc:AlternateContent xmlns:mc="http://schemas.openxmlformats.org/markup-compatibility/2006">
              <mc:Choice xmlns:v="urn:schemas-microsoft-com:vml" Requires="v">
                <p:oleObj name="Formula" r:id="rId8" imgW="118440" imgH="119520" progId="Equation.Ribbit">
                  <p:embed/>
                </p:oleObj>
              </mc:Choice>
              <mc:Fallback>
                <p:oleObj name="Formula" r:id="rId8" imgW="118440" imgH="119520" progId="Equation.Ribbit">
                  <p:embed/>
                  <p:pic>
                    <p:nvPicPr>
                      <p:cNvPr id="108" name="对象 107"/>
                      <p:cNvPicPr/>
                      <p:nvPr/>
                    </p:nvPicPr>
                    <p:blipFill>
                      <a:blip r:embed="rId9"/>
                      <a:stretch>
                        <a:fillRect/>
                      </a:stretch>
                    </p:blipFill>
                    <p:spPr>
                      <a:xfrm>
                        <a:off x="7718945" y="2770386"/>
                        <a:ext cx="264258" cy="264258"/>
                      </a:xfrm>
                      <a:prstGeom prst="rect">
                        <a:avLst/>
                      </a:prstGeom>
                    </p:spPr>
                  </p:pic>
                </p:oleObj>
              </mc:Fallback>
            </mc:AlternateContent>
          </a:graphicData>
        </a:graphic>
      </p:graphicFrame>
      <p:graphicFrame>
        <p:nvGraphicFramePr>
          <p:cNvPr id="109" name="对象 108"/>
          <p:cNvGraphicFramePr>
            <a:graphicFrameLocks noChangeAspect="1"/>
          </p:cNvGraphicFramePr>
          <p:nvPr>
            <p:extLst>
              <p:ext uri="{D42A27DB-BD31-4B8C-83A1-F6EECF244321}">
                <p14:modId xmlns:p14="http://schemas.microsoft.com/office/powerpoint/2010/main" val="2680357904"/>
              </p:ext>
            </p:extLst>
          </p:nvPr>
        </p:nvGraphicFramePr>
        <p:xfrm>
          <a:off x="6231777" y="3137866"/>
          <a:ext cx="325103" cy="259392"/>
        </p:xfrm>
        <a:graphic>
          <a:graphicData uri="http://schemas.openxmlformats.org/presentationml/2006/ole">
            <mc:AlternateContent xmlns:mc="http://schemas.openxmlformats.org/markup-compatibility/2006">
              <mc:Choice xmlns:v="urn:schemas-microsoft-com:vml" Requires="v">
                <p:oleObj name="Formula" r:id="rId4" imgW="148680" imgH="119520" progId="Equation.Ribbit">
                  <p:embed/>
                </p:oleObj>
              </mc:Choice>
              <mc:Fallback>
                <p:oleObj name="Formula" r:id="rId4" imgW="148680" imgH="119520" progId="Equation.Ribbit">
                  <p:embed/>
                  <p:pic>
                    <p:nvPicPr>
                      <p:cNvPr id="109" name="对象 108"/>
                      <p:cNvPicPr/>
                      <p:nvPr/>
                    </p:nvPicPr>
                    <p:blipFill>
                      <a:blip r:embed="rId5"/>
                      <a:stretch>
                        <a:fillRect/>
                      </a:stretch>
                    </p:blipFill>
                    <p:spPr>
                      <a:xfrm>
                        <a:off x="6231777" y="3137866"/>
                        <a:ext cx="325103" cy="25939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141E1BEF-32AC-CD25-EB98-D1C9C5366F91}"/>
              </a:ext>
            </a:extLst>
          </p:cNvPr>
          <p:cNvSpPr txBox="1"/>
          <p:nvPr/>
        </p:nvSpPr>
        <p:spPr>
          <a:xfrm>
            <a:off x="3562350" y="2437577"/>
            <a:ext cx="877163" cy="369332"/>
          </a:xfrm>
          <a:prstGeom prst="rect">
            <a:avLst/>
          </a:prstGeom>
          <a:noFill/>
        </p:spPr>
        <p:txBody>
          <a:bodyPr wrap="none" rtlCol="0">
            <a:spAutoFit/>
          </a:bodyPr>
          <a:lstStyle/>
          <a:p>
            <a:r>
              <a:rPr lang="zh-CN" altLang="en-US" dirty="0"/>
              <a:t>换言之</a:t>
            </a:r>
          </a:p>
        </p:txBody>
      </p:sp>
    </p:spTree>
    <p:extLst>
      <p:ext uri="{BB962C8B-B14F-4D97-AF65-F5344CB8AC3E}">
        <p14:creationId xmlns:p14="http://schemas.microsoft.com/office/powerpoint/2010/main" val="22558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animBg="1"/>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多变量决策树</a:t>
            </a:r>
          </a:p>
        </p:txBody>
      </p:sp>
      <p:sp>
        <p:nvSpPr>
          <p:cNvPr id="3" name="内容占位符 2"/>
          <p:cNvSpPr>
            <a:spLocks noGrp="1"/>
          </p:cNvSpPr>
          <p:nvPr>
            <p:ph idx="1"/>
          </p:nvPr>
        </p:nvSpPr>
        <p:spPr/>
        <p:txBody>
          <a:bodyPr/>
          <a:lstStyle/>
          <a:p>
            <a:r>
              <a:rPr lang="zh-CN" altLang="en-US" dirty="0"/>
              <a:t>多变量决策树</a:t>
            </a:r>
            <a:endParaRPr lang="en-US" altLang="zh-CN" dirty="0"/>
          </a:p>
        </p:txBody>
      </p:sp>
      <p:sp>
        <p:nvSpPr>
          <p:cNvPr id="252" name="圆角矩形 251"/>
          <p:cNvSpPr/>
          <p:nvPr/>
        </p:nvSpPr>
        <p:spPr>
          <a:xfrm>
            <a:off x="1095639" y="2192857"/>
            <a:ext cx="3543178"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a:latin typeface="Times" panose="02020603060405020304" pitchFamily="18" charset="0"/>
              <a:cs typeface="Times New Roman" panose="02020603050405020304" pitchFamily="18" charset="0"/>
            </a:endParaRPr>
          </a:p>
        </p:txBody>
      </p:sp>
      <p:sp>
        <p:nvSpPr>
          <p:cNvPr id="253" name="椭圆 252"/>
          <p:cNvSpPr/>
          <p:nvPr/>
        </p:nvSpPr>
        <p:spPr>
          <a:xfrm>
            <a:off x="4391770" y="3323332"/>
            <a:ext cx="84319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坏瓜</a:t>
            </a:r>
          </a:p>
        </p:txBody>
      </p:sp>
      <p:sp>
        <p:nvSpPr>
          <p:cNvPr id="254" name="文本框 6"/>
          <p:cNvSpPr txBox="1"/>
          <p:nvPr/>
        </p:nvSpPr>
        <p:spPr>
          <a:xfrm>
            <a:off x="1993137" y="2745867"/>
            <a:ext cx="302639"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cxnSp>
        <p:nvCxnSpPr>
          <p:cNvPr id="255" name="直接连接符 254"/>
          <p:cNvCxnSpPr/>
          <p:nvPr/>
        </p:nvCxnSpPr>
        <p:spPr>
          <a:xfrm flipH="1">
            <a:off x="1374978" y="2626805"/>
            <a:ext cx="2055231" cy="621165"/>
          </a:xfrm>
          <a:prstGeom prst="line">
            <a:avLst/>
          </a:prstGeom>
        </p:spPr>
        <p:style>
          <a:lnRef idx="1">
            <a:schemeClr val="dk1"/>
          </a:lnRef>
          <a:fillRef idx="0">
            <a:schemeClr val="dk1"/>
          </a:fillRef>
          <a:effectRef idx="0">
            <a:schemeClr val="dk1"/>
          </a:effectRef>
          <a:fontRef idx="minor">
            <a:schemeClr val="tx1"/>
          </a:fontRef>
        </p:style>
      </p:cxnSp>
      <p:cxnSp>
        <p:nvCxnSpPr>
          <p:cNvPr id="256" name="直接连接符 255"/>
          <p:cNvCxnSpPr/>
          <p:nvPr/>
        </p:nvCxnSpPr>
        <p:spPr>
          <a:xfrm>
            <a:off x="3430209" y="2608971"/>
            <a:ext cx="1108310" cy="749057"/>
          </a:xfrm>
          <a:prstGeom prst="line">
            <a:avLst/>
          </a:prstGeom>
        </p:spPr>
        <p:style>
          <a:lnRef idx="1">
            <a:schemeClr val="dk1"/>
          </a:lnRef>
          <a:fillRef idx="0">
            <a:schemeClr val="dk1"/>
          </a:fillRef>
          <a:effectRef idx="0">
            <a:schemeClr val="dk1"/>
          </a:effectRef>
          <a:fontRef idx="minor">
            <a:schemeClr val="tx1"/>
          </a:fontRef>
        </p:style>
      </p:cxnSp>
      <p:sp>
        <p:nvSpPr>
          <p:cNvPr id="257" name="文本框 9"/>
          <p:cNvSpPr txBox="1"/>
          <p:nvPr/>
        </p:nvSpPr>
        <p:spPr>
          <a:xfrm>
            <a:off x="4706938" y="2745867"/>
            <a:ext cx="302639"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258" name="椭圆 257"/>
          <p:cNvSpPr/>
          <p:nvPr/>
        </p:nvSpPr>
        <p:spPr>
          <a:xfrm>
            <a:off x="15638" y="4301135"/>
            <a:ext cx="868683"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坏瓜</a:t>
            </a:r>
          </a:p>
        </p:txBody>
      </p:sp>
      <p:sp>
        <p:nvSpPr>
          <p:cNvPr id="259" name="椭圆 258"/>
          <p:cNvSpPr/>
          <p:nvPr/>
        </p:nvSpPr>
        <p:spPr>
          <a:xfrm>
            <a:off x="2350208" y="4301135"/>
            <a:ext cx="834054"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好瓜</a:t>
            </a:r>
          </a:p>
        </p:txBody>
      </p:sp>
      <p:sp>
        <p:nvSpPr>
          <p:cNvPr id="260" name="文本框 15"/>
          <p:cNvSpPr txBox="1"/>
          <p:nvPr/>
        </p:nvSpPr>
        <p:spPr>
          <a:xfrm>
            <a:off x="493387" y="3817191"/>
            <a:ext cx="302639"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cxnSp>
        <p:nvCxnSpPr>
          <p:cNvPr id="261" name="直接连接符 260"/>
          <p:cNvCxnSpPr/>
          <p:nvPr/>
        </p:nvCxnSpPr>
        <p:spPr>
          <a:xfrm flipH="1">
            <a:off x="555639" y="3679970"/>
            <a:ext cx="1051424" cy="606651"/>
          </a:xfrm>
          <a:prstGeom prst="line">
            <a:avLst/>
          </a:prstGeom>
        </p:spPr>
        <p:style>
          <a:lnRef idx="1">
            <a:schemeClr val="dk1"/>
          </a:lnRef>
          <a:fillRef idx="0">
            <a:schemeClr val="dk1"/>
          </a:fillRef>
          <a:effectRef idx="0">
            <a:schemeClr val="dk1"/>
          </a:effectRef>
          <a:fontRef idx="minor">
            <a:schemeClr val="tx1"/>
          </a:fontRef>
        </p:style>
      </p:cxnSp>
      <p:cxnSp>
        <p:nvCxnSpPr>
          <p:cNvPr id="262" name="直接连接符 261"/>
          <p:cNvCxnSpPr/>
          <p:nvPr/>
        </p:nvCxnSpPr>
        <p:spPr>
          <a:xfrm>
            <a:off x="1886463" y="3667270"/>
            <a:ext cx="1003745" cy="621165"/>
          </a:xfrm>
          <a:prstGeom prst="line">
            <a:avLst/>
          </a:prstGeom>
        </p:spPr>
        <p:style>
          <a:lnRef idx="1">
            <a:schemeClr val="dk1"/>
          </a:lnRef>
          <a:fillRef idx="0">
            <a:schemeClr val="dk1"/>
          </a:fillRef>
          <a:effectRef idx="0">
            <a:schemeClr val="dk1"/>
          </a:effectRef>
          <a:fontRef idx="minor">
            <a:schemeClr val="tx1"/>
          </a:fontRef>
        </p:style>
      </p:cxnSp>
      <p:sp>
        <p:nvSpPr>
          <p:cNvPr id="263" name="文本框 18"/>
          <p:cNvSpPr txBox="1"/>
          <p:nvPr/>
        </p:nvSpPr>
        <p:spPr>
          <a:xfrm>
            <a:off x="2536961" y="3817191"/>
            <a:ext cx="302639"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graphicFrame>
        <p:nvGraphicFramePr>
          <p:cNvPr id="264" name="对象 263"/>
          <p:cNvGraphicFramePr>
            <a:graphicFrameLocks noChangeAspect="1"/>
          </p:cNvGraphicFramePr>
          <p:nvPr>
            <p:extLst>
              <p:ext uri="{D42A27DB-BD31-4B8C-83A1-F6EECF244321}">
                <p14:modId xmlns:p14="http://schemas.microsoft.com/office/powerpoint/2010/main" val="1876237826"/>
              </p:ext>
            </p:extLst>
          </p:nvPr>
        </p:nvGraphicFramePr>
        <p:xfrm>
          <a:off x="1147727" y="2297641"/>
          <a:ext cx="3375758" cy="223826"/>
        </p:xfrm>
        <a:graphic>
          <a:graphicData uri="http://schemas.openxmlformats.org/presentationml/2006/ole">
            <mc:AlternateContent xmlns:mc="http://schemas.openxmlformats.org/markup-compatibility/2006">
              <mc:Choice xmlns:v="urn:schemas-microsoft-com:vml" Requires="v">
                <p:oleObj name="Formula" r:id="rId2" imgW="2857680" imgH="189360" progId="Equation.Ribbit">
                  <p:embed/>
                </p:oleObj>
              </mc:Choice>
              <mc:Fallback>
                <p:oleObj name="Formula" r:id="rId2" imgW="2857680" imgH="189360" progId="Equation.Ribbit">
                  <p:embed/>
                  <p:pic>
                    <p:nvPicPr>
                      <p:cNvPr id="264" name="对象 263"/>
                      <p:cNvPicPr/>
                      <p:nvPr/>
                    </p:nvPicPr>
                    <p:blipFill>
                      <a:blip r:embed="rId3"/>
                      <a:stretch>
                        <a:fillRect/>
                      </a:stretch>
                    </p:blipFill>
                    <p:spPr>
                      <a:xfrm>
                        <a:off x="1147727" y="2297641"/>
                        <a:ext cx="3375758" cy="223826"/>
                      </a:xfrm>
                      <a:prstGeom prst="rect">
                        <a:avLst/>
                      </a:prstGeom>
                    </p:spPr>
                  </p:pic>
                </p:oleObj>
              </mc:Fallback>
            </mc:AlternateContent>
          </a:graphicData>
        </a:graphic>
      </p:graphicFrame>
      <p:graphicFrame>
        <p:nvGraphicFramePr>
          <p:cNvPr id="266" name="对象 265"/>
          <p:cNvGraphicFramePr>
            <a:graphicFrameLocks noChangeAspect="1"/>
          </p:cNvGraphicFramePr>
          <p:nvPr/>
        </p:nvGraphicFramePr>
        <p:xfrm>
          <a:off x="2232256" y="3409769"/>
          <a:ext cx="135158" cy="216000"/>
        </p:xfrm>
        <a:graphic>
          <a:graphicData uri="http://schemas.openxmlformats.org/presentationml/2006/ole">
            <mc:AlternateContent xmlns:mc="http://schemas.openxmlformats.org/markup-compatibility/2006">
              <mc:Choice xmlns:v="urn:schemas-microsoft-com:vml" Requires="v">
                <p:oleObj name="Formula" r:id="rId4" imgW="86400" imgH="137160" progId="Equation.Ribbit">
                  <p:embed/>
                </p:oleObj>
              </mc:Choice>
              <mc:Fallback>
                <p:oleObj name="Formula" r:id="rId4" imgW="86400" imgH="137160" progId="Equation.Ribbit">
                  <p:embed/>
                  <p:pic>
                    <p:nvPicPr>
                      <p:cNvPr id="266" name="对象 265"/>
                      <p:cNvPicPr/>
                      <p:nvPr/>
                    </p:nvPicPr>
                    <p:blipFill>
                      <a:blip r:embed="rId5"/>
                      <a:stretch>
                        <a:fillRect/>
                      </a:stretch>
                    </p:blipFill>
                    <p:spPr>
                      <a:xfrm>
                        <a:off x="2232256" y="3409769"/>
                        <a:ext cx="135158" cy="216000"/>
                      </a:xfrm>
                      <a:prstGeom prst="rect">
                        <a:avLst/>
                      </a:prstGeom>
                    </p:spPr>
                  </p:pic>
                </p:oleObj>
              </mc:Fallback>
            </mc:AlternateContent>
          </a:graphicData>
        </a:graphic>
      </p:graphicFrame>
      <p:graphicFrame>
        <p:nvGraphicFramePr>
          <p:cNvPr id="267" name="对象 266"/>
          <p:cNvGraphicFramePr>
            <a:graphicFrameLocks noChangeAspect="1"/>
          </p:cNvGraphicFramePr>
          <p:nvPr/>
        </p:nvGraphicFramePr>
        <p:xfrm>
          <a:off x="523859" y="3403504"/>
          <a:ext cx="135158" cy="216000"/>
        </p:xfrm>
        <a:graphic>
          <a:graphicData uri="http://schemas.openxmlformats.org/presentationml/2006/ole">
            <mc:AlternateContent xmlns:mc="http://schemas.openxmlformats.org/markup-compatibility/2006">
              <mc:Choice xmlns:v="urn:schemas-microsoft-com:vml" Requires="v">
                <p:oleObj name="Formula" r:id="rId4" imgW="86400" imgH="137160" progId="Equation.Ribbit">
                  <p:embed/>
                </p:oleObj>
              </mc:Choice>
              <mc:Fallback>
                <p:oleObj name="Formula" r:id="rId4" imgW="86400" imgH="137160" progId="Equation.Ribbit">
                  <p:embed/>
                  <p:pic>
                    <p:nvPicPr>
                      <p:cNvPr id="267" name="对象 266"/>
                      <p:cNvPicPr/>
                      <p:nvPr/>
                    </p:nvPicPr>
                    <p:blipFill>
                      <a:blip r:embed="rId5"/>
                      <a:stretch>
                        <a:fillRect/>
                      </a:stretch>
                    </p:blipFill>
                    <p:spPr>
                      <a:xfrm>
                        <a:off x="523859" y="3403504"/>
                        <a:ext cx="135158" cy="216000"/>
                      </a:xfrm>
                      <a:prstGeom prst="rect">
                        <a:avLst/>
                      </a:prstGeom>
                    </p:spPr>
                  </p:pic>
                </p:oleObj>
              </mc:Fallback>
            </mc:AlternateContent>
          </a:graphicData>
        </a:graphic>
      </p:graphicFrame>
      <p:sp>
        <p:nvSpPr>
          <p:cNvPr id="268" name="圆角矩形 267"/>
          <p:cNvSpPr/>
          <p:nvPr/>
        </p:nvSpPr>
        <p:spPr>
          <a:xfrm>
            <a:off x="120617" y="3288635"/>
            <a:ext cx="361004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a:latin typeface="Times" panose="02020603060405020304" pitchFamily="18" charset="0"/>
              <a:cs typeface="Times New Roman" panose="02020603050405020304" pitchFamily="18" charset="0"/>
            </a:endParaRPr>
          </a:p>
        </p:txBody>
      </p:sp>
      <p:cxnSp>
        <p:nvCxnSpPr>
          <p:cNvPr id="275" name="直接箭头连接符 274"/>
          <p:cNvCxnSpPr/>
          <p:nvPr/>
        </p:nvCxnSpPr>
        <p:spPr>
          <a:xfrm flipH="1" flipV="1">
            <a:off x="6123669" y="2813877"/>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276" name="直接箭头连接符 275"/>
          <p:cNvCxnSpPr/>
          <p:nvPr/>
        </p:nvCxnSpPr>
        <p:spPr>
          <a:xfrm>
            <a:off x="6115472" y="5333937"/>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277" name="文本框 5"/>
          <p:cNvSpPr txBox="1"/>
          <p:nvPr/>
        </p:nvSpPr>
        <p:spPr>
          <a:xfrm>
            <a:off x="5933573" y="5252410"/>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278" name="直接连接符 277"/>
          <p:cNvCxnSpPr/>
          <p:nvPr/>
        </p:nvCxnSpPr>
        <p:spPr>
          <a:xfrm>
            <a:off x="675347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79" name="直接连接符 278"/>
          <p:cNvCxnSpPr/>
          <p:nvPr/>
        </p:nvCxnSpPr>
        <p:spPr>
          <a:xfrm>
            <a:off x="737566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0" name="直接连接符 279"/>
          <p:cNvCxnSpPr/>
          <p:nvPr/>
        </p:nvCxnSpPr>
        <p:spPr>
          <a:xfrm>
            <a:off x="799785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1" name="直接连接符 280"/>
          <p:cNvCxnSpPr/>
          <p:nvPr/>
        </p:nvCxnSpPr>
        <p:spPr>
          <a:xfrm>
            <a:off x="8620049" y="5262377"/>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282" name="文本框 10"/>
          <p:cNvSpPr txBox="1"/>
          <p:nvPr/>
        </p:nvSpPr>
        <p:spPr>
          <a:xfrm>
            <a:off x="6524882" y="5290952"/>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283" name="文本框 11"/>
          <p:cNvSpPr txBox="1"/>
          <p:nvPr/>
        </p:nvSpPr>
        <p:spPr>
          <a:xfrm>
            <a:off x="7147303" y="5290952"/>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284" name="文本框 12"/>
          <p:cNvSpPr txBox="1"/>
          <p:nvPr/>
        </p:nvSpPr>
        <p:spPr>
          <a:xfrm>
            <a:off x="7769724" y="5290952"/>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sp>
        <p:nvSpPr>
          <p:cNvPr id="285" name="文本框 13"/>
          <p:cNvSpPr txBox="1"/>
          <p:nvPr/>
        </p:nvSpPr>
        <p:spPr>
          <a:xfrm>
            <a:off x="8392145" y="5290952"/>
            <a:ext cx="453970" cy="307777"/>
          </a:xfrm>
          <a:prstGeom prst="rect">
            <a:avLst/>
          </a:prstGeom>
          <a:noFill/>
        </p:spPr>
        <p:txBody>
          <a:bodyPr wrap="none" rtlCol="0">
            <a:spAutoFit/>
          </a:bodyPr>
          <a:lstStyle/>
          <a:p>
            <a:r>
              <a:rPr lang="en-US" altLang="zh-CN" sz="1400" dirty="0">
                <a:latin typeface="Times "/>
              </a:rPr>
              <a:t>0.8</a:t>
            </a:r>
            <a:endParaRPr lang="zh-CN" altLang="en-US" sz="1400" dirty="0">
              <a:latin typeface="Times "/>
            </a:endParaRPr>
          </a:p>
        </p:txBody>
      </p:sp>
      <p:cxnSp>
        <p:nvCxnSpPr>
          <p:cNvPr id="286" name="直接连接符 285"/>
          <p:cNvCxnSpPr/>
          <p:nvPr/>
        </p:nvCxnSpPr>
        <p:spPr>
          <a:xfrm rot="5400000">
            <a:off x="6160029" y="3427208"/>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7" name="直接连接符 286"/>
          <p:cNvCxnSpPr/>
          <p:nvPr/>
        </p:nvCxnSpPr>
        <p:spPr>
          <a:xfrm rot="5400000">
            <a:off x="6160029" y="4050784"/>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8" name="直接连接符 287"/>
          <p:cNvCxnSpPr/>
          <p:nvPr/>
        </p:nvCxnSpPr>
        <p:spPr>
          <a:xfrm rot="5400000">
            <a:off x="6160029" y="4674360"/>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289" name="文本框 17"/>
          <p:cNvSpPr txBox="1"/>
          <p:nvPr/>
        </p:nvSpPr>
        <p:spPr>
          <a:xfrm>
            <a:off x="5703072" y="4556471"/>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290" name="文本框 18"/>
          <p:cNvSpPr txBox="1"/>
          <p:nvPr/>
        </p:nvSpPr>
        <p:spPr>
          <a:xfrm>
            <a:off x="5703072" y="3932895"/>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291" name="文本框 19"/>
          <p:cNvSpPr txBox="1"/>
          <p:nvPr/>
        </p:nvSpPr>
        <p:spPr>
          <a:xfrm>
            <a:off x="5703072" y="3309319"/>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grpSp>
        <p:nvGrpSpPr>
          <p:cNvPr id="292" name="组合 291"/>
          <p:cNvGrpSpPr/>
          <p:nvPr/>
        </p:nvGrpSpPr>
        <p:grpSpPr>
          <a:xfrm>
            <a:off x="6224818" y="3050265"/>
            <a:ext cx="953322" cy="597182"/>
            <a:chOff x="2902949" y="2313167"/>
            <a:chExt cx="953322" cy="597182"/>
          </a:xfrm>
        </p:grpSpPr>
        <p:grpSp>
          <p:nvGrpSpPr>
            <p:cNvPr id="293" name="组合 292"/>
            <p:cNvGrpSpPr/>
            <p:nvPr/>
          </p:nvGrpSpPr>
          <p:grpSpPr>
            <a:xfrm>
              <a:off x="2902949" y="2313167"/>
              <a:ext cx="953322" cy="597182"/>
              <a:chOff x="5860991" y="1513622"/>
              <a:chExt cx="953322" cy="597182"/>
            </a:xfrm>
          </p:grpSpPr>
          <p:sp>
            <p:nvSpPr>
              <p:cNvPr id="297" name="矩形 296"/>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98" name="文本框 26"/>
              <p:cNvSpPr txBox="1"/>
              <p:nvPr/>
            </p:nvSpPr>
            <p:spPr>
              <a:xfrm>
                <a:off x="6219278" y="151362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好瓜</a:t>
                </a:r>
              </a:p>
            </p:txBody>
          </p:sp>
          <p:sp>
            <p:nvSpPr>
              <p:cNvPr id="299" name="文本框 27"/>
              <p:cNvSpPr txBox="1"/>
              <p:nvPr/>
            </p:nvSpPr>
            <p:spPr>
              <a:xfrm>
                <a:off x="6219278" y="177225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坏瓜</a:t>
                </a:r>
              </a:p>
            </p:txBody>
          </p:sp>
          <p:cxnSp>
            <p:nvCxnSpPr>
              <p:cNvPr id="300" name="直接连接符 299"/>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94" name="组合 293"/>
            <p:cNvGrpSpPr/>
            <p:nvPr/>
          </p:nvGrpSpPr>
          <p:grpSpPr>
            <a:xfrm>
              <a:off x="3043927" y="2444745"/>
              <a:ext cx="108000" cy="108000"/>
              <a:chOff x="5476803" y="2392530"/>
              <a:chExt cx="108000" cy="108000"/>
            </a:xfrm>
          </p:grpSpPr>
          <p:cxnSp>
            <p:nvCxnSpPr>
              <p:cNvPr id="295" name="直接连接符 29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96" name="直接连接符 29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301" name="组合 300"/>
          <p:cNvGrpSpPr/>
          <p:nvPr/>
        </p:nvGrpSpPr>
        <p:grpSpPr>
          <a:xfrm>
            <a:off x="8272547" y="3826755"/>
            <a:ext cx="108000" cy="108000"/>
            <a:chOff x="5476803" y="2392530"/>
            <a:chExt cx="108000" cy="108000"/>
          </a:xfrm>
        </p:grpSpPr>
        <p:cxnSp>
          <p:nvCxnSpPr>
            <p:cNvPr id="302" name="直接连接符 30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3" name="直接连接符 30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04" name="组合 303"/>
          <p:cNvGrpSpPr/>
          <p:nvPr/>
        </p:nvGrpSpPr>
        <p:grpSpPr>
          <a:xfrm>
            <a:off x="8463047" y="4188705"/>
            <a:ext cx="108000" cy="108000"/>
            <a:chOff x="5476803" y="2392530"/>
            <a:chExt cx="108000" cy="108000"/>
          </a:xfrm>
        </p:grpSpPr>
        <p:cxnSp>
          <p:nvCxnSpPr>
            <p:cNvPr id="305" name="直接连接符 30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6" name="直接连接符 30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07" name="组合 306"/>
          <p:cNvGrpSpPr/>
          <p:nvPr/>
        </p:nvGrpSpPr>
        <p:grpSpPr>
          <a:xfrm>
            <a:off x="8145747" y="4476604"/>
            <a:ext cx="108000" cy="108000"/>
            <a:chOff x="5476803" y="2392530"/>
            <a:chExt cx="108000" cy="108000"/>
          </a:xfrm>
        </p:grpSpPr>
        <p:cxnSp>
          <p:nvCxnSpPr>
            <p:cNvPr id="308" name="直接连接符 30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9" name="直接连接符 30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0" name="组合 309"/>
          <p:cNvGrpSpPr/>
          <p:nvPr/>
        </p:nvGrpSpPr>
        <p:grpSpPr>
          <a:xfrm>
            <a:off x="7971173" y="4318700"/>
            <a:ext cx="108000" cy="108000"/>
            <a:chOff x="5476803" y="2392530"/>
            <a:chExt cx="108000" cy="108000"/>
          </a:xfrm>
        </p:grpSpPr>
        <p:cxnSp>
          <p:nvCxnSpPr>
            <p:cNvPr id="311" name="直接连接符 3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2" name="直接连接符 3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3" name="组合 312"/>
          <p:cNvGrpSpPr/>
          <p:nvPr/>
        </p:nvGrpSpPr>
        <p:grpSpPr>
          <a:xfrm>
            <a:off x="7610246" y="4561049"/>
            <a:ext cx="108000" cy="108000"/>
            <a:chOff x="5476803" y="2392530"/>
            <a:chExt cx="108000" cy="108000"/>
          </a:xfrm>
        </p:grpSpPr>
        <p:cxnSp>
          <p:nvCxnSpPr>
            <p:cNvPr id="314" name="直接连接符 31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5" name="直接连接符 31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6" name="组合 315"/>
          <p:cNvGrpSpPr/>
          <p:nvPr/>
        </p:nvGrpSpPr>
        <p:grpSpPr>
          <a:xfrm>
            <a:off x="7329558" y="4478378"/>
            <a:ext cx="108000" cy="108000"/>
            <a:chOff x="5476803" y="2392530"/>
            <a:chExt cx="108000" cy="108000"/>
          </a:xfrm>
        </p:grpSpPr>
        <p:cxnSp>
          <p:nvCxnSpPr>
            <p:cNvPr id="317" name="直接连接符 31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8" name="直接连接符 31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9" name="组合 318"/>
          <p:cNvGrpSpPr/>
          <p:nvPr/>
        </p:nvGrpSpPr>
        <p:grpSpPr>
          <a:xfrm>
            <a:off x="7580351" y="4827017"/>
            <a:ext cx="108000" cy="108000"/>
            <a:chOff x="5476803" y="2392530"/>
            <a:chExt cx="108000" cy="108000"/>
          </a:xfrm>
        </p:grpSpPr>
        <p:cxnSp>
          <p:nvCxnSpPr>
            <p:cNvPr id="320" name="直接连接符 31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1" name="直接连接符 32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22" name="组合 321"/>
          <p:cNvGrpSpPr/>
          <p:nvPr/>
        </p:nvGrpSpPr>
        <p:grpSpPr>
          <a:xfrm>
            <a:off x="7437476" y="4571747"/>
            <a:ext cx="108000" cy="108000"/>
            <a:chOff x="5476803" y="2392530"/>
            <a:chExt cx="108000" cy="108000"/>
          </a:xfrm>
        </p:grpSpPr>
        <p:cxnSp>
          <p:nvCxnSpPr>
            <p:cNvPr id="323" name="直接连接符 32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4" name="直接连接符 32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325" name="直接连接符 324"/>
          <p:cNvCxnSpPr/>
          <p:nvPr/>
        </p:nvCxnSpPr>
        <p:spPr>
          <a:xfrm>
            <a:off x="8199747" y="5041614"/>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6" name="直接连接符 325"/>
          <p:cNvCxnSpPr/>
          <p:nvPr/>
        </p:nvCxnSpPr>
        <p:spPr>
          <a:xfrm>
            <a:off x="6924852" y="451119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7" name="直接连接符 326"/>
          <p:cNvCxnSpPr/>
          <p:nvPr/>
        </p:nvCxnSpPr>
        <p:spPr>
          <a:xfrm>
            <a:off x="6950277" y="516841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8" name="直接连接符 327"/>
          <p:cNvCxnSpPr/>
          <p:nvPr/>
        </p:nvCxnSpPr>
        <p:spPr>
          <a:xfrm>
            <a:off x="7122538" y="5004887"/>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9" name="直接连接符 328"/>
          <p:cNvCxnSpPr/>
          <p:nvPr/>
        </p:nvCxnSpPr>
        <p:spPr>
          <a:xfrm>
            <a:off x="8115694" y="485281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0" name="直接连接符 329"/>
          <p:cNvCxnSpPr/>
          <p:nvPr/>
        </p:nvCxnSpPr>
        <p:spPr>
          <a:xfrm>
            <a:off x="8161397" y="47223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1" name="直接连接符 330"/>
          <p:cNvCxnSpPr/>
          <p:nvPr/>
        </p:nvCxnSpPr>
        <p:spPr>
          <a:xfrm>
            <a:off x="7118728" y="4326707"/>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2" name="直接连接符 331"/>
          <p:cNvCxnSpPr/>
          <p:nvPr/>
        </p:nvCxnSpPr>
        <p:spPr>
          <a:xfrm>
            <a:off x="7934522" y="521604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3" name="直接连接符 332"/>
          <p:cNvCxnSpPr/>
          <p:nvPr/>
        </p:nvCxnSpPr>
        <p:spPr>
          <a:xfrm>
            <a:off x="8281956" y="4996735"/>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334" name="文本框 62"/>
          <p:cNvSpPr txBox="1"/>
          <p:nvPr/>
        </p:nvSpPr>
        <p:spPr>
          <a:xfrm>
            <a:off x="7352733" y="548531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密度</a:t>
            </a:r>
          </a:p>
        </p:txBody>
      </p:sp>
      <p:sp>
        <p:nvSpPr>
          <p:cNvPr id="335" name="文本框 63"/>
          <p:cNvSpPr txBox="1"/>
          <p:nvPr/>
        </p:nvSpPr>
        <p:spPr>
          <a:xfrm>
            <a:off x="5272185" y="3792905"/>
            <a:ext cx="430887" cy="707886"/>
          </a:xfrm>
          <a:prstGeom prst="rect">
            <a:avLst/>
          </a:prstGeom>
          <a:noFill/>
        </p:spPr>
        <p:txBody>
          <a:bodyPr vert="eaVert" wrap="none" rtlCol="0">
            <a:spAutoFit/>
          </a:bodyPr>
          <a:lstStyle/>
          <a:p>
            <a:r>
              <a:rPr lang="zh-CN" altLang="en-US" sz="1600" dirty="0">
                <a:latin typeface="楷体" panose="02010609060101010101" pitchFamily="49" charset="-122"/>
                <a:ea typeface="楷体" panose="02010609060101010101" pitchFamily="49" charset="-122"/>
              </a:rPr>
              <a:t>含糖率</a:t>
            </a:r>
          </a:p>
        </p:txBody>
      </p:sp>
      <p:cxnSp>
        <p:nvCxnSpPr>
          <p:cNvPr id="336" name="直接连接符 335"/>
          <p:cNvCxnSpPr/>
          <p:nvPr/>
        </p:nvCxnSpPr>
        <p:spPr>
          <a:xfrm>
            <a:off x="7178154" y="3662394"/>
            <a:ext cx="158535" cy="16852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flipH="1">
            <a:off x="7521457" y="3890970"/>
            <a:ext cx="1454484" cy="14490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73" name="右箭头 272"/>
          <p:cNvSpPr/>
          <p:nvPr/>
        </p:nvSpPr>
        <p:spPr>
          <a:xfrm>
            <a:off x="4706938" y="4073877"/>
            <a:ext cx="565247" cy="4027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087149208"/>
              </p:ext>
            </p:extLst>
          </p:nvPr>
        </p:nvGraphicFramePr>
        <p:xfrm>
          <a:off x="216424" y="3394867"/>
          <a:ext cx="3448338" cy="228100"/>
        </p:xfrm>
        <a:graphic>
          <a:graphicData uri="http://schemas.openxmlformats.org/presentationml/2006/ole">
            <mc:AlternateContent xmlns:mc="http://schemas.openxmlformats.org/markup-compatibility/2006">
              <mc:Choice xmlns:v="urn:schemas-microsoft-com:vml" Requires="v">
                <p:oleObj name="Formula" r:id="rId6" imgW="2855160" imgH="189360" progId="Equation.Ribbit">
                  <p:embed/>
                </p:oleObj>
              </mc:Choice>
              <mc:Fallback>
                <p:oleObj name="Formula" r:id="rId6" imgW="2855160" imgH="189360" progId="Equation.Ribbit">
                  <p:embed/>
                  <p:pic>
                    <p:nvPicPr>
                      <p:cNvPr id="5" name="对象 4"/>
                      <p:cNvPicPr/>
                      <p:nvPr/>
                    </p:nvPicPr>
                    <p:blipFill>
                      <a:blip r:embed="rId7"/>
                      <a:stretch>
                        <a:fillRect/>
                      </a:stretch>
                    </p:blipFill>
                    <p:spPr>
                      <a:xfrm>
                        <a:off x="216424" y="3394867"/>
                        <a:ext cx="3448338" cy="228100"/>
                      </a:xfrm>
                      <a:prstGeom prst="rect">
                        <a:avLst/>
                      </a:prstGeom>
                    </p:spPr>
                  </p:pic>
                </p:oleObj>
              </mc:Fallback>
            </mc:AlternateContent>
          </a:graphicData>
        </a:graphic>
      </p:graphicFrame>
    </p:spTree>
    <p:extLst>
      <p:ext uri="{BB962C8B-B14F-4D97-AF65-F5344CB8AC3E}">
        <p14:creationId xmlns:p14="http://schemas.microsoft.com/office/powerpoint/2010/main" val="39174320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a:xfrm>
            <a:off x="260350" y="1500809"/>
            <a:ext cx="8616950" cy="4588502"/>
          </a:xfrm>
        </p:spPr>
        <p:txBody>
          <a:bodyPr/>
          <a:lstStyle/>
          <a:p>
            <a:r>
              <a:rPr lang="zh-CN" altLang="en-US" dirty="0"/>
              <a:t>属性划分选择</a:t>
            </a:r>
            <a:endParaRPr lang="en-US" altLang="zh-CN" dirty="0"/>
          </a:p>
          <a:p>
            <a:pPr marL="0" indent="0">
              <a:buNone/>
            </a:pPr>
            <a:endParaRPr lang="en-US" altLang="zh-CN" dirty="0"/>
          </a:p>
          <a:p>
            <a:r>
              <a:rPr lang="zh-CN" altLang="en-US" dirty="0"/>
              <a:t>剪枝处理（预剪枝，后剪枝）</a:t>
            </a:r>
            <a:endParaRPr lang="en-US" altLang="zh-CN" dirty="0"/>
          </a:p>
          <a:p>
            <a:endParaRPr lang="en-US" altLang="zh-CN" dirty="0"/>
          </a:p>
          <a:p>
            <a:r>
              <a:rPr lang="zh-CN" altLang="en-US" dirty="0"/>
              <a:t>属性连续值和缺失值的处理</a:t>
            </a:r>
            <a:endParaRPr lang="en-US" altLang="zh-CN" dirty="0"/>
          </a:p>
          <a:p>
            <a:pPr marL="0" indent="0">
              <a:buNone/>
            </a:pPr>
            <a:endParaRPr lang="en-US" altLang="zh-CN" dirty="0"/>
          </a:p>
          <a:p>
            <a:r>
              <a:rPr lang="zh-CN" altLang="en-US" dirty="0"/>
              <a:t>单变量决策树到多变量决策树</a:t>
            </a:r>
            <a:endParaRPr lang="en-US" altLang="zh-CN" dirty="0"/>
          </a:p>
          <a:p>
            <a:pPr marL="0" indent="0">
              <a:buNone/>
            </a:pPr>
            <a:endParaRPr lang="en-US" altLang="zh-CN" dirty="0"/>
          </a:p>
        </p:txBody>
      </p:sp>
    </p:spTree>
    <p:extLst>
      <p:ext uri="{BB962C8B-B14F-4D97-AF65-F5344CB8AC3E}">
        <p14:creationId xmlns:p14="http://schemas.microsoft.com/office/powerpoint/2010/main" val="3886829900"/>
      </p:ext>
    </p:extLst>
  </p:cSld>
  <p:clrMapOvr>
    <a:masterClrMapping/>
  </p:clrMapOvr>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机器学习v2.1rgb</Template>
  <TotalTime>5818</TotalTime>
  <Words>3828</Words>
  <Application>Microsoft Office PowerPoint</Application>
  <PresentationFormat>全屏显示(4:3)</PresentationFormat>
  <Paragraphs>839</Paragraphs>
  <Slides>54</Slides>
  <Notes>16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8" baseType="lpstr">
      <vt:lpstr>Times </vt:lpstr>
      <vt:lpstr>等线</vt:lpstr>
      <vt:lpstr>楷体</vt:lpstr>
      <vt:lpstr>宋体</vt:lpstr>
      <vt:lpstr>微软雅黑</vt:lpstr>
      <vt:lpstr>幼圆</vt:lpstr>
      <vt:lpstr>Arial</vt:lpstr>
      <vt:lpstr>Cambria Math</vt:lpstr>
      <vt:lpstr>Times</vt:lpstr>
      <vt:lpstr>Times New Roman</vt:lpstr>
      <vt:lpstr>Verdana</vt:lpstr>
      <vt:lpstr>Wingdings</vt:lpstr>
      <vt:lpstr>机器学习v2.1rgb</vt:lpstr>
      <vt:lpstr>Formula</vt:lpstr>
      <vt:lpstr>PowerPoint 演示文稿</vt:lpstr>
      <vt:lpstr>PowerPoint 演示文稿</vt:lpstr>
      <vt:lpstr>大纲</vt:lpstr>
      <vt:lpstr>基本流程</vt:lpstr>
      <vt:lpstr>基本流程</vt:lpstr>
      <vt:lpstr>基本流程</vt:lpstr>
      <vt:lpstr>大纲</vt:lpstr>
      <vt:lpstr>划分选择</vt:lpstr>
      <vt:lpstr>划分选择-信息增益</vt:lpstr>
      <vt:lpstr>划分选择-信息增益</vt:lpstr>
      <vt:lpstr>划分选择-信息增益</vt:lpstr>
      <vt:lpstr>划分选择-信息增益</vt:lpstr>
      <vt:lpstr>划分选择-信息增益</vt:lpstr>
      <vt:lpstr>划分选择-信息增益</vt:lpstr>
      <vt:lpstr>划分选择-信息增益</vt:lpstr>
      <vt:lpstr>划分选择-增益率</vt:lpstr>
      <vt:lpstr>划分选择-基尼指数</vt:lpstr>
      <vt:lpstr>大纲</vt:lpstr>
      <vt:lpstr>剪枝处理</vt:lpstr>
      <vt:lpstr>剪枝处理</vt:lpstr>
      <vt:lpstr>剪枝处理</vt:lpstr>
      <vt:lpstr>剪枝处理</vt:lpstr>
      <vt:lpstr>剪枝处理-预剪枝</vt:lpstr>
      <vt:lpstr>剪枝处理-预剪枝</vt:lpstr>
      <vt:lpstr>剪枝处理-预剪枝</vt:lpstr>
      <vt:lpstr>剪枝处理-预剪枝</vt:lpstr>
      <vt:lpstr>剪枝处理-预剪枝</vt:lpstr>
      <vt:lpstr>剪枝处理-后剪枝</vt:lpstr>
      <vt:lpstr>剪枝处理-后剪枝</vt:lpstr>
      <vt:lpstr>剪枝处理-后剪枝</vt:lpstr>
      <vt:lpstr>剪枝处理-后剪枝</vt:lpstr>
      <vt:lpstr>剪枝处理-后剪枝</vt:lpstr>
      <vt:lpstr>剪枝处理-后剪枝</vt:lpstr>
      <vt:lpstr>剪枝处理-后剪枝</vt:lpstr>
      <vt:lpstr>剪枝处理-后剪枝</vt:lpstr>
      <vt:lpstr>剪枝处理-后剪枝</vt:lpstr>
      <vt:lpstr>大纲</vt:lpstr>
      <vt:lpstr>连续与缺失值 – 连续值处理</vt:lpstr>
      <vt:lpstr>连续与缺失值 – 连续值处理</vt:lpstr>
      <vt:lpstr>连续与缺失值 – 连续值处理</vt:lpstr>
      <vt:lpstr>连续与缺失值 – 连续值处理</vt:lpstr>
      <vt:lpstr>连续与缺失值 – 缺失值处理</vt:lpstr>
      <vt:lpstr>连续与缺失值 – 缺失值处理</vt:lpstr>
      <vt:lpstr>连续与缺失值 – 缺失值处理</vt:lpstr>
      <vt:lpstr>连续与缺失值 – 缺失值处理</vt:lpstr>
      <vt:lpstr>连续与缺失值 – 缺失值处理</vt:lpstr>
      <vt:lpstr>连续与缺失值 – 缺失值处理</vt:lpstr>
      <vt:lpstr>大纲</vt:lpstr>
      <vt:lpstr>多变量决策树</vt:lpstr>
      <vt:lpstr>多变量决策树</vt:lpstr>
      <vt:lpstr>多变量决策树</vt:lpstr>
      <vt:lpstr>多变量决策树</vt:lpstr>
      <vt:lpstr>多变量决策树</vt:lpstr>
      <vt:lpstr>总结</vt:lpstr>
    </vt:vector>
  </TitlesOfParts>
  <Company>LAMDA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机器学习-第四章</dc:title>
  <dc:creator>LAMDA Group</dc:creator>
  <cp:lastModifiedBy>志刚 陈</cp:lastModifiedBy>
  <cp:revision>598</cp:revision>
  <dcterms:created xsi:type="dcterms:W3CDTF">2015-12-30T14:22:19Z</dcterms:created>
  <dcterms:modified xsi:type="dcterms:W3CDTF">2026-03-29T08:28:56Z</dcterms:modified>
</cp:coreProperties>
</file>